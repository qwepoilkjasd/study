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94" r:id="rId4"/>
    <p:sldId id="293" r:id="rId5"/>
    <p:sldId id="295" r:id="rId6"/>
    <p:sldId id="297" r:id="rId7"/>
    <p:sldId id="288" r:id="rId8"/>
    <p:sldId id="298" r:id="rId9"/>
    <p:sldId id="299" r:id="rId10"/>
    <p:sldId id="300" r:id="rId11"/>
    <p:sldId id="290" r:id="rId12"/>
    <p:sldId id="431" r:id="rId13"/>
    <p:sldId id="289" r:id="rId14"/>
    <p:sldId id="456" r:id="rId15"/>
    <p:sldId id="291" r:id="rId16"/>
    <p:sldId id="292" r:id="rId17"/>
    <p:sldId id="410" r:id="rId18"/>
    <p:sldId id="322" r:id="rId19"/>
    <p:sldId id="374" r:id="rId20"/>
    <p:sldId id="286" r:id="rId21"/>
    <p:sldId id="321" r:id="rId22"/>
    <p:sldId id="359" r:id="rId23"/>
    <p:sldId id="392" r:id="rId24"/>
    <p:sldId id="264" r:id="rId25"/>
    <p:sldId id="342" r:id="rId26"/>
    <p:sldId id="275" r:id="rId27"/>
    <p:sldId id="276" r:id="rId28"/>
    <p:sldId id="270" r:id="rId29"/>
    <p:sldId id="271" r:id="rId30"/>
    <p:sldId id="272" r:id="rId31"/>
    <p:sldId id="273" r:id="rId32"/>
    <p:sldId id="266" r:id="rId33"/>
    <p:sldId id="279" r:id="rId34"/>
    <p:sldId id="280" r:id="rId35"/>
    <p:sldId id="281" r:id="rId36"/>
    <p:sldId id="282" r:id="rId37"/>
    <p:sldId id="340" r:id="rId38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25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25955"/>
            <a:ext cx="9144000" cy="1604010"/>
          </a:xfrm>
        </p:spPr>
        <p:txBody>
          <a:bodyPr/>
          <a:p>
            <a:r>
              <a:rPr lang="en-US" altLang="zh-CN"/>
              <a:t>vector</a:t>
            </a:r>
            <a:r>
              <a:rPr lang="zh-CN" altLang="en-US"/>
              <a:t>原理</a:t>
            </a:r>
            <a:r>
              <a:rPr lang="zh-CN" altLang="en-US"/>
              <a:t>图解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013200" y="1022985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13200" y="2851785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13835" y="4949190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525010" y="5060950"/>
            <a:ext cx="180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vector</a:t>
            </a:r>
            <a:endParaRPr lang="en-US" altLang="zh-CN" sz="2000"/>
          </a:p>
        </p:txBody>
      </p:sp>
      <p:sp>
        <p:nvSpPr>
          <p:cNvPr id="8" name="文本框 7"/>
          <p:cNvSpPr txBox="1"/>
          <p:nvPr/>
        </p:nvSpPr>
        <p:spPr>
          <a:xfrm>
            <a:off x="4078605" y="2973705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_Vector_base</a:t>
            </a:r>
            <a:endParaRPr lang="en-US" altLang="zh-CN" sz="2000"/>
          </a:p>
        </p:txBody>
      </p:sp>
      <p:sp>
        <p:nvSpPr>
          <p:cNvPr id="11" name="文本框 10"/>
          <p:cNvSpPr txBox="1"/>
          <p:nvPr/>
        </p:nvSpPr>
        <p:spPr>
          <a:xfrm>
            <a:off x="4112895" y="1206500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_Vector_alloc_base</a:t>
            </a:r>
            <a:endParaRPr lang="en-US" altLang="zh-CN" sz="2000"/>
          </a:p>
        </p:txBody>
      </p:sp>
      <p:cxnSp>
        <p:nvCxnSpPr>
          <p:cNvPr id="12" name="直接箭头连接符 11"/>
          <p:cNvCxnSpPr>
            <a:stCxn id="5" idx="0"/>
            <a:endCxn id="4" idx="2"/>
          </p:cNvCxnSpPr>
          <p:nvPr/>
        </p:nvCxnSpPr>
        <p:spPr>
          <a:xfrm flipV="1">
            <a:off x="5320665" y="1788160"/>
            <a:ext cx="0" cy="1063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0"/>
            <a:endCxn id="5" idx="2"/>
          </p:cNvCxnSpPr>
          <p:nvPr/>
        </p:nvCxnSpPr>
        <p:spPr>
          <a:xfrm flipH="1" flipV="1">
            <a:off x="5320665" y="3616960"/>
            <a:ext cx="635" cy="1332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645535" y="198120"/>
            <a:ext cx="6271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vector</a:t>
            </a:r>
            <a:r>
              <a:rPr lang="zh-CN" altLang="en-US" sz="3200" b="1"/>
              <a:t>的继承图解</a:t>
            </a:r>
            <a:endParaRPr lang="zh-CN" altLang="en-US" sz="3200" b="1"/>
          </a:p>
        </p:txBody>
      </p:sp>
      <p:sp>
        <p:nvSpPr>
          <p:cNvPr id="15" name="文本框 14"/>
          <p:cNvSpPr txBox="1"/>
          <p:nvPr/>
        </p:nvSpPr>
        <p:spPr>
          <a:xfrm>
            <a:off x="7025005" y="781685"/>
            <a:ext cx="40754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  _Tp*     _M_start;</a:t>
            </a:r>
            <a:endParaRPr lang="zh-CN" altLang="en-US" sz="2400"/>
          </a:p>
          <a:p>
            <a:r>
              <a:rPr lang="zh-CN" altLang="en-US" sz="2400"/>
              <a:t>  _Tp*     _M_finish;</a:t>
            </a:r>
            <a:endParaRPr lang="zh-CN" altLang="en-US" sz="2400"/>
          </a:p>
          <a:p>
            <a:r>
              <a:rPr lang="zh-CN" altLang="en-US" sz="2400"/>
              <a:t>  _Tp*     _M_end_of_storage;</a:t>
            </a:r>
            <a:endParaRPr lang="zh-CN" altLang="en-US" sz="2400"/>
          </a:p>
        </p:txBody>
      </p:sp>
      <p:sp>
        <p:nvSpPr>
          <p:cNvPr id="17" name="文本框 16"/>
          <p:cNvSpPr txBox="1"/>
          <p:nvPr/>
        </p:nvSpPr>
        <p:spPr>
          <a:xfrm>
            <a:off x="4182110" y="4032250"/>
            <a:ext cx="149098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 b="1">
                <a:solidFill>
                  <a:schemeClr val="accent4"/>
                </a:solidFill>
                <a:effectLst/>
              </a:rPr>
              <a:t>protected</a:t>
            </a:r>
            <a:endParaRPr lang="zh-CN" altLang="en-US" sz="2000" b="1">
              <a:solidFill>
                <a:schemeClr val="accent4"/>
              </a:solidFill>
              <a:effectLst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20870" y="2120900"/>
            <a:ext cx="149098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 b="1">
                <a:solidFill>
                  <a:schemeClr val="accent4"/>
                </a:solidFill>
                <a:effectLst/>
              </a:rPr>
              <a:t>p</a:t>
            </a:r>
            <a:r>
              <a:rPr lang="en-US" altLang="zh-CN" sz="2000" b="1">
                <a:solidFill>
                  <a:schemeClr val="accent4"/>
                </a:solidFill>
                <a:effectLst/>
              </a:rPr>
              <a:t>ublic</a:t>
            </a:r>
            <a:endParaRPr lang="en-US" altLang="zh-CN" sz="2000" b="1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784860" y="1749425"/>
          <a:ext cx="2084070" cy="3608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070"/>
              </a:tblGrid>
              <a:tr h="601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_M_start</a:t>
                      </a:r>
                      <a:endParaRPr lang="en-US" altLang="zh-CN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_M_finish</a:t>
                      </a:r>
                      <a:endParaRPr lang="en-US" altLang="zh-CN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_M_end_of_storage</a:t>
                      </a:r>
                      <a:endParaRPr lang="zh-CN" altLang="en-US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3936365" y="127190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" name="直接箭头连接符 2"/>
          <p:cNvCxnSpPr>
            <a:endCxn id="5" idx="1"/>
          </p:cNvCxnSpPr>
          <p:nvPr/>
        </p:nvCxnSpPr>
        <p:spPr>
          <a:xfrm flipV="1">
            <a:off x="2864485" y="1462405"/>
            <a:ext cx="1071880" cy="5346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endCxn id="5" idx="2"/>
          </p:cNvCxnSpPr>
          <p:nvPr/>
        </p:nvCxnSpPr>
        <p:spPr>
          <a:xfrm flipV="1">
            <a:off x="2834640" y="1652905"/>
            <a:ext cx="4939665" cy="10496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2860675" y="1728470"/>
            <a:ext cx="8975090" cy="15506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91845" y="1284605"/>
            <a:ext cx="2077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</a:t>
            </a:r>
            <a:r>
              <a:rPr lang="zh-CN" altLang="en-US"/>
              <a:t>栈区</a:t>
            </a:r>
            <a:r>
              <a:rPr lang="en-US" altLang="zh-CN"/>
              <a:t>number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25955"/>
            <a:ext cx="9144000" cy="1604010"/>
          </a:xfrm>
        </p:spPr>
        <p:txBody>
          <a:bodyPr/>
          <a:p>
            <a:r>
              <a:rPr lang="en-US" altLang="zh-CN"/>
              <a:t>deque</a:t>
            </a:r>
            <a:r>
              <a:rPr lang="zh-CN" altLang="en-US"/>
              <a:t>原理</a:t>
            </a:r>
            <a:r>
              <a:rPr lang="zh-CN" altLang="en-US"/>
              <a:t>图解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23290" y="782320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2655" y="2851785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22655" y="5132070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25245" y="5315585"/>
            <a:ext cx="180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deque</a:t>
            </a:r>
            <a:endParaRPr lang="en-US" altLang="zh-CN" sz="2000"/>
          </a:p>
        </p:txBody>
      </p:sp>
      <p:sp>
        <p:nvSpPr>
          <p:cNvPr id="8" name="文本框 7"/>
          <p:cNvSpPr txBox="1"/>
          <p:nvPr/>
        </p:nvSpPr>
        <p:spPr>
          <a:xfrm>
            <a:off x="1325245" y="3035300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_Deque_base</a:t>
            </a:r>
            <a:endParaRPr lang="en-US" altLang="zh-CN" sz="2000"/>
          </a:p>
        </p:txBody>
      </p:sp>
      <p:sp>
        <p:nvSpPr>
          <p:cNvPr id="11" name="文本框 10"/>
          <p:cNvSpPr txBox="1"/>
          <p:nvPr/>
        </p:nvSpPr>
        <p:spPr>
          <a:xfrm>
            <a:off x="1325245" y="965200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_Deque_alloc_base</a:t>
            </a:r>
            <a:endParaRPr lang="en-US" altLang="zh-CN" sz="2000"/>
          </a:p>
        </p:txBody>
      </p:sp>
      <p:cxnSp>
        <p:nvCxnSpPr>
          <p:cNvPr id="12" name="直接箭头连接符 11"/>
          <p:cNvCxnSpPr>
            <a:stCxn id="5" idx="0"/>
            <a:endCxn id="4" idx="2"/>
          </p:cNvCxnSpPr>
          <p:nvPr/>
        </p:nvCxnSpPr>
        <p:spPr>
          <a:xfrm flipV="1">
            <a:off x="2230120" y="1547495"/>
            <a:ext cx="635" cy="13042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0"/>
            <a:endCxn id="5" idx="2"/>
          </p:cNvCxnSpPr>
          <p:nvPr/>
        </p:nvCxnSpPr>
        <p:spPr>
          <a:xfrm flipV="1">
            <a:off x="2230120" y="3616960"/>
            <a:ext cx="0" cy="1515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645535" y="198120"/>
            <a:ext cx="6271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deque</a:t>
            </a:r>
            <a:r>
              <a:rPr lang="zh-CN" altLang="en-US" sz="3200" b="1"/>
              <a:t>的继承图解</a:t>
            </a:r>
            <a:endParaRPr lang="zh-CN" altLang="en-US" sz="3200" b="1"/>
          </a:p>
        </p:txBody>
      </p:sp>
      <p:sp>
        <p:nvSpPr>
          <p:cNvPr id="15" name="文本框 14"/>
          <p:cNvSpPr txBox="1"/>
          <p:nvPr/>
        </p:nvSpPr>
        <p:spPr>
          <a:xfrm>
            <a:off x="8682990" y="2512695"/>
            <a:ext cx="32912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  _Tp*                      _M_</a:t>
            </a:r>
            <a:r>
              <a:rPr lang="en-US" altLang="zh-CN" sz="2000"/>
              <a:t>cur</a:t>
            </a:r>
            <a:r>
              <a:rPr lang="zh-CN" altLang="en-US" sz="2000"/>
              <a:t>;</a:t>
            </a:r>
            <a:endParaRPr lang="zh-CN" altLang="en-US" sz="2000"/>
          </a:p>
          <a:p>
            <a:r>
              <a:rPr lang="zh-CN" altLang="en-US" sz="2000"/>
              <a:t>  _Tp*                      _M_</a:t>
            </a:r>
            <a:r>
              <a:rPr lang="en-US" altLang="zh-CN" sz="2000"/>
              <a:t>first</a:t>
            </a:r>
            <a:r>
              <a:rPr lang="zh-CN" altLang="en-US" sz="2000"/>
              <a:t>;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  _Tp*                      _M_</a:t>
            </a:r>
            <a:r>
              <a:rPr lang="en-US" altLang="zh-CN" sz="2000">
                <a:sym typeface="+mn-ea"/>
              </a:rPr>
              <a:t>last</a:t>
            </a:r>
            <a:r>
              <a:rPr lang="zh-CN" altLang="en-US" sz="2000">
                <a:sym typeface="+mn-ea"/>
              </a:rPr>
              <a:t>;</a:t>
            </a:r>
            <a:endParaRPr lang="zh-CN" altLang="en-US" sz="2000"/>
          </a:p>
          <a:p>
            <a:r>
              <a:rPr lang="zh-CN" altLang="en-US" sz="2000"/>
              <a:t>  _</a:t>
            </a:r>
            <a:r>
              <a:rPr lang="en-US" altLang="zh-CN" sz="2000"/>
              <a:t>Map_pointer</a:t>
            </a:r>
            <a:r>
              <a:rPr lang="zh-CN" altLang="en-US" sz="2000"/>
              <a:t>     _M_</a:t>
            </a:r>
            <a:r>
              <a:rPr lang="en-US" altLang="zh-CN" sz="2000"/>
              <a:t>node</a:t>
            </a:r>
            <a:r>
              <a:rPr lang="zh-CN" altLang="en-US" sz="2000"/>
              <a:t>;</a:t>
            </a:r>
            <a:endParaRPr lang="zh-CN" altLang="en-US" sz="2000"/>
          </a:p>
        </p:txBody>
      </p:sp>
      <p:sp>
        <p:nvSpPr>
          <p:cNvPr id="17" name="文本框 16"/>
          <p:cNvSpPr txBox="1"/>
          <p:nvPr/>
        </p:nvSpPr>
        <p:spPr>
          <a:xfrm>
            <a:off x="1061720" y="4083685"/>
            <a:ext cx="149098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 b="1">
                <a:solidFill>
                  <a:schemeClr val="accent4"/>
                </a:solidFill>
                <a:effectLst/>
              </a:rPr>
              <a:t>protected</a:t>
            </a:r>
            <a:endParaRPr lang="zh-CN" altLang="en-US" sz="2000" b="1">
              <a:solidFill>
                <a:schemeClr val="accent4"/>
              </a:solidFill>
              <a:effectLst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25245" y="1980565"/>
            <a:ext cx="149098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 b="1">
                <a:solidFill>
                  <a:schemeClr val="accent4"/>
                </a:solidFill>
                <a:effectLst/>
              </a:rPr>
              <a:t>p</a:t>
            </a:r>
            <a:r>
              <a:rPr lang="en-US" altLang="zh-CN" sz="2000" b="1">
                <a:solidFill>
                  <a:schemeClr val="accent4"/>
                </a:solidFill>
                <a:effectLst/>
              </a:rPr>
              <a:t>ublic</a:t>
            </a:r>
            <a:endParaRPr lang="en-US" altLang="zh-CN" sz="2000" b="1">
              <a:solidFill>
                <a:schemeClr val="accent4"/>
              </a:solidFill>
              <a:effectLst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81745" y="1464310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021445" y="1647825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_Deque_iterator</a:t>
            </a:r>
            <a:endParaRPr lang="en-US" altLang="zh-CN" sz="2000"/>
          </a:p>
        </p:txBody>
      </p:sp>
      <p:sp>
        <p:nvSpPr>
          <p:cNvPr id="16" name="文本框 15"/>
          <p:cNvSpPr txBox="1"/>
          <p:nvPr/>
        </p:nvSpPr>
        <p:spPr>
          <a:xfrm>
            <a:off x="3764915" y="943610"/>
            <a:ext cx="3488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_Tp**    _M_map;</a:t>
            </a:r>
            <a:endParaRPr lang="zh-CN" altLang="en-US" sz="2000"/>
          </a:p>
          <a:p>
            <a:r>
              <a:rPr lang="zh-CN" altLang="en-US" sz="2000"/>
              <a:t>size_t    _M_map_size;</a:t>
            </a:r>
            <a:endParaRPr lang="zh-CN" altLang="en-US" sz="2000"/>
          </a:p>
        </p:txBody>
      </p:sp>
      <p:sp>
        <p:nvSpPr>
          <p:cNvPr id="18" name="文本框 17"/>
          <p:cNvSpPr txBox="1"/>
          <p:nvPr/>
        </p:nvSpPr>
        <p:spPr>
          <a:xfrm>
            <a:off x="3645535" y="2602230"/>
            <a:ext cx="4808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_Deque_iterator&lt;_Tp,_Tp&amp;,_Tp*&gt;   iterator</a:t>
            </a:r>
            <a:endParaRPr lang="zh-CN" altLang="en-US" sz="2000"/>
          </a:p>
          <a:p>
            <a:r>
              <a:rPr lang="zh-CN" altLang="en-US" sz="2000"/>
              <a:t>iterator _M_start;</a:t>
            </a:r>
            <a:endParaRPr lang="zh-CN" altLang="en-US" sz="2000"/>
          </a:p>
          <a:p>
            <a:r>
              <a:rPr lang="zh-CN" altLang="en-US" sz="2000"/>
              <a:t>iterator _M_finish;</a:t>
            </a: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6390640" y="113157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6390640" y="237363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3"/>
            </p:custDataLst>
          </p:nvPr>
        </p:nvGraphicFramePr>
        <p:xfrm>
          <a:off x="6390640" y="3665855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4"/>
            </p:custDataLst>
          </p:nvPr>
        </p:nvGraphicFramePr>
        <p:xfrm>
          <a:off x="6390640" y="528574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下箭头 17"/>
          <p:cNvSpPr/>
          <p:nvPr/>
        </p:nvSpPr>
        <p:spPr>
          <a:xfrm>
            <a:off x="8784590" y="435610"/>
            <a:ext cx="218440" cy="69596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上箭头 18"/>
          <p:cNvSpPr/>
          <p:nvPr/>
        </p:nvSpPr>
        <p:spPr>
          <a:xfrm>
            <a:off x="10258425" y="5765800"/>
            <a:ext cx="187960" cy="596265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569720" y="2105660"/>
            <a:ext cx="191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中控器</a:t>
            </a:r>
            <a:r>
              <a:rPr lang="en-US" altLang="zh-CN"/>
              <a:t>Map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645285" y="173736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66420" y="800100"/>
            <a:ext cx="413512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逻辑连续但是物理分散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1678940" y="2618740"/>
          <a:ext cx="102933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endCxn id="7" idx="1"/>
          </p:cNvCxnSpPr>
          <p:nvPr/>
        </p:nvCxnSpPr>
        <p:spPr>
          <a:xfrm flipV="1">
            <a:off x="2731135" y="1322070"/>
            <a:ext cx="3659505" cy="1837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9" idx="1"/>
          </p:cNvCxnSpPr>
          <p:nvPr/>
        </p:nvCxnSpPr>
        <p:spPr>
          <a:xfrm flipV="1">
            <a:off x="2701290" y="2564130"/>
            <a:ext cx="3689350" cy="10229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0" idx="1"/>
          </p:cNvCxnSpPr>
          <p:nvPr/>
        </p:nvCxnSpPr>
        <p:spPr>
          <a:xfrm flipV="1">
            <a:off x="2711450" y="3856355"/>
            <a:ext cx="3679190" cy="98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11" idx="1"/>
          </p:cNvCxnSpPr>
          <p:nvPr/>
        </p:nvCxnSpPr>
        <p:spPr>
          <a:xfrm>
            <a:off x="2711450" y="4352925"/>
            <a:ext cx="3679190" cy="1123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/>
        </p:nvGraphicFramePr>
        <p:xfrm>
          <a:off x="6390640" y="113157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下箭头 17"/>
          <p:cNvSpPr/>
          <p:nvPr/>
        </p:nvSpPr>
        <p:spPr>
          <a:xfrm>
            <a:off x="8893810" y="307340"/>
            <a:ext cx="218440" cy="69596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6730" y="2138045"/>
            <a:ext cx="191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中控器</a:t>
            </a:r>
            <a:r>
              <a:rPr lang="en-US" altLang="zh-CN"/>
              <a:t>Map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06730" y="165735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66420" y="800100"/>
            <a:ext cx="413512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逻辑连续但是物理分散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476885" y="2618740"/>
          <a:ext cx="102933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endCxn id="7" idx="1"/>
          </p:cNvCxnSpPr>
          <p:nvPr/>
        </p:nvCxnSpPr>
        <p:spPr>
          <a:xfrm flipV="1">
            <a:off x="1529080" y="1322070"/>
            <a:ext cx="4861560" cy="1549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971675" y="5285740"/>
          <a:ext cx="45796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05"/>
                <a:gridCol w="1144905"/>
                <a:gridCol w="1144905"/>
                <a:gridCol w="11449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 _M_</a:t>
                      </a:r>
                      <a:r>
                        <a:rPr lang="en-US" altLang="zh-CN" sz="1800">
                          <a:sym typeface="+mn-ea"/>
                        </a:rPr>
                        <a:t>cur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first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last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node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58035" y="5824855"/>
            <a:ext cx="1898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_M_start</a:t>
            </a:r>
            <a:r>
              <a:rPr lang="en-US">
                <a:sym typeface="+mn-ea"/>
              </a:rPr>
              <a:t>(iterator)</a:t>
            </a:r>
            <a:endParaRPr lang="en-US" altLang="zh-CN"/>
          </a:p>
        </p:txBody>
      </p:sp>
      <p:cxnSp>
        <p:nvCxnSpPr>
          <p:cNvPr id="8" name="曲线连接符 7"/>
          <p:cNvCxnSpPr/>
          <p:nvPr/>
        </p:nvCxnSpPr>
        <p:spPr>
          <a:xfrm rot="10800000">
            <a:off x="1487805" y="2920365"/>
            <a:ext cx="4622165" cy="2375535"/>
          </a:xfrm>
          <a:prstGeom prst="curvedConnector3">
            <a:avLst>
              <a:gd name="adj1" fmla="val 49993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3705225" y="1499870"/>
            <a:ext cx="2713355" cy="377698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5126355" y="1572260"/>
            <a:ext cx="6010275" cy="373443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2472690" y="1510030"/>
            <a:ext cx="6460490" cy="37865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表格 10"/>
          <p:cNvGraphicFramePr/>
          <p:nvPr/>
        </p:nvGraphicFramePr>
        <p:xfrm>
          <a:off x="6330950" y="2025650"/>
          <a:ext cx="46532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70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上箭头 18"/>
          <p:cNvSpPr/>
          <p:nvPr/>
        </p:nvSpPr>
        <p:spPr>
          <a:xfrm>
            <a:off x="8348345" y="2396490"/>
            <a:ext cx="187960" cy="596265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6730" y="2138045"/>
            <a:ext cx="191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中控器</a:t>
            </a:r>
            <a:r>
              <a:rPr lang="en-US" altLang="zh-CN"/>
              <a:t>Map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06730" y="165735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66420" y="800100"/>
            <a:ext cx="413512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逻辑连续但是物理分散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476885" y="2618740"/>
          <a:ext cx="102933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3806190" y="5067300"/>
          <a:ext cx="45796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05"/>
                <a:gridCol w="1144905"/>
                <a:gridCol w="1144905"/>
                <a:gridCol w="11449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 _M_</a:t>
                      </a:r>
                      <a:r>
                        <a:rPr lang="en-US" altLang="zh-CN" sz="1800">
                          <a:sym typeface="+mn-ea"/>
                        </a:rPr>
                        <a:t>cur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first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last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node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806190" y="5448300"/>
            <a:ext cx="2444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_M_</a:t>
            </a:r>
            <a:r>
              <a:rPr lang="en-US">
                <a:sym typeface="+mn-ea"/>
              </a:rPr>
              <a:t>finish</a:t>
            </a:r>
            <a:r>
              <a:rPr lang="en-US">
                <a:sym typeface="+mn-ea"/>
              </a:rPr>
              <a:t>(iterator)</a:t>
            </a:r>
            <a:endParaRPr lang="zh-CN" altLang="en-US">
              <a:sym typeface="+mn-ea"/>
            </a:endParaRPr>
          </a:p>
        </p:txBody>
      </p:sp>
      <p:cxnSp>
        <p:nvCxnSpPr>
          <p:cNvPr id="12" name="曲线连接符 11"/>
          <p:cNvCxnSpPr/>
          <p:nvPr/>
        </p:nvCxnSpPr>
        <p:spPr>
          <a:xfrm rot="10800000">
            <a:off x="1497965" y="3557270"/>
            <a:ext cx="6480175" cy="1489710"/>
          </a:xfrm>
          <a:prstGeom prst="curvedConnector3">
            <a:avLst>
              <a:gd name="adj1" fmla="val 49995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V="1">
            <a:off x="4391025" y="2374900"/>
            <a:ext cx="3995420" cy="26930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5534025" y="2374900"/>
            <a:ext cx="845185" cy="271335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6796405" y="2315210"/>
            <a:ext cx="4204335" cy="27628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/>
        </p:nvGraphicFramePr>
        <p:xfrm>
          <a:off x="6390640" y="113157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6390640" y="237363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6390640" y="371475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下箭头 17"/>
          <p:cNvSpPr/>
          <p:nvPr/>
        </p:nvSpPr>
        <p:spPr>
          <a:xfrm>
            <a:off x="8893810" y="307340"/>
            <a:ext cx="218440" cy="69596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上箭头 18"/>
          <p:cNvSpPr/>
          <p:nvPr/>
        </p:nvSpPr>
        <p:spPr>
          <a:xfrm>
            <a:off x="8347710" y="4095750"/>
            <a:ext cx="187960" cy="596265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6730" y="2138045"/>
            <a:ext cx="191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中控器</a:t>
            </a:r>
            <a:r>
              <a:rPr lang="en-US" altLang="zh-CN"/>
              <a:t>Map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06730" y="165735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66420" y="800100"/>
            <a:ext cx="413512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逻辑连续但是物理分散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476885" y="2618740"/>
          <a:ext cx="102933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endCxn id="7" idx="1"/>
          </p:cNvCxnSpPr>
          <p:nvPr/>
        </p:nvCxnSpPr>
        <p:spPr>
          <a:xfrm flipV="1">
            <a:off x="1529080" y="1322070"/>
            <a:ext cx="4861560" cy="1549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9" idx="1"/>
          </p:cNvCxnSpPr>
          <p:nvPr/>
        </p:nvCxnSpPr>
        <p:spPr>
          <a:xfrm flipV="1">
            <a:off x="1518920" y="2564130"/>
            <a:ext cx="4871720" cy="625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0" idx="1"/>
          </p:cNvCxnSpPr>
          <p:nvPr/>
        </p:nvCxnSpPr>
        <p:spPr>
          <a:xfrm>
            <a:off x="1469390" y="3497580"/>
            <a:ext cx="4921250" cy="3587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/>
          <p:nvPr/>
        </p:nvGraphicFramePr>
        <p:xfrm>
          <a:off x="1971675" y="5285740"/>
          <a:ext cx="45796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05"/>
                <a:gridCol w="1144905"/>
                <a:gridCol w="1144905"/>
                <a:gridCol w="11449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 _M_</a:t>
                      </a:r>
                      <a:r>
                        <a:rPr lang="en-US" altLang="zh-CN" sz="1800">
                          <a:sym typeface="+mn-ea"/>
                        </a:rPr>
                        <a:t>cur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first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last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node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7308850" y="5285740"/>
          <a:ext cx="45796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05"/>
                <a:gridCol w="1144905"/>
                <a:gridCol w="1144905"/>
                <a:gridCol w="11449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 _M_</a:t>
                      </a:r>
                      <a:r>
                        <a:rPr lang="en-US" altLang="zh-CN" sz="1800">
                          <a:sym typeface="+mn-ea"/>
                        </a:rPr>
                        <a:t>cur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first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last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node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58035" y="5824855"/>
            <a:ext cx="1152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_M_start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865745" y="5755640"/>
            <a:ext cx="1152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_M_</a:t>
            </a:r>
            <a:r>
              <a:rPr lang="en-US" altLang="zh-CN">
                <a:sym typeface="+mn-ea"/>
              </a:rPr>
              <a:t>finish</a:t>
            </a:r>
            <a:endParaRPr lang="en-US" altLang="zh-CN">
              <a:sym typeface="+mn-ea"/>
            </a:endParaRPr>
          </a:p>
        </p:txBody>
      </p:sp>
      <p:cxnSp>
        <p:nvCxnSpPr>
          <p:cNvPr id="8" name="曲线连接符 7"/>
          <p:cNvCxnSpPr/>
          <p:nvPr/>
        </p:nvCxnSpPr>
        <p:spPr>
          <a:xfrm rot="10800000">
            <a:off x="1487805" y="2920365"/>
            <a:ext cx="4622165" cy="2375535"/>
          </a:xfrm>
          <a:prstGeom prst="curvedConnector3">
            <a:avLst>
              <a:gd name="adj1" fmla="val 49993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曲线连接符 11"/>
          <p:cNvCxnSpPr/>
          <p:nvPr/>
        </p:nvCxnSpPr>
        <p:spPr>
          <a:xfrm rot="10800000">
            <a:off x="1487805" y="3626485"/>
            <a:ext cx="9721215" cy="1630680"/>
          </a:xfrm>
          <a:prstGeom prst="curvedConnector3">
            <a:avLst>
              <a:gd name="adj1" fmla="val 49997"/>
            </a:avLst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82850" y="2285365"/>
            <a:ext cx="83883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/>
              <a:t> vector</a:t>
            </a:r>
            <a:r>
              <a:rPr lang="zh-CN" altLang="en-US" sz="6000"/>
              <a:t>迭代器失效</a:t>
            </a:r>
            <a:endParaRPr lang="zh-CN" altLang="en-US" sz="6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82850" y="2285365"/>
            <a:ext cx="83883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/>
              <a:t> </a:t>
            </a:r>
            <a:endParaRPr lang="zh-CN" altLang="en-US" sz="6000"/>
          </a:p>
        </p:txBody>
      </p:sp>
      <p:sp>
        <p:nvSpPr>
          <p:cNvPr id="3" name="矩形 2"/>
          <p:cNvSpPr/>
          <p:nvPr/>
        </p:nvSpPr>
        <p:spPr>
          <a:xfrm>
            <a:off x="1391920" y="2319020"/>
            <a:ext cx="9107805" cy="666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391920" y="4031615"/>
            <a:ext cx="9107805" cy="666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丁字箭头 4"/>
          <p:cNvSpPr/>
          <p:nvPr/>
        </p:nvSpPr>
        <p:spPr>
          <a:xfrm>
            <a:off x="1501775" y="1522730"/>
            <a:ext cx="5006340" cy="6267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丁字箭头 5"/>
          <p:cNvSpPr/>
          <p:nvPr/>
        </p:nvSpPr>
        <p:spPr>
          <a:xfrm>
            <a:off x="3322955" y="2995295"/>
            <a:ext cx="7126605" cy="47815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68955" y="754380"/>
            <a:ext cx="6062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vector</a:t>
            </a:r>
            <a:r>
              <a:rPr lang="zh-CN" altLang="en-US" sz="3200" b="1"/>
              <a:t>在插入的时候迭代器失效</a:t>
            </a:r>
            <a:endParaRPr lang="zh-CN" altLang="en-US" sz="3200" b="1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640205" y="2611755"/>
          <a:ext cx="4249420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355"/>
                <a:gridCol w="1062355"/>
                <a:gridCol w="1062355"/>
                <a:gridCol w="1062355"/>
              </a:tblGrid>
              <a:tr h="3905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640205" y="436118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下箭头 4"/>
          <p:cNvSpPr/>
          <p:nvPr/>
        </p:nvSpPr>
        <p:spPr>
          <a:xfrm>
            <a:off x="4142740" y="1667510"/>
            <a:ext cx="307975" cy="9442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上箭头 6"/>
          <p:cNvSpPr/>
          <p:nvPr/>
        </p:nvSpPr>
        <p:spPr>
          <a:xfrm>
            <a:off x="4102735" y="4742180"/>
            <a:ext cx="347980" cy="1033780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23455" y="2096135"/>
            <a:ext cx="3756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原因：底层发生了扩容操作或者元素后移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828800" y="269113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45"/>
                <a:gridCol w="1706245"/>
                <a:gridCol w="1706245"/>
                <a:gridCol w="1706245"/>
                <a:gridCol w="17062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下箭头 2"/>
          <p:cNvSpPr/>
          <p:nvPr/>
        </p:nvSpPr>
        <p:spPr>
          <a:xfrm>
            <a:off x="1828800" y="1084580"/>
            <a:ext cx="238760" cy="160274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上箭头 3"/>
          <p:cNvSpPr/>
          <p:nvPr/>
        </p:nvSpPr>
        <p:spPr>
          <a:xfrm>
            <a:off x="9902825" y="3154680"/>
            <a:ext cx="278765" cy="232918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92070" y="2742565"/>
            <a:ext cx="68776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/>
              <a:t>        </a:t>
            </a:r>
            <a:r>
              <a:rPr lang="zh-CN" altLang="en-US" sz="6000"/>
              <a:t>哈希函表</a:t>
            </a:r>
            <a:endParaRPr lang="zh-CN" altLang="en-US" sz="6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271905" y="1696085"/>
          <a:ext cx="119888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3289300" y="4714240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19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3289300" y="142811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5287645" y="142811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3289300" y="199453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5287645" y="199453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3289300" y="2560320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3289300" y="5301615"/>
          <a:ext cx="1199515" cy="39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86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3289300" y="3126740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直接箭头连接符 10"/>
          <p:cNvCxnSpPr>
            <a:endCxn id="4" idx="1"/>
          </p:cNvCxnSpPr>
          <p:nvPr/>
        </p:nvCxnSpPr>
        <p:spPr>
          <a:xfrm flipV="1">
            <a:off x="2453005" y="1618615"/>
            <a:ext cx="836295" cy="259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3"/>
            <a:endCxn id="5" idx="1"/>
          </p:cNvCxnSpPr>
          <p:nvPr/>
        </p:nvCxnSpPr>
        <p:spPr>
          <a:xfrm>
            <a:off x="4488815" y="1618615"/>
            <a:ext cx="7988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6" idx="1"/>
          </p:cNvCxnSpPr>
          <p:nvPr/>
        </p:nvCxnSpPr>
        <p:spPr>
          <a:xfrm flipV="1">
            <a:off x="2463165" y="2185035"/>
            <a:ext cx="826135" cy="806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6" idx="3"/>
            <a:endCxn id="7" idx="1"/>
          </p:cNvCxnSpPr>
          <p:nvPr/>
        </p:nvCxnSpPr>
        <p:spPr>
          <a:xfrm>
            <a:off x="4488815" y="2185035"/>
            <a:ext cx="7988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8" idx="1"/>
          </p:cNvCxnSpPr>
          <p:nvPr/>
        </p:nvCxnSpPr>
        <p:spPr>
          <a:xfrm>
            <a:off x="2453005" y="2663190"/>
            <a:ext cx="836295" cy="87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10" idx="1"/>
          </p:cNvCxnSpPr>
          <p:nvPr/>
        </p:nvCxnSpPr>
        <p:spPr>
          <a:xfrm>
            <a:off x="2482850" y="3010535"/>
            <a:ext cx="806450" cy="306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9" idx="1"/>
          </p:cNvCxnSpPr>
          <p:nvPr/>
        </p:nvCxnSpPr>
        <p:spPr>
          <a:xfrm>
            <a:off x="2343785" y="5316855"/>
            <a:ext cx="945515" cy="1803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3" idx="1"/>
          </p:cNvCxnSpPr>
          <p:nvPr/>
        </p:nvCxnSpPr>
        <p:spPr>
          <a:xfrm>
            <a:off x="2463165" y="4874895"/>
            <a:ext cx="826135" cy="298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18"/>
          <p:cNvGraphicFramePr/>
          <p:nvPr/>
        </p:nvGraphicFramePr>
        <p:xfrm>
          <a:off x="3289300" y="383222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37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0" name="直接箭头连接符 19"/>
          <p:cNvCxnSpPr>
            <a:endCxn id="19" idx="1"/>
          </p:cNvCxnSpPr>
          <p:nvPr/>
        </p:nvCxnSpPr>
        <p:spPr>
          <a:xfrm>
            <a:off x="2463165" y="3388360"/>
            <a:ext cx="826135" cy="634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269355" y="3090545"/>
            <a:ext cx="50292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idx = key mod m   (m</a:t>
            </a:r>
            <a:r>
              <a:rPr lang="zh-CN" altLang="en-US"/>
              <a:t>为表长</a:t>
            </a:r>
            <a:r>
              <a:rPr lang="en-US" altLang="zh-CN"/>
              <a:t>)  m = 11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装填因子</a:t>
            </a:r>
            <a:r>
              <a:rPr lang="en-US" altLang="zh-CN"/>
              <a:t>/</a:t>
            </a:r>
            <a:r>
              <a:rPr lang="zh-CN" altLang="en-US"/>
              <a:t>装载因子 </a:t>
            </a:r>
            <a:r>
              <a:rPr lang="en-US" altLang="zh-CN"/>
              <a:t>= </a:t>
            </a:r>
            <a:r>
              <a:rPr lang="zh-CN" altLang="en-US"/>
              <a:t>元素的个数</a:t>
            </a:r>
            <a:r>
              <a:rPr lang="en-US" altLang="zh-CN"/>
              <a:t>/</a:t>
            </a:r>
            <a:r>
              <a:rPr lang="zh-CN" altLang="en-US"/>
              <a:t>表长 </a:t>
            </a:r>
            <a:r>
              <a:rPr lang="en-US" altLang="zh-CN"/>
              <a:t>=0.5~0.75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2542540" y="187960"/>
            <a:ext cx="6440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                       </a:t>
            </a:r>
            <a:r>
              <a:rPr lang="en-US" altLang="zh-CN" sz="3600" b="1"/>
              <a:t>  </a:t>
            </a:r>
            <a:r>
              <a:rPr lang="zh-CN" altLang="en-US" sz="3600" b="1"/>
              <a:t>链地址法</a:t>
            </a:r>
            <a:endParaRPr lang="zh-CN" altLang="en-US" sz="3600" b="1"/>
          </a:p>
        </p:txBody>
      </p:sp>
      <p:sp>
        <p:nvSpPr>
          <p:cNvPr id="23" name="文本框 22"/>
          <p:cNvSpPr txBox="1"/>
          <p:nvPr/>
        </p:nvSpPr>
        <p:spPr>
          <a:xfrm>
            <a:off x="5742940" y="833120"/>
            <a:ext cx="6370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19   1   23  37   68  55    11   14  86</a:t>
            </a:r>
            <a:endParaRPr lang="en-US" altLang="zh-CN"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91460" y="476250"/>
            <a:ext cx="7464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        </a:t>
            </a:r>
            <a:r>
              <a:rPr lang="en-US" altLang="zh-CN" sz="3200" b="1"/>
              <a:t>  remove_if</a:t>
            </a:r>
            <a:r>
              <a:rPr lang="zh-CN" altLang="en-US" sz="3200" b="1"/>
              <a:t>函数删除不彻底问题</a:t>
            </a:r>
            <a:endParaRPr lang="zh-CN" altLang="en-US" sz="3200" b="1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727200" y="267208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下箭头 5"/>
          <p:cNvSpPr/>
          <p:nvPr/>
        </p:nvSpPr>
        <p:spPr>
          <a:xfrm>
            <a:off x="3487420" y="1489710"/>
            <a:ext cx="367665" cy="118237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上箭头 6"/>
          <p:cNvSpPr/>
          <p:nvPr/>
        </p:nvSpPr>
        <p:spPr>
          <a:xfrm>
            <a:off x="7313930" y="3053080"/>
            <a:ext cx="328295" cy="1540510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33015" y="695325"/>
            <a:ext cx="7583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remove_if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为何不直接将元素删掉呢？？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？</a:t>
            </a:r>
            <a:endParaRPr lang="en-US" altLang="zh-CN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899285" y="215519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下箭头 4"/>
          <p:cNvSpPr/>
          <p:nvPr/>
        </p:nvSpPr>
        <p:spPr>
          <a:xfrm>
            <a:off x="2533015" y="1285240"/>
            <a:ext cx="377825" cy="86995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上箭头 5"/>
          <p:cNvSpPr/>
          <p:nvPr/>
        </p:nvSpPr>
        <p:spPr>
          <a:xfrm>
            <a:off x="4202430" y="2536190"/>
            <a:ext cx="367665" cy="1093470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1510665" y="4318000"/>
          <a:ext cx="9105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3441065" y="4298315"/>
          <a:ext cx="9105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6892925" y="4267835"/>
          <a:ext cx="910590" cy="40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40132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10533380" y="4267835"/>
          <a:ext cx="910590" cy="40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40132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5322570" y="4267835"/>
          <a:ext cx="910590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4114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8700770" y="4267835"/>
          <a:ext cx="910590" cy="40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40132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V="1">
            <a:off x="2403475" y="4382135"/>
            <a:ext cx="1073150" cy="20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4361180" y="4382135"/>
            <a:ext cx="1014095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6189980" y="4362450"/>
            <a:ext cx="7556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7820025" y="4372610"/>
            <a:ext cx="88455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9648825" y="4323080"/>
            <a:ext cx="824865" cy="39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9658985" y="4581525"/>
            <a:ext cx="874395" cy="292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7820025" y="4551680"/>
            <a:ext cx="9245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6259830" y="4571365"/>
            <a:ext cx="645795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4361180" y="4571365"/>
            <a:ext cx="959485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2421255" y="4566920"/>
            <a:ext cx="1019810" cy="19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43255" y="2115820"/>
            <a:ext cx="1056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vector</a:t>
            </a:r>
            <a:endParaRPr lang="en-US" altLang="zh-CN" sz="24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4670" y="4278630"/>
            <a:ext cx="706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</a:t>
            </a:r>
            <a:endParaRPr lang="en-US" altLang="zh-CN" sz="2400" b="1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2983230" y="433260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276225" y="1588135"/>
          <a:ext cx="2103755" cy="468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755"/>
              </a:tblGrid>
              <a:tr h="781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</a:rPr>
                        <a:t>_start</a:t>
                      </a:r>
                      <a:endParaRPr lang="en-US" altLang="zh-CN" sz="2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accent1"/>
                          </a:solidFill>
                        </a:rPr>
                        <a:t>_finish</a:t>
                      </a:r>
                      <a:endParaRPr lang="en-US" altLang="zh-CN" sz="20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/>
                        <a:t>_end_of_storage</a:t>
                      </a:r>
                      <a:endParaRPr lang="en-US" altLang="zh-CN" sz="2000"/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下箭头 4"/>
          <p:cNvSpPr/>
          <p:nvPr/>
        </p:nvSpPr>
        <p:spPr>
          <a:xfrm>
            <a:off x="3052445" y="480060"/>
            <a:ext cx="288290" cy="151320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上箭头 5"/>
          <p:cNvSpPr/>
          <p:nvPr/>
        </p:nvSpPr>
        <p:spPr>
          <a:xfrm>
            <a:off x="6404610" y="2374265"/>
            <a:ext cx="318135" cy="1492885"/>
          </a:xfrm>
          <a:prstGeom prst="up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上箭头 6"/>
          <p:cNvSpPr/>
          <p:nvPr/>
        </p:nvSpPr>
        <p:spPr>
          <a:xfrm>
            <a:off x="8168005" y="2374265"/>
            <a:ext cx="338455" cy="1671955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28085" y="69215"/>
            <a:ext cx="62204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自定义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ector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的实现</a:t>
            </a:r>
            <a:endParaRPr lang="zh-CN" alt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2983230" y="1993265"/>
          <a:ext cx="42926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150"/>
                <a:gridCol w="1073150"/>
                <a:gridCol w="1073150"/>
                <a:gridCol w="10731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773670" y="1729105"/>
            <a:ext cx="3006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老空间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546080" y="3670300"/>
            <a:ext cx="1434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新空间</a:t>
            </a:r>
            <a:endParaRPr lang="zh-CN" altLang="en-US" sz="28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33625"/>
            <a:ext cx="9144000" cy="1604010"/>
          </a:xfrm>
        </p:spPr>
        <p:txBody>
          <a:bodyPr/>
          <a:p>
            <a:r>
              <a:rPr lang="zh-CN" altLang="en-US"/>
              <a:t>空间配置器图解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74040" y="1877695"/>
          <a:ext cx="10744200" cy="52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209550"/>
                <a:gridCol w="1223010"/>
                <a:gridCol w="208280"/>
                <a:gridCol w="1701165"/>
                <a:gridCol w="239395"/>
                <a:gridCol w="1224280"/>
                <a:gridCol w="208280"/>
                <a:gridCol w="1224280"/>
                <a:gridCol w="208280"/>
                <a:gridCol w="1224280"/>
                <a:gridCol w="208280"/>
                <a:gridCol w="1224280"/>
                <a:gridCol w="208280"/>
                <a:gridCol w="716280"/>
              </a:tblGrid>
              <a:tr h="528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上箭头 2"/>
          <p:cNvSpPr/>
          <p:nvPr/>
        </p:nvSpPr>
        <p:spPr>
          <a:xfrm>
            <a:off x="1240155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上箭头 3"/>
          <p:cNvSpPr/>
          <p:nvPr/>
        </p:nvSpPr>
        <p:spPr>
          <a:xfrm>
            <a:off x="2651125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上箭头 4"/>
          <p:cNvSpPr/>
          <p:nvPr/>
        </p:nvSpPr>
        <p:spPr>
          <a:xfrm>
            <a:off x="4569460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上箭头 5"/>
          <p:cNvSpPr/>
          <p:nvPr/>
        </p:nvSpPr>
        <p:spPr>
          <a:xfrm>
            <a:off x="6060440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上箭头 6"/>
          <p:cNvSpPr/>
          <p:nvPr/>
        </p:nvSpPr>
        <p:spPr>
          <a:xfrm>
            <a:off x="7471410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上箭头 7"/>
          <p:cNvSpPr/>
          <p:nvPr/>
        </p:nvSpPr>
        <p:spPr>
          <a:xfrm>
            <a:off x="8942705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10344150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244725" y="944245"/>
            <a:ext cx="2603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红颜色的小内存空间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188335" y="238125"/>
            <a:ext cx="74345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                      </a:t>
            </a:r>
            <a:r>
              <a:rPr lang="en-US" altLang="zh-CN" sz="3200" b="1"/>
              <a:t> </a:t>
            </a:r>
            <a:r>
              <a:rPr lang="zh-CN" altLang="en-US" sz="3200" b="1"/>
              <a:t>外部碎片</a:t>
            </a:r>
            <a:endParaRPr lang="zh-CN" altLang="en-US" sz="3200" b="1"/>
          </a:p>
        </p:txBody>
      </p:sp>
      <p:sp>
        <p:nvSpPr>
          <p:cNvPr id="12" name="文本框 11"/>
          <p:cNvSpPr txBox="1"/>
          <p:nvPr/>
        </p:nvSpPr>
        <p:spPr>
          <a:xfrm>
            <a:off x="993775" y="4408805"/>
            <a:ext cx="4728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20k           8k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>
            <a:endCxn id="28" idx="0"/>
          </p:cNvCxnSpPr>
          <p:nvPr/>
        </p:nvCxnSpPr>
        <p:spPr>
          <a:xfrm flipH="1">
            <a:off x="2867025" y="2176145"/>
            <a:ext cx="2981960" cy="5746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直接箭头连接符 29"/>
          <p:cNvCxnSpPr>
            <a:stCxn id="28" idx="2"/>
          </p:cNvCxnSpPr>
          <p:nvPr/>
        </p:nvCxnSpPr>
        <p:spPr>
          <a:xfrm>
            <a:off x="2867025" y="352298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553835" y="261366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graphicFrame>
        <p:nvGraphicFramePr>
          <p:cNvPr id="26" name="表格 25"/>
          <p:cNvGraphicFramePr/>
          <p:nvPr/>
        </p:nvGraphicFramePr>
        <p:xfrm>
          <a:off x="672465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7" name="直接箭头连接符 36"/>
          <p:cNvCxnSpPr>
            <a:stCxn id="26" idx="2"/>
            <a:endCxn id="36" idx="0"/>
          </p:cNvCxnSpPr>
          <p:nvPr/>
        </p:nvCxnSpPr>
        <p:spPr>
          <a:xfrm>
            <a:off x="1326515" y="3576320"/>
            <a:ext cx="127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表格 35"/>
          <p:cNvGraphicFramePr/>
          <p:nvPr/>
        </p:nvGraphicFramePr>
        <p:xfrm>
          <a:off x="67373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直接箭头连接符 42"/>
          <p:cNvCxnSpPr/>
          <p:nvPr/>
        </p:nvCxnSpPr>
        <p:spPr>
          <a:xfrm flipH="1">
            <a:off x="1336675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/>
          <p:nvPr/>
        </p:nvGraphicFramePr>
        <p:xfrm>
          <a:off x="67246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直接箭头连接符 37"/>
          <p:cNvCxnSpPr>
            <a:endCxn id="26" idx="0"/>
          </p:cNvCxnSpPr>
          <p:nvPr/>
        </p:nvCxnSpPr>
        <p:spPr>
          <a:xfrm flipH="1">
            <a:off x="1326515" y="2176145"/>
            <a:ext cx="1520825" cy="628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4697095" y="3112135"/>
            <a:ext cx="5615305" cy="30810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280275" y="3507740"/>
            <a:ext cx="1689735" cy="24155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5600700" y="3776345"/>
            <a:ext cx="1639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5729605" y="3408045"/>
            <a:ext cx="1670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_S_start_free</a:t>
            </a:r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789295" y="5554980"/>
            <a:ext cx="1670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7429500" y="3806190"/>
            <a:ext cx="132207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内存池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1314450" y="619315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255010" y="297180"/>
            <a:ext cx="59931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第二级空间配置器的原理图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3715" y="695960"/>
            <a:ext cx="10798810" cy="52870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7992745" y="3532505"/>
          <a:ext cx="2023110" cy="184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23" name="右大括号 22"/>
          <p:cNvSpPr/>
          <p:nvPr/>
        </p:nvSpPr>
        <p:spPr>
          <a:xfrm>
            <a:off x="10016490" y="3532505"/>
            <a:ext cx="425450" cy="17818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79735" y="4271010"/>
            <a:ext cx="75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1280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6684010" y="443293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84315" y="5167630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513455" y="347345"/>
            <a:ext cx="6311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第一次申请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51380" y="842010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__my_free_list</a:t>
            </a:r>
            <a:endParaRPr lang="zh-CN" altLang="en-US"/>
          </a:p>
        </p:txBody>
      </p:sp>
      <p:cxnSp>
        <p:nvCxnSpPr>
          <p:cNvPr id="42" name="曲线连接符 41"/>
          <p:cNvCxnSpPr/>
          <p:nvPr/>
        </p:nvCxnSpPr>
        <p:spPr>
          <a:xfrm rot="5400000" flipV="1">
            <a:off x="-10160" y="1614170"/>
            <a:ext cx="468630" cy="117475"/>
          </a:xfrm>
          <a:prstGeom prst="curved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/>
          <p:nvPr/>
        </p:nvCxnSpPr>
        <p:spPr>
          <a:xfrm rot="5400000">
            <a:off x="2713355" y="1256030"/>
            <a:ext cx="645160" cy="258445"/>
          </a:xfrm>
          <a:prstGeom prst="curvedConnector3">
            <a:avLst>
              <a:gd name="adj1" fmla="val 5004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164830" y="3080385"/>
            <a:ext cx="1967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chunk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70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7992745" y="3532505"/>
          <a:ext cx="2023110" cy="184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23" name="右大括号 22"/>
          <p:cNvSpPr/>
          <p:nvPr/>
        </p:nvSpPr>
        <p:spPr>
          <a:xfrm>
            <a:off x="10016490" y="3532505"/>
            <a:ext cx="425450" cy="17818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79735" y="4271010"/>
            <a:ext cx="75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1280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6485255" y="343852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84315" y="5167630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513455" y="347345"/>
            <a:ext cx="6311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第一次申请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51380" y="842010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__my_free_list</a:t>
            </a:r>
            <a:endParaRPr lang="zh-CN" altLang="en-US"/>
          </a:p>
        </p:txBody>
      </p:sp>
      <p:cxnSp>
        <p:nvCxnSpPr>
          <p:cNvPr id="42" name="曲线连接符 41"/>
          <p:cNvCxnSpPr/>
          <p:nvPr/>
        </p:nvCxnSpPr>
        <p:spPr>
          <a:xfrm rot="5400000" flipV="1">
            <a:off x="-10160" y="1614170"/>
            <a:ext cx="468630" cy="117475"/>
          </a:xfrm>
          <a:prstGeom prst="curved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/>
          <p:nvPr/>
        </p:nvCxnSpPr>
        <p:spPr>
          <a:xfrm rot="5400000">
            <a:off x="2713355" y="1256030"/>
            <a:ext cx="645160" cy="258445"/>
          </a:xfrm>
          <a:prstGeom prst="curvedConnector3">
            <a:avLst>
              <a:gd name="adj1" fmla="val 5004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表格 25"/>
          <p:cNvGraphicFramePr/>
          <p:nvPr/>
        </p:nvGraphicFramePr>
        <p:xfrm>
          <a:off x="1630045" y="3128645"/>
          <a:ext cx="119824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2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.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     .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     .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左大括号 26"/>
          <p:cNvSpPr/>
          <p:nvPr/>
        </p:nvSpPr>
        <p:spPr>
          <a:xfrm>
            <a:off x="1257300" y="3140075"/>
            <a:ext cx="318135" cy="3575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83210" y="3128645"/>
            <a:ext cx="86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32byte</a:t>
            </a:r>
            <a:endParaRPr lang="zh-CN" altLang="en-US"/>
          </a:p>
        </p:txBody>
      </p:sp>
      <p:sp>
        <p:nvSpPr>
          <p:cNvPr id="29" name="左大括号 28"/>
          <p:cNvSpPr/>
          <p:nvPr/>
        </p:nvSpPr>
        <p:spPr>
          <a:xfrm>
            <a:off x="1286510" y="3532505"/>
            <a:ext cx="318135" cy="3575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02895" y="3532505"/>
            <a:ext cx="86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32byte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503295" y="3353435"/>
            <a:ext cx="2345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__next_obj</a:t>
            </a:r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 flipH="1">
            <a:off x="2757805" y="3557270"/>
            <a:ext cx="810260" cy="3041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右弧形箭头 36"/>
          <p:cNvSpPr/>
          <p:nvPr/>
        </p:nvSpPr>
        <p:spPr>
          <a:xfrm>
            <a:off x="2882900" y="2178050"/>
            <a:ext cx="461010" cy="1443990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573145" y="3905250"/>
            <a:ext cx="1858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__current_obj</a:t>
            </a:r>
            <a:endParaRPr lang="zh-CN" altLang="en-US"/>
          </a:p>
        </p:txBody>
      </p:sp>
      <p:cxnSp>
        <p:nvCxnSpPr>
          <p:cNvPr id="44" name="直接箭头连接符 43"/>
          <p:cNvCxnSpPr>
            <a:stCxn id="38" idx="1"/>
            <a:endCxn id="37" idx="2"/>
          </p:cNvCxnSpPr>
          <p:nvPr/>
        </p:nvCxnSpPr>
        <p:spPr>
          <a:xfrm flipH="1" flipV="1">
            <a:off x="2882900" y="3507105"/>
            <a:ext cx="690245" cy="5822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NULL</a:t>
                      </a:r>
                      <a:endParaRPr lang="en-US" altLang="zh-CN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/>
          <p:nvPr/>
        </p:nvCxnSpPr>
        <p:spPr>
          <a:xfrm>
            <a:off x="2878455" y="2188210"/>
            <a:ext cx="59055" cy="1941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541655" y="30429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直接箭头连接符 30"/>
          <p:cNvCxnSpPr/>
          <p:nvPr/>
        </p:nvCxnSpPr>
        <p:spPr>
          <a:xfrm flipH="1">
            <a:off x="2878455" y="4193540"/>
            <a:ext cx="605155" cy="11741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35585" y="5029200"/>
            <a:ext cx="1168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还剩</a:t>
            </a:r>
            <a:r>
              <a:rPr lang="en-US" altLang="zh-CN"/>
              <a:t>19</a:t>
            </a:r>
            <a:r>
              <a:rPr lang="zh-CN" altLang="en-US"/>
              <a:t>个</a:t>
            </a:r>
            <a:endParaRPr lang="zh-CN" altLang="en-US"/>
          </a:p>
          <a:p>
            <a:r>
              <a:rPr lang="en-US" altLang="zh-CN"/>
              <a:t>32bytes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7993380" y="4244975"/>
          <a:ext cx="2023110" cy="922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</a:rPr>
                        <a:t>640</a:t>
                      </a:r>
                      <a:endParaRPr lang="en-US" altLang="zh-CN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84315" y="4123690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644005" y="4920615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513455" y="347345"/>
            <a:ext cx="6311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分配出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字节，剩余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个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51380" y="842010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__my_free_list</a:t>
            </a:r>
            <a:endParaRPr lang="zh-CN" altLang="en-US"/>
          </a:p>
        </p:txBody>
      </p:sp>
      <p:cxnSp>
        <p:nvCxnSpPr>
          <p:cNvPr id="42" name="曲线连接符 41"/>
          <p:cNvCxnSpPr/>
          <p:nvPr/>
        </p:nvCxnSpPr>
        <p:spPr>
          <a:xfrm rot="5400000" flipV="1">
            <a:off x="-10160" y="1614170"/>
            <a:ext cx="468630" cy="117475"/>
          </a:xfrm>
          <a:prstGeom prst="curved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/>
          <p:nvPr/>
        </p:nvCxnSpPr>
        <p:spPr>
          <a:xfrm rot="5400000">
            <a:off x="2713355" y="1256030"/>
            <a:ext cx="645160" cy="258445"/>
          </a:xfrm>
          <a:prstGeom prst="curvedConnector3">
            <a:avLst>
              <a:gd name="adj1" fmla="val 5004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32435" y="2633980"/>
            <a:ext cx="2026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分配一个</a:t>
            </a:r>
            <a:r>
              <a:rPr lang="en-US" altLang="zh-CN"/>
              <a:t>32bytes</a:t>
            </a:r>
            <a:endParaRPr lang="zh-CN" altLang="en-US"/>
          </a:p>
        </p:txBody>
      </p:sp>
      <p:sp>
        <p:nvSpPr>
          <p:cNvPr id="35" name="左大括号 34"/>
          <p:cNvSpPr/>
          <p:nvPr/>
        </p:nvSpPr>
        <p:spPr>
          <a:xfrm>
            <a:off x="1524635" y="4123690"/>
            <a:ext cx="626745" cy="25361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1843405" y="3319145"/>
            <a:ext cx="944245" cy="725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/>
          <p:nvPr/>
        </p:nvCxnSpPr>
        <p:spPr>
          <a:xfrm flipH="1">
            <a:off x="1863725" y="2188210"/>
            <a:ext cx="1014730" cy="941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541655" y="30429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65100" y="5029200"/>
            <a:ext cx="15589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回收后还是</a:t>
            </a:r>
            <a:r>
              <a:rPr lang="en-US" altLang="zh-CN"/>
              <a:t>20</a:t>
            </a:r>
            <a:r>
              <a:rPr lang="zh-CN" altLang="en-US"/>
              <a:t>个</a:t>
            </a:r>
            <a:r>
              <a:rPr lang="en-US" altLang="zh-CN"/>
              <a:t>32bytes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4066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7993380" y="4024630"/>
          <a:ext cx="2023110" cy="184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12560" y="387540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631305" y="4759960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513455" y="347345"/>
            <a:ext cx="6311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用完后进行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deallocate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回收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51380" y="842010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__my_free_list</a:t>
            </a:r>
            <a:endParaRPr lang="zh-CN" altLang="en-US"/>
          </a:p>
        </p:txBody>
      </p:sp>
      <p:cxnSp>
        <p:nvCxnSpPr>
          <p:cNvPr id="42" name="曲线连接符 41"/>
          <p:cNvCxnSpPr/>
          <p:nvPr/>
        </p:nvCxnSpPr>
        <p:spPr>
          <a:xfrm rot="5400000" flipV="1">
            <a:off x="-10160" y="1614170"/>
            <a:ext cx="468630" cy="117475"/>
          </a:xfrm>
          <a:prstGeom prst="curved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/>
          <p:nvPr/>
        </p:nvCxnSpPr>
        <p:spPr>
          <a:xfrm rot="5400000">
            <a:off x="2713355" y="1256030"/>
            <a:ext cx="645160" cy="258445"/>
          </a:xfrm>
          <a:prstGeom prst="curvedConnector3">
            <a:avLst>
              <a:gd name="adj1" fmla="val 5004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32435" y="2633980"/>
            <a:ext cx="2026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回收一个</a:t>
            </a:r>
            <a:r>
              <a:rPr lang="en-US" altLang="zh-CN"/>
              <a:t>32bytes</a:t>
            </a:r>
            <a:endParaRPr lang="zh-CN" altLang="en-US"/>
          </a:p>
        </p:txBody>
      </p:sp>
      <p:sp>
        <p:nvSpPr>
          <p:cNvPr id="35" name="左大括号 34"/>
          <p:cNvSpPr/>
          <p:nvPr/>
        </p:nvSpPr>
        <p:spPr>
          <a:xfrm>
            <a:off x="1811020" y="4123690"/>
            <a:ext cx="340360" cy="25361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1813560" y="3776345"/>
            <a:ext cx="1143000" cy="2482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>
            <a:endCxn id="28" idx="0"/>
          </p:cNvCxnSpPr>
          <p:nvPr/>
        </p:nvCxnSpPr>
        <p:spPr>
          <a:xfrm flipH="1">
            <a:off x="2867025" y="2155825"/>
            <a:ext cx="2882900" cy="5949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直接箭头连接符 29"/>
          <p:cNvCxnSpPr>
            <a:stCxn id="28" idx="2"/>
          </p:cNvCxnSpPr>
          <p:nvPr/>
        </p:nvCxnSpPr>
        <p:spPr>
          <a:xfrm>
            <a:off x="2867025" y="352298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9405" y="3532505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一共</a:t>
            </a:r>
            <a:r>
              <a:rPr lang="en-US" altLang="zh-CN"/>
              <a:t>9</a:t>
            </a:r>
            <a:r>
              <a:rPr lang="zh-CN" altLang="en-US"/>
              <a:t>个</a:t>
            </a:r>
            <a:r>
              <a:rPr lang="en-US" altLang="zh-CN"/>
              <a:t>64</a:t>
            </a:r>
            <a:r>
              <a:rPr lang="en-US" altLang="zh-CN"/>
              <a:t>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8082280" y="3900805"/>
          <a:ext cx="2023110" cy="184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601460" y="3700780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661150" y="4640580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265170" y="208280"/>
            <a:ext cx="50387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第二次，申请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64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46390" y="3448050"/>
            <a:ext cx="2593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</a:t>
            </a:r>
            <a:r>
              <a:rPr lang="en-US" altLang="zh-CN" sz="2400" b="1"/>
              <a:t> chunk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>
            <a:endCxn id="28" idx="0"/>
          </p:cNvCxnSpPr>
          <p:nvPr/>
        </p:nvCxnSpPr>
        <p:spPr>
          <a:xfrm flipH="1">
            <a:off x="2867025" y="2155825"/>
            <a:ext cx="2882900" cy="5949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9405" y="3532505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一共</a:t>
            </a:r>
            <a:r>
              <a:rPr lang="en-US" altLang="zh-CN"/>
              <a:t>9</a:t>
            </a:r>
            <a:r>
              <a:rPr lang="zh-CN" altLang="en-US"/>
              <a:t>个</a:t>
            </a:r>
            <a:r>
              <a:rPr lang="en-US" altLang="zh-CN"/>
              <a:t>64</a:t>
            </a:r>
            <a:r>
              <a:rPr lang="en-US" altLang="zh-CN"/>
              <a:t>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8838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011035" y="4168775"/>
            <a:ext cx="3599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 </a:t>
            </a:r>
            <a:r>
              <a:rPr lang="en-US" altLang="zh-CN"/>
              <a:t>= </a:t>
            </a:r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3731260" y="377190"/>
            <a:ext cx="5089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分配完毕之后图解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直接箭头连接符 5"/>
          <p:cNvCxnSpPr>
            <a:stCxn id="28" idx="2"/>
            <a:endCxn id="29" idx="0"/>
          </p:cNvCxnSpPr>
          <p:nvPr/>
        </p:nvCxnSpPr>
        <p:spPr>
          <a:xfrm>
            <a:off x="2867025" y="3522980"/>
            <a:ext cx="1397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/>
          <p:nvPr/>
        </p:nvCxnSpPr>
        <p:spPr>
          <a:xfrm flipH="1">
            <a:off x="3513455" y="2185670"/>
            <a:ext cx="5108575" cy="6661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直接箭头连接符 29"/>
          <p:cNvCxnSpPr>
            <a:stCxn id="28" idx="2"/>
          </p:cNvCxnSpPr>
          <p:nvPr/>
        </p:nvCxnSpPr>
        <p:spPr>
          <a:xfrm>
            <a:off x="2867025" y="352298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9405" y="3532505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一共</a:t>
            </a:r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en-US" altLang="zh-CN"/>
              <a:t>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8023225" y="3344545"/>
          <a:ext cx="2023110" cy="242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76517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1920</a:t>
                      </a:r>
                      <a:endParaRPr lang="en-US" altLang="zh-CN" sz="2800"/>
                    </a:p>
                  </a:txBody>
                  <a:tcPr/>
                </a:tc>
              </a:tr>
              <a:tr h="166179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2000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661150" y="316420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720205" y="5569585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423920" y="217805"/>
            <a:ext cx="529780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第三次，申请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96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字节的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25" name="右大括号 24"/>
          <p:cNvSpPr/>
          <p:nvPr/>
        </p:nvSpPr>
        <p:spPr>
          <a:xfrm>
            <a:off x="10045700" y="3348990"/>
            <a:ext cx="365125" cy="24231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0560050" y="4457065"/>
            <a:ext cx="89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3920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8145145" y="2891790"/>
            <a:ext cx="1978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  </a:t>
            </a:r>
            <a:r>
              <a:rPr lang="en-US" altLang="zh-CN" b="1">
                <a:sym typeface="+mn-ea"/>
              </a:rPr>
              <a:t> </a:t>
            </a:r>
            <a:r>
              <a:rPr lang="en-US" altLang="zh-CN" sz="2400" b="1">
                <a:sym typeface="+mn-ea"/>
              </a:rPr>
              <a:t>chunk</a:t>
            </a:r>
            <a:endParaRPr lang="zh-CN" alt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/>
          <p:nvPr/>
        </p:nvCxnSpPr>
        <p:spPr>
          <a:xfrm flipH="1">
            <a:off x="3513455" y="2185670"/>
            <a:ext cx="5108575" cy="6661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直接箭头连接符 29"/>
          <p:cNvCxnSpPr>
            <a:stCxn id="28" idx="2"/>
          </p:cNvCxnSpPr>
          <p:nvPr/>
        </p:nvCxnSpPr>
        <p:spPr>
          <a:xfrm>
            <a:off x="2867025" y="352298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9405" y="3532505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一共</a:t>
            </a:r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en-US" altLang="zh-CN"/>
              <a:t>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8141970" y="3705860"/>
          <a:ext cx="2023110" cy="242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166179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2000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661150" y="353250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779895" y="5151755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423920" y="217805"/>
            <a:ext cx="529780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</a:t>
            </a:r>
            <a:r>
              <a:rPr 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链表串接之后</a:t>
            </a:r>
            <a:endParaRPr lang="zh-CN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001770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箭头连接符 5"/>
          <p:cNvCxnSpPr>
            <a:endCxn id="22" idx="0"/>
          </p:cNvCxnSpPr>
          <p:nvPr/>
        </p:nvCxnSpPr>
        <p:spPr>
          <a:xfrm flipH="1">
            <a:off x="4654550" y="2165985"/>
            <a:ext cx="1065530" cy="638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/>
          <p:cNvGraphicFramePr/>
          <p:nvPr/>
        </p:nvGraphicFramePr>
        <p:xfrm>
          <a:off x="4000500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/>
        </p:nvGraphicFramePr>
        <p:xfrm>
          <a:off x="4000500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stCxn id="22" idx="2"/>
          </p:cNvCxnSpPr>
          <p:nvPr/>
        </p:nvCxnSpPr>
        <p:spPr>
          <a:xfrm>
            <a:off x="4654550" y="357632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3" idx="2"/>
          </p:cNvCxnSpPr>
          <p:nvPr/>
        </p:nvCxnSpPr>
        <p:spPr>
          <a:xfrm flipH="1">
            <a:off x="465201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" idx="2"/>
          </p:cNvCxnSpPr>
          <p:nvPr/>
        </p:nvCxnSpPr>
        <p:spPr>
          <a:xfrm>
            <a:off x="4655820" y="6193155"/>
            <a:ext cx="10795" cy="5549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H="1">
            <a:off x="1336675" y="2188210"/>
            <a:ext cx="1450975" cy="5441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>
            <a:off x="7933690" y="2165985"/>
            <a:ext cx="489585" cy="789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表格 34"/>
          <p:cNvGraphicFramePr/>
          <p:nvPr/>
        </p:nvGraphicFramePr>
        <p:xfrm>
          <a:off x="672465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表格 35"/>
          <p:cNvGraphicFramePr/>
          <p:nvPr/>
        </p:nvGraphicFramePr>
        <p:xfrm>
          <a:off x="7272655" y="3061335"/>
          <a:ext cx="1308100" cy="734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7" name="直接箭头连接符 36"/>
          <p:cNvCxnSpPr>
            <a:stCxn id="35" idx="2"/>
            <a:endCxn id="39" idx="0"/>
          </p:cNvCxnSpPr>
          <p:nvPr/>
        </p:nvCxnSpPr>
        <p:spPr>
          <a:xfrm>
            <a:off x="1326515" y="3576320"/>
            <a:ext cx="127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8103235" y="3791585"/>
            <a:ext cx="1226185" cy="3308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/>
          <p:cNvGraphicFramePr/>
          <p:nvPr/>
        </p:nvGraphicFramePr>
        <p:xfrm>
          <a:off x="67373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直接箭头连接符 42"/>
          <p:cNvCxnSpPr/>
          <p:nvPr/>
        </p:nvCxnSpPr>
        <p:spPr>
          <a:xfrm flipH="1">
            <a:off x="1336675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/>
          <p:nvPr/>
        </p:nvGraphicFramePr>
        <p:xfrm>
          <a:off x="67246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7" name="直接箭头连接符 46"/>
          <p:cNvCxnSpPr/>
          <p:nvPr/>
        </p:nvCxnSpPr>
        <p:spPr>
          <a:xfrm>
            <a:off x="1315720" y="6193155"/>
            <a:ext cx="10795" cy="5549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 flipV="1">
            <a:off x="7338060" y="613410"/>
            <a:ext cx="476250" cy="1873250"/>
          </a:xfrm>
          <a:prstGeom prst="curvedConnector2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83515" y="2901315"/>
            <a:ext cx="4883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32</a:t>
            </a:r>
            <a:r>
              <a:rPr lang="zh-CN" altLang="en-US"/>
              <a:t>字节</a:t>
            </a:r>
            <a:endParaRPr lang="en-US" altLang="zh-CN"/>
          </a:p>
        </p:txBody>
      </p:sp>
      <p:sp>
        <p:nvSpPr>
          <p:cNvPr id="56" name="文本框 55"/>
          <p:cNvSpPr txBox="1"/>
          <p:nvPr/>
        </p:nvSpPr>
        <p:spPr>
          <a:xfrm>
            <a:off x="3304540" y="2901315"/>
            <a:ext cx="5461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r>
              <a:rPr lang="zh-CN" altLang="en-US"/>
              <a:t>个</a:t>
            </a:r>
            <a:r>
              <a:rPr lang="en-US" altLang="zh-CN"/>
              <a:t>64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0232390" y="3298825"/>
            <a:ext cx="5264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001770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箭头连接符 5"/>
          <p:cNvCxnSpPr>
            <a:endCxn id="22" idx="0"/>
          </p:cNvCxnSpPr>
          <p:nvPr/>
        </p:nvCxnSpPr>
        <p:spPr>
          <a:xfrm flipH="1">
            <a:off x="4654550" y="2165985"/>
            <a:ext cx="1065530" cy="638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/>
          <p:cNvGraphicFramePr/>
          <p:nvPr/>
        </p:nvGraphicFramePr>
        <p:xfrm>
          <a:off x="4000500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/>
        </p:nvGraphicFramePr>
        <p:xfrm>
          <a:off x="4000500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stCxn id="22" idx="2"/>
          </p:cNvCxnSpPr>
          <p:nvPr/>
        </p:nvCxnSpPr>
        <p:spPr>
          <a:xfrm>
            <a:off x="4654550" y="357632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3" idx="2"/>
          </p:cNvCxnSpPr>
          <p:nvPr/>
        </p:nvCxnSpPr>
        <p:spPr>
          <a:xfrm flipH="1">
            <a:off x="465201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" idx="2"/>
          </p:cNvCxnSpPr>
          <p:nvPr/>
        </p:nvCxnSpPr>
        <p:spPr>
          <a:xfrm>
            <a:off x="4655820" y="6193155"/>
            <a:ext cx="10795" cy="5549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H="1">
            <a:off x="1336675" y="2188210"/>
            <a:ext cx="1450975" cy="5441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endCxn id="36" idx="0"/>
          </p:cNvCxnSpPr>
          <p:nvPr/>
        </p:nvCxnSpPr>
        <p:spPr>
          <a:xfrm>
            <a:off x="8632190" y="2165985"/>
            <a:ext cx="795655" cy="5664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表格 34"/>
          <p:cNvGraphicFramePr/>
          <p:nvPr/>
        </p:nvGraphicFramePr>
        <p:xfrm>
          <a:off x="672465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表格 35"/>
          <p:cNvGraphicFramePr/>
          <p:nvPr/>
        </p:nvGraphicFramePr>
        <p:xfrm>
          <a:off x="8773795" y="273240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7" name="直接箭头连接符 36"/>
          <p:cNvCxnSpPr>
            <a:stCxn id="35" idx="2"/>
            <a:endCxn id="39" idx="0"/>
          </p:cNvCxnSpPr>
          <p:nvPr/>
        </p:nvCxnSpPr>
        <p:spPr>
          <a:xfrm>
            <a:off x="1326515" y="3576320"/>
            <a:ext cx="127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9327515" y="3467735"/>
            <a:ext cx="1905" cy="654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/>
          <p:cNvGraphicFramePr/>
          <p:nvPr/>
        </p:nvGraphicFramePr>
        <p:xfrm>
          <a:off x="67373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直接箭头连接符 42"/>
          <p:cNvCxnSpPr/>
          <p:nvPr/>
        </p:nvCxnSpPr>
        <p:spPr>
          <a:xfrm flipH="1">
            <a:off x="1336675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/>
          <p:nvPr/>
        </p:nvGraphicFramePr>
        <p:xfrm>
          <a:off x="67246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7" name="直接箭头连接符 46"/>
          <p:cNvCxnSpPr/>
          <p:nvPr/>
        </p:nvCxnSpPr>
        <p:spPr>
          <a:xfrm>
            <a:off x="1315720" y="6193155"/>
            <a:ext cx="10795" cy="5549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>
            <a:off x="6313805" y="1423035"/>
            <a:ext cx="436880" cy="213995"/>
          </a:xfrm>
          <a:prstGeom prst="curvedConnector3">
            <a:avLst>
              <a:gd name="adj1" fmla="val 49927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83515" y="2901315"/>
            <a:ext cx="4883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32</a:t>
            </a:r>
            <a:r>
              <a:rPr lang="zh-CN" altLang="en-US"/>
              <a:t>字节</a:t>
            </a:r>
            <a:endParaRPr lang="en-US" altLang="zh-CN"/>
          </a:p>
        </p:txBody>
      </p:sp>
      <p:sp>
        <p:nvSpPr>
          <p:cNvPr id="56" name="文本框 55"/>
          <p:cNvSpPr txBox="1"/>
          <p:nvPr/>
        </p:nvSpPr>
        <p:spPr>
          <a:xfrm>
            <a:off x="3304540" y="2901315"/>
            <a:ext cx="5461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  <a:p>
            <a:r>
              <a:rPr lang="zh-CN" altLang="en-US"/>
              <a:t>个</a:t>
            </a:r>
            <a:r>
              <a:rPr lang="en-US" altLang="zh-CN"/>
              <a:t>64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0232390" y="3298825"/>
            <a:ext cx="5264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769610" y="2921635"/>
            <a:ext cx="2623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由于小于</a:t>
            </a:r>
            <a:r>
              <a:rPr lang="en-US" altLang="zh-CN"/>
              <a:t>72</a:t>
            </a:r>
            <a:r>
              <a:rPr lang="zh-CN" altLang="en-US"/>
              <a:t>字节的空间可能不是连续的，所以需要向后面大于</a:t>
            </a:r>
            <a:r>
              <a:rPr lang="en-US" altLang="zh-CN"/>
              <a:t>72</a:t>
            </a:r>
            <a:r>
              <a:rPr lang="zh-CN" altLang="en-US"/>
              <a:t>字节的链表</a:t>
            </a:r>
            <a:r>
              <a:rPr lang="en-US" altLang="zh-CN"/>
              <a:t>”</a:t>
            </a:r>
            <a:r>
              <a:rPr lang="zh-CN" altLang="en-US"/>
              <a:t>借</a:t>
            </a:r>
            <a:r>
              <a:rPr lang="en-US" altLang="zh-CN"/>
              <a:t>”</a:t>
            </a:r>
            <a:endParaRPr lang="en-US" altLang="zh-CN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6465570" y="2155825"/>
            <a:ext cx="39370" cy="7454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6" name="表格 35"/>
          <p:cNvGraphicFramePr/>
          <p:nvPr/>
        </p:nvGraphicFramePr>
        <p:xfrm>
          <a:off x="3914140" y="312991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8622030" y="2185670"/>
            <a:ext cx="707390" cy="1936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>
            <a:off x="6313805" y="1423035"/>
            <a:ext cx="436880" cy="213995"/>
          </a:xfrm>
          <a:prstGeom prst="curvedConnector3">
            <a:avLst>
              <a:gd name="adj1" fmla="val 49927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10232390" y="4223385"/>
            <a:ext cx="5264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剩余</a:t>
            </a:r>
            <a:r>
              <a:rPr lang="en-US" altLang="zh-CN"/>
              <a:t>18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cxnSp>
        <p:nvCxnSpPr>
          <p:cNvPr id="28" name="直接箭头连接符 27"/>
          <p:cNvCxnSpPr>
            <a:endCxn id="36" idx="0"/>
          </p:cNvCxnSpPr>
          <p:nvPr/>
        </p:nvCxnSpPr>
        <p:spPr>
          <a:xfrm flipH="1">
            <a:off x="4568190" y="2155825"/>
            <a:ext cx="1897380" cy="9740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左大括号 28"/>
          <p:cNvSpPr/>
          <p:nvPr/>
        </p:nvSpPr>
        <p:spPr>
          <a:xfrm>
            <a:off x="3046095" y="3129915"/>
            <a:ext cx="854710" cy="7454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972310" y="3289300"/>
            <a:ext cx="1004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584960" y="4253230"/>
            <a:ext cx="4830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做法：可以将</a:t>
            </a:r>
            <a:r>
              <a:rPr lang="en-US" altLang="zh-CN"/>
              <a:t>96</a:t>
            </a:r>
            <a:r>
              <a:rPr lang="zh-CN" altLang="en-US"/>
              <a:t>字节进行切割，分成</a:t>
            </a:r>
            <a:r>
              <a:rPr lang="en-US" altLang="zh-CN"/>
              <a:t>72</a:t>
            </a:r>
            <a:r>
              <a:rPr lang="zh-CN" altLang="en-US"/>
              <a:t>字节与</a:t>
            </a:r>
            <a:r>
              <a:rPr lang="en-US" altLang="zh-CN"/>
              <a:t>24</a:t>
            </a:r>
            <a:r>
              <a:rPr lang="zh-CN" altLang="en-US"/>
              <a:t>字节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6" name="表格 35"/>
          <p:cNvGraphicFramePr/>
          <p:nvPr/>
        </p:nvGraphicFramePr>
        <p:xfrm>
          <a:off x="3914140" y="3129915"/>
          <a:ext cx="1308100" cy="352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22453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910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24</a:t>
                      </a:r>
                      <a:r>
                        <a:rPr lang="zh-CN" altLang="en-US"/>
                        <a:t>字节剩余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8622030" y="2185670"/>
            <a:ext cx="707390" cy="1936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>
            <a:off x="6313805" y="1423035"/>
            <a:ext cx="436880" cy="213995"/>
          </a:xfrm>
          <a:prstGeom prst="curvedConnector3">
            <a:avLst>
              <a:gd name="adj1" fmla="val 49927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10232390" y="4223385"/>
            <a:ext cx="5264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剩余</a:t>
            </a:r>
            <a:r>
              <a:rPr lang="en-US" altLang="zh-CN"/>
              <a:t>18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cxnSp>
        <p:nvCxnSpPr>
          <p:cNvPr id="28" name="直接箭头连接符 27"/>
          <p:cNvCxnSpPr>
            <a:endCxn id="36" idx="0"/>
          </p:cNvCxnSpPr>
          <p:nvPr/>
        </p:nvCxnSpPr>
        <p:spPr>
          <a:xfrm flipH="1">
            <a:off x="4568190" y="2155825"/>
            <a:ext cx="1897380" cy="9740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左大括号 28"/>
          <p:cNvSpPr/>
          <p:nvPr/>
        </p:nvSpPr>
        <p:spPr>
          <a:xfrm>
            <a:off x="3046095" y="3129915"/>
            <a:ext cx="868045" cy="35223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140585" y="4707255"/>
            <a:ext cx="1004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3" name="左大括号 2"/>
          <p:cNvSpPr/>
          <p:nvPr/>
        </p:nvSpPr>
        <p:spPr>
          <a:xfrm>
            <a:off x="3494405" y="3140075"/>
            <a:ext cx="396875" cy="2613660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08910" y="426275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72</a:t>
            </a:r>
            <a:r>
              <a:rPr lang="zh-CN" altLang="en-US">
                <a:solidFill>
                  <a:srgbClr val="FFC000"/>
                </a:solidFill>
              </a:rPr>
              <a:t>字节</a:t>
            </a:r>
            <a:endParaRPr lang="zh-CN" alt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6" name="表格 35"/>
          <p:cNvGraphicFramePr/>
          <p:nvPr/>
        </p:nvGraphicFramePr>
        <p:xfrm>
          <a:off x="2379980" y="3129915"/>
          <a:ext cx="1308100" cy="352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NULL(0)</a:t>
                      </a:r>
                      <a:endParaRPr lang="en-US" altLang="zh-CN"/>
                    </a:p>
                  </a:txBody>
                  <a:tcPr/>
                </a:tc>
              </a:tr>
              <a:tr h="22453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8622030" y="2185670"/>
            <a:ext cx="707390" cy="1936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>
            <a:off x="6313805" y="1423035"/>
            <a:ext cx="436880" cy="213995"/>
          </a:xfrm>
          <a:prstGeom prst="curvedConnector3">
            <a:avLst>
              <a:gd name="adj1" fmla="val 49927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10232390" y="4223385"/>
            <a:ext cx="5264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剩余</a:t>
            </a:r>
            <a:r>
              <a:rPr lang="en-US" altLang="zh-CN"/>
              <a:t>18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cxnSp>
        <p:nvCxnSpPr>
          <p:cNvPr id="28" name="直接箭头连接符 27"/>
          <p:cNvCxnSpPr>
            <a:endCxn id="36" idx="0"/>
          </p:cNvCxnSpPr>
          <p:nvPr/>
        </p:nvCxnSpPr>
        <p:spPr>
          <a:xfrm flipH="1">
            <a:off x="3034030" y="2195830"/>
            <a:ext cx="3441065" cy="9340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/>
          <p:cNvGraphicFramePr/>
          <p:nvPr/>
        </p:nvGraphicFramePr>
        <p:xfrm>
          <a:off x="6639560" y="4223385"/>
          <a:ext cx="1308100" cy="798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7988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24</a:t>
                      </a:r>
                      <a:r>
                        <a:rPr lang="zh-CN" altLang="en-US" sz="1800">
                          <a:sym typeface="+mn-ea"/>
                        </a:rPr>
                        <a:t>字节剩余</a:t>
                      </a: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5222240" y="4122420"/>
            <a:ext cx="161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_S_start_free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5300980" y="4894580"/>
            <a:ext cx="161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_S_end_free</a:t>
            </a:r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770380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85690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001635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671570" y="1980565"/>
            <a:ext cx="1254125" cy="196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6876415" y="2010410"/>
            <a:ext cx="1154430" cy="101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6836410" y="2358390"/>
            <a:ext cx="1115060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736340" y="2348230"/>
            <a:ext cx="1115060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08530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</a:t>
            </a:r>
            <a:r>
              <a:rPr lang="zh-CN" altLang="en-US"/>
              <a:t>，</a:t>
            </a:r>
            <a:r>
              <a:rPr lang="en-US" altLang="zh-CN"/>
              <a:t> 10)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8300085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(2</a:t>
            </a:r>
            <a:r>
              <a:rPr lang="zh-CN" altLang="en-US"/>
              <a:t>，</a:t>
            </a:r>
            <a:r>
              <a:rPr lang="en-US" altLang="zh-CN"/>
              <a:t> 20)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5284470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(3</a:t>
            </a:r>
            <a:r>
              <a:rPr lang="zh-CN" altLang="en-US"/>
              <a:t>，</a:t>
            </a:r>
            <a:r>
              <a:rPr lang="en-US" altLang="zh-CN"/>
              <a:t> 30)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5175" y="3543300"/>
            <a:ext cx="1083881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struct CacheNode</a:t>
            </a:r>
            <a:endParaRPr lang="en-US" altLang="zh-CN"/>
          </a:p>
          <a:p>
            <a:r>
              <a:rPr lang="en-US" altLang="zh-CN"/>
              <a:t>{</a:t>
            </a:r>
            <a:endParaRPr lang="en-US" altLang="zh-CN"/>
          </a:p>
          <a:p>
            <a:pPr indent="457200"/>
            <a:r>
              <a:rPr lang="en-US" altLang="zh-CN"/>
              <a:t>int key;</a:t>
            </a:r>
            <a:endParaRPr lang="en-US" altLang="zh-CN"/>
          </a:p>
          <a:p>
            <a:r>
              <a:rPr lang="en-US" altLang="zh-CN"/>
              <a:t>        int value;</a:t>
            </a:r>
            <a:endParaRPr lang="en-US" altLang="zh-CN"/>
          </a:p>
          <a:p>
            <a:r>
              <a:rPr lang="en-US" altLang="zh-CN"/>
              <a:t>   };</a:t>
            </a:r>
            <a:endParaRPr lang="en-US" altLang="zh-CN"/>
          </a:p>
          <a:p>
            <a:endParaRPr lang="en-US" altLang="zh-CN"/>
          </a:p>
          <a:p>
            <a:r>
              <a:rPr lang="zh-CN" altLang="en-US" sz="2000" b="1">
                <a:solidFill>
                  <a:srgbClr val="FF0000"/>
                </a:solidFill>
              </a:rPr>
              <a:t>list&lt;CacheNode&gt; _nodes;</a:t>
            </a:r>
            <a:r>
              <a:rPr lang="en-US" altLang="zh-CN" sz="2000" b="1">
                <a:solidFill>
                  <a:srgbClr val="FF0000"/>
                </a:solidFill>
              </a:rPr>
              <a:t>   </a:t>
            </a:r>
            <a:r>
              <a:rPr lang="zh-CN" altLang="en-US" sz="2000" b="1">
                <a:solidFill>
                  <a:srgbClr val="FF0000"/>
                </a:solidFill>
              </a:rPr>
              <a:t>//节点放在list链表之中</a:t>
            </a:r>
            <a:endParaRPr lang="zh-CN" altLang="en-US" sz="2000" b="1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</a:rPr>
              <a:t>unordered_map&lt;int, list&lt;CacheNode&gt;::iterator&gt; _cache;//存储key值以及在链表中的位置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52800" y="397510"/>
            <a:ext cx="4588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LRU</a:t>
            </a:r>
            <a:r>
              <a:rPr lang="zh-CN" altLang="en-US" sz="3600" b="1"/>
              <a:t>实现原理图</a:t>
            </a:r>
            <a:endParaRPr lang="zh-CN" altLang="en-US" sz="36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{b3014009-ce1b-4e7f-bb63-45229232dc55}"/>
</p:tagLst>
</file>

<file path=ppt/tags/tag2.xml><?xml version="1.0" encoding="utf-8"?>
<p:tagLst xmlns:p="http://schemas.openxmlformats.org/presentationml/2006/main">
  <p:tag name="KSO_WM_UNIT_TABLE_BEAUTIFY" val="{4a82b61d-bcab-4b0d-bf25-b6a4d03a0ffe}"/>
</p:tagLst>
</file>

<file path=ppt/tags/tag3.xml><?xml version="1.0" encoding="utf-8"?>
<p:tagLst xmlns:p="http://schemas.openxmlformats.org/presentationml/2006/main">
  <p:tag name="KSO_WM_UNIT_TABLE_BEAUTIFY" val="{741c14ea-6be9-4cca-93d6-3b72fd6b480f}"/>
</p:tagLst>
</file>

<file path=ppt/tags/tag4.xml><?xml version="1.0" encoding="utf-8"?>
<p:tagLst xmlns:p="http://schemas.openxmlformats.org/presentationml/2006/main">
  <p:tag name="KSO_WM_UNIT_TABLE_BEAUTIFY" val="{5a67627f-b4fe-4c89-89b3-f7571c0cc846}"/>
</p:tagLst>
</file>

<file path=ppt/tags/tag5.xml><?xml version="1.0" encoding="utf-8"?>
<p:tagLst xmlns:p="http://schemas.openxmlformats.org/presentationml/2006/main">
  <p:tag name="KSO_WM_UNIT_TABLE_BEAUTIFY" val="{2c5b29af-078b-45e5-8527-bb3c4f88627e}"/>
</p:tagLst>
</file>

<file path=ppt/tags/tag6.xml><?xml version="1.0" encoding="utf-8"?>
<p:tagLst xmlns:p="http://schemas.openxmlformats.org/presentationml/2006/main">
  <p:tag name="KSO_WM_UNIT_TABLE_BEAUTIFY" val="{80b42895-7c61-4c76-a2d9-94abf0a59bd9}"/>
</p:tagLst>
</file>

<file path=ppt/tags/tag7.xml><?xml version="1.0" encoding="utf-8"?>
<p:tagLst xmlns:p="http://schemas.openxmlformats.org/presentationml/2006/main">
  <p:tag name="KSO_WM_UNIT_TABLE_BEAUTIFY" val="{f287a1c0-5d5c-4df6-acee-716c2c0fc798}"/>
</p:tagLst>
</file>

<file path=ppt/tags/tag8.xml><?xml version="1.0" encoding="utf-8"?>
<p:tagLst xmlns:p="http://schemas.openxmlformats.org/presentationml/2006/main">
  <p:tag name="KSO_WM_UNIT_TABLE_BEAUTIFY" val="{802afec3-c22b-4233-845e-29bbf8dc907e}"/>
</p:tagLst>
</file>

<file path=ppt/tags/tag9.xml><?xml version="1.0" encoding="utf-8"?>
<p:tagLst xmlns:p="http://schemas.openxmlformats.org/presentationml/2006/main">
  <p:tag name="KSO_WM_UNIT_TABLE_BEAUTIFY" val="{7398e547-df27-4334-b1e1-b55c07d30f83}"/>
</p:tagLst>
</file>

<file path=ppt/tags/tag10.xml><?xml version="1.0" encoding="utf-8"?>
<p:tagLst xmlns:p="http://schemas.openxmlformats.org/presentationml/2006/main">
  <p:tag name="KSO_WM_UNIT_TABLE_BEAUTIFY" val="{d5015ed1-9d00-42c9-8ffc-c0851f44496c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TABLE_BEAUTIFY" val="{9c9035cd-f677-4e99-bc85-632e24dfc3a3}"/>
</p:tagLst>
</file>

<file path=ppt/tags/tag13.xml><?xml version="1.0" encoding="utf-8"?>
<p:tagLst xmlns:p="http://schemas.openxmlformats.org/presentationml/2006/main">
  <p:tag name="KSO_WM_UNIT_TABLE_BEAUTIFY" val="{9c9035cd-f677-4e99-bc85-632e24dfc3a3}"/>
</p:tagLst>
</file>

<file path=ppt/tags/tag14.xml><?xml version="1.0" encoding="utf-8"?>
<p:tagLst xmlns:p="http://schemas.openxmlformats.org/presentationml/2006/main">
  <p:tag name="KSO_WM_UNIT_TABLE_BEAUTIFY" val="{e7073c23-b224-4510-835f-b1a8a5110825}"/>
</p:tagLst>
</file>

<file path=ppt/tags/tag15.xml><?xml version="1.0" encoding="utf-8"?>
<p:tagLst xmlns:p="http://schemas.openxmlformats.org/presentationml/2006/main">
  <p:tag name="KSO_WM_UNIT_TABLE_BEAUTIFY" val="{417f495d-5c0d-489c-989b-a7434da48456}"/>
</p:tagLst>
</file>

<file path=ppt/tags/tag16.xml><?xml version="1.0" encoding="utf-8"?>
<p:tagLst xmlns:p="http://schemas.openxmlformats.org/presentationml/2006/main">
  <p:tag name="KSO_WM_UNIT_TABLE_BEAUTIFY" val="{04d26f4c-ca4f-469c-8907-3c5622ff2312}"/>
</p:tagLst>
</file>

<file path=ppt/tags/tag17.xml><?xml version="1.0" encoding="utf-8"?>
<p:tagLst xmlns:p="http://schemas.openxmlformats.org/presentationml/2006/main">
  <p:tag name="KSO_WM_UNIT_TABLE_BEAUTIFY" val="{3bcc32a2-e6db-4da9-809f-40ce4b070a52}"/>
</p:tagLst>
</file>

<file path=ppt/tags/tag18.xml><?xml version="1.0" encoding="utf-8"?>
<p:tagLst xmlns:p="http://schemas.openxmlformats.org/presentationml/2006/main">
  <p:tag name="KSO_WM_UNIT_TABLE_BEAUTIFY" val="{16a34de7-9358-41c6-a055-9d08ac81b0d8}"/>
</p:tagLst>
</file>

<file path=ppt/tags/tag19.xml><?xml version="1.0" encoding="utf-8"?>
<p:tagLst xmlns:p="http://schemas.openxmlformats.org/presentationml/2006/main">
  <p:tag name="KSO_WM_UNIT_TABLE_BEAUTIFY" val="{a3fa13b5-d2fc-40a1-8458-a57e96e1b85b}"/>
</p:tagLst>
</file>

<file path=ppt/tags/tag20.xml><?xml version="1.0" encoding="utf-8"?>
<p:tagLst xmlns:p="http://schemas.openxmlformats.org/presentationml/2006/main">
  <p:tag name="KSO_WM_UNIT_TABLE_BEAUTIFY" val="{fa14385e-b94e-4a66-ac8c-3538ff72b7bd}"/>
</p:tagLst>
</file>

<file path=ppt/tags/tag21.xml><?xml version="1.0" encoding="utf-8"?>
<p:tagLst xmlns:p="http://schemas.openxmlformats.org/presentationml/2006/main">
  <p:tag name="KSO_WM_UNIT_TABLE_BEAUTIFY" val="{34337173-dd01-41dd-aa7c-f6756b6cb85f}"/>
</p:tagLst>
</file>

<file path=ppt/tags/tag22.xml><?xml version="1.0" encoding="utf-8"?>
<p:tagLst xmlns:p="http://schemas.openxmlformats.org/presentationml/2006/main">
  <p:tag name="KSO_WM_UNIT_TABLE_BEAUTIFY" val="{e5381d43-c837-488c-8d92-a70f41d21472}"/>
</p:tagLst>
</file>

<file path=ppt/tags/tag23.xml><?xml version="1.0" encoding="utf-8"?>
<p:tagLst xmlns:p="http://schemas.openxmlformats.org/presentationml/2006/main">
  <p:tag name="KSO_WM_UNIT_TABLE_BEAUTIFY" val="{64d6c183-a677-4d58-b123-5ec4bb720742}"/>
</p:tagLst>
</file>

<file path=ppt/tags/tag24.xml><?xml version="1.0" encoding="utf-8"?>
<p:tagLst xmlns:p="http://schemas.openxmlformats.org/presentationml/2006/main">
  <p:tag name="KSO_WM_UNIT_TABLE_BEAUTIFY" val="{45596db0-42eb-406b-8242-388d365fc3d9}"/>
</p:tagLst>
</file>

<file path=ppt/tags/tag25.xml><?xml version="1.0" encoding="utf-8"?>
<p:tagLst xmlns:p="http://schemas.openxmlformats.org/presentationml/2006/main">
  <p:tag name="KSO_WPP_MARK_KEY" val="acf22172-cd0f-467c-9c4e-1fd324be9c8c"/>
  <p:tag name="COMMONDATA" val="eyJoZGlkIjoiMGRlMjEyNWVmZjNjZDU2ZTQ2N2U1NGY0MWQ2ODFhZ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3737</Words>
  <Application>WPS 演示</Application>
  <PresentationFormat>宽屏</PresentationFormat>
  <Paragraphs>1502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vector原理图解</vt:lpstr>
      <vt:lpstr>PowerPoint 演示文稿</vt:lpstr>
      <vt:lpstr>PowerPoint 演示文稿</vt:lpstr>
      <vt:lpstr>deque原理图解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空间配置器图解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boldness</cp:lastModifiedBy>
  <cp:revision>202</cp:revision>
  <dcterms:created xsi:type="dcterms:W3CDTF">2020-05-13T14:03:00Z</dcterms:created>
  <dcterms:modified xsi:type="dcterms:W3CDTF">2023-11-15T02:20:27Z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958FE3AAAB6B4026B06D77B10A8FB4DC</vt:lpwstr>
  </property>
</Properties>
</file>