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2" r:id="rId6"/>
    <p:sldId id="269" r:id="rId7"/>
    <p:sldId id="259" r:id="rId8"/>
    <p:sldId id="260" r:id="rId9"/>
    <p:sldId id="261" r:id="rId10"/>
    <p:sldId id="283" r:id="rId11"/>
    <p:sldId id="277" r:id="rId12"/>
    <p:sldId id="274" r:id="rId13"/>
    <p:sldId id="276" r:id="rId14"/>
    <p:sldId id="278" r:id="rId15"/>
    <p:sldId id="291" r:id="rId16"/>
    <p:sldId id="280" r:id="rId17"/>
    <p:sldId id="281" r:id="rId18"/>
    <p:sldId id="282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5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4920" y="2777490"/>
            <a:ext cx="9144000" cy="1303020"/>
          </a:xfrm>
        </p:spPr>
        <p:txBody>
          <a:bodyPr/>
          <a:p>
            <a:r>
              <a:rPr lang="zh-CN" altLang="en-US" b="1"/>
              <a:t>线程相关</a:t>
            </a:r>
            <a:endParaRPr lang="zh-CN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8136255" y="1064260"/>
            <a:ext cx="2189480" cy="49669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245475" y="1631950"/>
            <a:ext cx="199072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    </a:t>
            </a:r>
            <a:r>
              <a:rPr lang="en-US" altLang="zh-CN" sz="2800">
                <a:solidFill>
                  <a:srgbClr val="FF0000"/>
                </a:solidFill>
              </a:rPr>
              <a:t>main</a:t>
            </a:r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     </a:t>
            </a:r>
            <a:r>
              <a:rPr lang="en-US" altLang="zh-CN" sz="2800">
                <a:solidFill>
                  <a:schemeClr val="tx2"/>
                </a:solidFill>
              </a:rPr>
              <a:t>funcA</a:t>
            </a:r>
            <a:endParaRPr lang="en-US" altLang="zh-CN" sz="2800">
              <a:solidFill>
                <a:schemeClr val="tx2"/>
              </a:solidFill>
            </a:endParaRPr>
          </a:p>
          <a:p>
            <a:endParaRPr lang="en-US" altLang="zh-CN" sz="2800"/>
          </a:p>
          <a:p>
            <a:r>
              <a:rPr lang="en-US" altLang="zh-CN" sz="2800"/>
              <a:t>     </a:t>
            </a:r>
            <a:r>
              <a:rPr lang="en-US" altLang="zh-CN" sz="2800">
                <a:solidFill>
                  <a:srgbClr val="00B0F0"/>
                </a:solidFill>
              </a:rPr>
              <a:t>funcB</a:t>
            </a:r>
            <a:endParaRPr lang="en-US" altLang="zh-CN" sz="2800">
              <a:solidFill>
                <a:srgbClr val="00B0F0"/>
              </a:solidFill>
            </a:endParaRPr>
          </a:p>
          <a:p>
            <a:endParaRPr lang="en-US" altLang="zh-CN" sz="2800"/>
          </a:p>
          <a:p>
            <a:r>
              <a:rPr lang="en-US" altLang="zh-CN" sz="2800"/>
              <a:t>     </a:t>
            </a:r>
            <a:r>
              <a:rPr lang="en-US" altLang="zh-CN" sz="2800">
                <a:gradFill>
                  <a:gsLst>
                    <a:gs pos="19000">
                      <a:srgbClr val="FFB9B9"/>
                    </a:gs>
                    <a:gs pos="64000">
                      <a:srgbClr val="FF8F8E"/>
                    </a:gs>
                    <a:gs pos="44000">
                      <a:srgbClr val="FE9E9F"/>
                    </a:gs>
                    <a:gs pos="84000">
                      <a:srgbClr val="FF7373"/>
                    </a:gs>
                  </a:gsLst>
                  <a:lin scaled="1"/>
                </a:gradFill>
              </a:rPr>
              <a:t>funcD</a:t>
            </a:r>
            <a:endParaRPr lang="en-US" altLang="zh-CN" sz="2800">
              <a:gradFill>
                <a:gsLst>
                  <a:gs pos="19000">
                    <a:srgbClr val="FFB9B9"/>
                  </a:gs>
                  <a:gs pos="64000">
                    <a:srgbClr val="FF8F8E"/>
                  </a:gs>
                  <a:gs pos="44000">
                    <a:srgbClr val="FE9E9F"/>
                  </a:gs>
                  <a:gs pos="84000">
                    <a:srgbClr val="FF7373"/>
                  </a:gs>
                </a:gsLst>
                <a:lin scaled="1"/>
              </a:gra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4811395" y="1791335"/>
            <a:ext cx="3244850" cy="2997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468235" y="796290"/>
            <a:ext cx="855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4G</a:t>
            </a:r>
            <a:endParaRPr lang="en-US" altLang="zh-CN" sz="3600"/>
          </a:p>
        </p:txBody>
      </p:sp>
      <p:sp>
        <p:nvSpPr>
          <p:cNvPr id="10" name="文本框 9"/>
          <p:cNvSpPr txBox="1"/>
          <p:nvPr/>
        </p:nvSpPr>
        <p:spPr>
          <a:xfrm>
            <a:off x="7468235" y="5673725"/>
            <a:ext cx="77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0G</a:t>
            </a:r>
            <a:endParaRPr lang="en-US" altLang="zh-CN" sz="3600"/>
          </a:p>
        </p:txBody>
      </p:sp>
      <p:sp>
        <p:nvSpPr>
          <p:cNvPr id="11" name="文本框 10"/>
          <p:cNvSpPr txBox="1"/>
          <p:nvPr/>
        </p:nvSpPr>
        <p:spPr>
          <a:xfrm>
            <a:off x="1198245" y="437515"/>
            <a:ext cx="3125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/>
              <a:t>进程地址空间</a:t>
            </a:r>
            <a:endParaRPr lang="zh-CN" altLang="en-US" sz="36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155690" y="944880"/>
            <a:ext cx="2189480" cy="49669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264910" y="1512570"/>
            <a:ext cx="199072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    </a:t>
            </a:r>
            <a:r>
              <a:rPr lang="en-US" altLang="zh-CN" sz="2800">
                <a:solidFill>
                  <a:srgbClr val="FF0000"/>
                </a:solidFill>
              </a:rPr>
              <a:t>main</a:t>
            </a:r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     </a:t>
            </a:r>
            <a:r>
              <a:rPr lang="en-US" altLang="zh-CN" sz="2800">
                <a:solidFill>
                  <a:schemeClr val="tx2"/>
                </a:solidFill>
              </a:rPr>
              <a:t>funcA</a:t>
            </a:r>
            <a:endParaRPr lang="en-US" altLang="zh-CN" sz="2800">
              <a:solidFill>
                <a:schemeClr val="tx2"/>
              </a:solidFill>
            </a:endParaRPr>
          </a:p>
          <a:p>
            <a:endParaRPr lang="en-US" altLang="zh-CN" sz="2800"/>
          </a:p>
          <a:p>
            <a:r>
              <a:rPr lang="en-US" altLang="zh-CN" sz="2800"/>
              <a:t>     </a:t>
            </a:r>
            <a:r>
              <a:rPr lang="en-US" altLang="zh-CN" sz="2800">
                <a:solidFill>
                  <a:srgbClr val="00B0F0"/>
                </a:solidFill>
              </a:rPr>
              <a:t>funcB</a:t>
            </a:r>
            <a:endParaRPr lang="en-US" altLang="zh-CN" sz="2800">
              <a:solidFill>
                <a:srgbClr val="00B0F0"/>
              </a:solidFill>
            </a:endParaRPr>
          </a:p>
          <a:p>
            <a:endParaRPr lang="en-US" altLang="zh-CN" sz="2800"/>
          </a:p>
          <a:p>
            <a:r>
              <a:rPr lang="en-US" altLang="zh-CN" sz="2800"/>
              <a:t>     </a:t>
            </a:r>
            <a:r>
              <a:rPr lang="en-US" altLang="zh-CN" sz="2800">
                <a:gradFill>
                  <a:gsLst>
                    <a:gs pos="19000">
                      <a:srgbClr val="FFB9B9"/>
                    </a:gs>
                    <a:gs pos="64000">
                      <a:srgbClr val="FF8F8E"/>
                    </a:gs>
                    <a:gs pos="44000">
                      <a:srgbClr val="FE9E9F"/>
                    </a:gs>
                    <a:gs pos="84000">
                      <a:srgbClr val="FF7373"/>
                    </a:gs>
                  </a:gsLst>
                  <a:lin scaled="1"/>
                </a:gradFill>
              </a:rPr>
              <a:t>funcD</a:t>
            </a:r>
            <a:endParaRPr lang="en-US" altLang="zh-CN" sz="2800">
              <a:gradFill>
                <a:gsLst>
                  <a:gs pos="19000">
                    <a:srgbClr val="FFB9B9"/>
                  </a:gs>
                  <a:gs pos="64000">
                    <a:srgbClr val="FF8F8E"/>
                  </a:gs>
                  <a:gs pos="44000">
                    <a:srgbClr val="FE9E9F"/>
                  </a:gs>
                  <a:gs pos="84000">
                    <a:srgbClr val="FF7373"/>
                  </a:gs>
                </a:gsLst>
                <a:lin scaled="1"/>
              </a:gra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2830830" y="1671955"/>
            <a:ext cx="3244850" cy="2997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487670" y="676910"/>
            <a:ext cx="855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4G</a:t>
            </a:r>
            <a:endParaRPr lang="en-US" altLang="zh-CN" sz="3600"/>
          </a:p>
        </p:txBody>
      </p:sp>
      <p:sp>
        <p:nvSpPr>
          <p:cNvPr id="10" name="文本框 9"/>
          <p:cNvSpPr txBox="1"/>
          <p:nvPr/>
        </p:nvSpPr>
        <p:spPr>
          <a:xfrm>
            <a:off x="5487670" y="5554345"/>
            <a:ext cx="77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0G</a:t>
            </a:r>
            <a:endParaRPr lang="en-US" altLang="zh-CN" sz="3600"/>
          </a:p>
        </p:txBody>
      </p:sp>
      <p:sp>
        <p:nvSpPr>
          <p:cNvPr id="2" name="右箭头 1"/>
          <p:cNvSpPr/>
          <p:nvPr/>
        </p:nvSpPr>
        <p:spPr>
          <a:xfrm>
            <a:off x="2830830" y="3424555"/>
            <a:ext cx="3244850" cy="288290"/>
          </a:xfrm>
          <a:prstGeom prst="rightArrow">
            <a:avLst>
              <a:gd name="adj1" fmla="val 58163"/>
              <a:gd name="adj2" fmla="val 500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62835" y="1283335"/>
            <a:ext cx="1423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主线程</a:t>
            </a:r>
            <a:endParaRPr lang="zh-CN" altLang="en-US" sz="240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52675" y="2964180"/>
            <a:ext cx="1423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C000"/>
                </a:solidFill>
              </a:rPr>
              <a:t>子线程</a:t>
            </a:r>
            <a:endParaRPr lang="zh-CN" altLang="en-US" sz="240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直接连接符 1"/>
          <p:cNvCxnSpPr/>
          <p:nvPr/>
        </p:nvCxnSpPr>
        <p:spPr>
          <a:xfrm>
            <a:off x="1839595" y="3742055"/>
            <a:ext cx="8888730" cy="29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2337435" y="2965450"/>
            <a:ext cx="1204595" cy="7664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4527550" y="3005455"/>
            <a:ext cx="1204595" cy="7664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6876415" y="3005455"/>
            <a:ext cx="1204595" cy="7664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9185910" y="2975610"/>
            <a:ext cx="1204595" cy="7664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3542030" y="2975610"/>
            <a:ext cx="965200" cy="76644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5801995" y="3005455"/>
            <a:ext cx="965200" cy="76644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8150860" y="2975610"/>
            <a:ext cx="965200" cy="76644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054350" y="1323340"/>
            <a:ext cx="5265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 i="1">
                <a:solidFill>
                  <a:srgbClr val="FF0000"/>
                </a:solidFill>
              </a:rPr>
              <a:t>时间片</a:t>
            </a:r>
            <a:endParaRPr lang="zh-CN" altLang="en-US" sz="4000" b="1" i="1">
              <a:solidFill>
                <a:srgbClr val="FF0000"/>
              </a:solidFill>
            </a:endParaRPr>
          </a:p>
        </p:txBody>
      </p:sp>
      <p:sp>
        <p:nvSpPr>
          <p:cNvPr id="13" name="上箭头 12"/>
          <p:cNvSpPr/>
          <p:nvPr/>
        </p:nvSpPr>
        <p:spPr>
          <a:xfrm>
            <a:off x="4780280" y="3782060"/>
            <a:ext cx="259715" cy="2806700"/>
          </a:xfrm>
          <a:prstGeom prst="up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85495" y="1392555"/>
            <a:ext cx="9753600" cy="3696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POSIX是可移植操作系统接口(Portable Operating System Interface) 的缩写。</a:t>
            </a:r>
            <a:endParaRPr lang="zh-CN" altLang="en-US" sz="2400"/>
          </a:p>
          <a:p>
            <a:r>
              <a:rPr lang="zh-CN" altLang="en-US" sz="2400"/>
              <a:t>由IEEE开发，由ANSI和ISO标准化。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定义了应用程序和 UNIX 操作系统之间的语言接口。目的在于提高应用程序在各种unix操作系统环境之间的</a:t>
            </a:r>
            <a:r>
              <a:rPr lang="zh-CN" altLang="en-US" sz="2400" b="1">
                <a:solidFill>
                  <a:srgbClr val="FF0000"/>
                </a:solidFill>
              </a:rPr>
              <a:t>可移植性</a:t>
            </a:r>
            <a:r>
              <a:rPr lang="zh-CN" altLang="en-US" sz="2400"/>
              <a:t>。</a:t>
            </a:r>
            <a:endParaRPr lang="zh-CN" altLang="en-US" sz="2400"/>
          </a:p>
          <a:p>
            <a:endParaRPr lang="en-US" altLang="zh-CN" sz="2400"/>
          </a:p>
          <a:p>
            <a:r>
              <a:rPr lang="en-US" altLang="zh-CN" sz="2400"/>
              <a:t>POSIX并不局限于UNIX。Linux基本上逐步实现了POSIX兼容，但并没有参加正式的POSIX认证。微软的Windows NT至少部分实现了POSIX兼容</a:t>
            </a: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4248150" y="248285"/>
            <a:ext cx="43795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b="1"/>
              <a:t>POSIX</a:t>
            </a:r>
            <a:r>
              <a:rPr lang="zh-CN" altLang="en-US" sz="4000" b="1"/>
              <a:t>标准</a:t>
            </a:r>
            <a:endParaRPr lang="zh-CN" altLang="en-US" sz="4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1524000" y="2635250"/>
            <a:ext cx="9144000" cy="1303020"/>
          </a:xfrm>
        </p:spPr>
        <p:txBody>
          <a:bodyPr/>
          <a:p>
            <a:r>
              <a:rPr lang="en-US" altLang="zh-CN" b="1"/>
              <a:t>              </a:t>
            </a:r>
            <a:r>
              <a:rPr lang="zh-CN" altLang="en-US" sz="6000" b="1"/>
              <a:t>生产者消费者模型</a:t>
            </a:r>
            <a:endParaRPr lang="zh-CN" altLang="en-US" sz="60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293995" y="984885"/>
            <a:ext cx="5234305" cy="24390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13765" y="1537335"/>
            <a:ext cx="1661795" cy="71691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生产者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93995" y="5175885"/>
            <a:ext cx="1651635" cy="7162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  <a:sym typeface="+mn-ea"/>
              </a:rPr>
              <a:t>消费者</a:t>
            </a:r>
            <a:r>
              <a:rPr lang="en-US" altLang="zh-CN" sz="3200" b="1">
                <a:solidFill>
                  <a:schemeClr val="tx1"/>
                </a:solidFill>
                <a:sym typeface="+mn-ea"/>
              </a:rPr>
              <a:t>1</a:t>
            </a:r>
            <a:endParaRPr lang="en-US" altLang="zh-CN" sz="3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39455" y="5156835"/>
            <a:ext cx="1612265" cy="7277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  <a:sym typeface="+mn-ea"/>
              </a:rPr>
              <a:t>消费者</a:t>
            </a:r>
            <a:r>
              <a:rPr lang="en-US" altLang="zh-CN" sz="3200" b="1">
                <a:solidFill>
                  <a:schemeClr val="tx1"/>
                </a:solidFill>
                <a:sym typeface="+mn-ea"/>
              </a:rPr>
              <a:t>2</a:t>
            </a:r>
            <a:endParaRPr lang="zh-CN" altLang="en-US" sz="3200"/>
          </a:p>
        </p:txBody>
      </p:sp>
      <p:sp>
        <p:nvSpPr>
          <p:cNvPr id="9" name="菱形 8"/>
          <p:cNvSpPr/>
          <p:nvPr/>
        </p:nvSpPr>
        <p:spPr>
          <a:xfrm>
            <a:off x="6885940" y="2632710"/>
            <a:ext cx="1433195" cy="1552575"/>
          </a:xfrm>
          <a:prstGeom prst="diamond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锁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2606040" y="1761490"/>
            <a:ext cx="2657475" cy="26860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9045575" y="3424555"/>
            <a:ext cx="199390" cy="1731645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下箭头 11"/>
          <p:cNvSpPr/>
          <p:nvPr/>
        </p:nvSpPr>
        <p:spPr>
          <a:xfrm>
            <a:off x="6020435" y="3423920"/>
            <a:ext cx="199390" cy="1731645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对角圆角矩形 12"/>
          <p:cNvSpPr/>
          <p:nvPr/>
        </p:nvSpPr>
        <p:spPr>
          <a:xfrm>
            <a:off x="8319135" y="1259205"/>
            <a:ext cx="1074420" cy="1602105"/>
          </a:xfrm>
          <a:prstGeom prst="round2Diag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</a:rPr>
              <a:t>cond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653270" y="1323340"/>
            <a:ext cx="567055" cy="39814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632950" y="1940560"/>
            <a:ext cx="567055" cy="39814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403340" y="301625"/>
            <a:ext cx="30162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仓库（缓冲区）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箭头连接符 3"/>
          <p:cNvCxnSpPr/>
          <p:nvPr/>
        </p:nvCxnSpPr>
        <p:spPr>
          <a:xfrm>
            <a:off x="2019300" y="4199255"/>
            <a:ext cx="7584440" cy="4000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339205" y="2049145"/>
            <a:ext cx="10160" cy="2150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651885" y="2049145"/>
            <a:ext cx="10160" cy="2150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974975" y="1465580"/>
            <a:ext cx="18510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signal</a:t>
            </a:r>
            <a:endParaRPr lang="en-US" altLang="zh-CN" sz="3200"/>
          </a:p>
        </p:txBody>
      </p:sp>
      <p:sp>
        <p:nvSpPr>
          <p:cNvPr id="8" name="文本框 7"/>
          <p:cNvSpPr txBox="1"/>
          <p:nvPr/>
        </p:nvSpPr>
        <p:spPr>
          <a:xfrm>
            <a:off x="5742305" y="1465580"/>
            <a:ext cx="18510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signal</a:t>
            </a:r>
            <a:endParaRPr lang="en-US" altLang="zh-CN" sz="320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5173980" y="875030"/>
            <a:ext cx="20320" cy="336423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0725" y="1569720"/>
            <a:ext cx="10751185" cy="39808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92805" y="387985"/>
            <a:ext cx="434975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/>
              <a:t>socekt</a:t>
            </a:r>
            <a:r>
              <a:rPr lang="zh-CN" altLang="en-US" sz="4400" b="1"/>
              <a:t>原理图</a:t>
            </a:r>
            <a:endParaRPr lang="zh-CN" altLang="en-US" sz="44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20140" y="2482215"/>
          <a:ext cx="9817100" cy="42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</a:tblGrid>
              <a:tr h="42037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1187450" y="4338320"/>
          <a:ext cx="9817100" cy="42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</a:tblGrid>
              <a:tr h="42037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924810" y="278130"/>
            <a:ext cx="60223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/>
              <a:t>select</a:t>
            </a:r>
            <a:r>
              <a:rPr lang="zh-CN" altLang="en-US" sz="4400" b="1"/>
              <a:t>使用的原理图</a:t>
            </a:r>
            <a:endParaRPr lang="zh-CN" altLang="en-US" sz="4400" b="1"/>
          </a:p>
        </p:txBody>
      </p:sp>
      <p:sp>
        <p:nvSpPr>
          <p:cNvPr id="6" name="文本框 5"/>
          <p:cNvSpPr txBox="1"/>
          <p:nvPr/>
        </p:nvSpPr>
        <p:spPr>
          <a:xfrm>
            <a:off x="2984500" y="1453515"/>
            <a:ext cx="45777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数据结构：位图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65120" y="5573395"/>
            <a:ext cx="5786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文件描述符</a:t>
            </a:r>
            <a:r>
              <a:rPr lang="en-US" altLang="zh-CN" sz="2800" b="1"/>
              <a:t>file description,fd</a:t>
            </a:r>
            <a:endParaRPr lang="en-US" altLang="zh-CN" sz="28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42720" y="1050925"/>
            <a:ext cx="8420100" cy="45751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04795" y="188595"/>
            <a:ext cx="62401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/>
              <a:t>epoll</a:t>
            </a:r>
            <a:r>
              <a:rPr lang="zh-CN" altLang="en-US" sz="4400" b="1"/>
              <a:t>的重要数据结构</a:t>
            </a:r>
            <a:endParaRPr lang="zh-CN" altLang="en-US" sz="4400" b="1"/>
          </a:p>
        </p:txBody>
      </p:sp>
      <p:sp>
        <p:nvSpPr>
          <p:cNvPr id="4" name="文本框 3"/>
          <p:cNvSpPr txBox="1"/>
          <p:nvPr/>
        </p:nvSpPr>
        <p:spPr>
          <a:xfrm>
            <a:off x="2576195" y="581215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rgbClr val="FF0000"/>
                </a:solidFill>
              </a:rPr>
              <a:t>红黑树</a:t>
            </a:r>
            <a:r>
              <a:rPr lang="en-US" altLang="zh-CN" sz="3600" b="1">
                <a:solidFill>
                  <a:srgbClr val="FF0000"/>
                </a:solidFill>
              </a:rPr>
              <a:t>  + </a:t>
            </a:r>
            <a:r>
              <a:rPr lang="zh-CN" altLang="en-US" sz="3600" b="1">
                <a:solidFill>
                  <a:srgbClr val="FF0000"/>
                </a:solidFill>
              </a:rPr>
              <a:t>就绪链表</a:t>
            </a:r>
            <a:endParaRPr lang="zh-CN" altLang="en-US" sz="36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1770380" y="1840865"/>
            <a:ext cx="1931035" cy="776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885690" y="1840865"/>
            <a:ext cx="1931035" cy="776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001635" y="1840865"/>
            <a:ext cx="1931035" cy="776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3671570" y="1980565"/>
            <a:ext cx="1254125" cy="1968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6876415" y="2010410"/>
            <a:ext cx="1154430" cy="1016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6836410" y="2358390"/>
            <a:ext cx="1115060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3736340" y="2348230"/>
            <a:ext cx="1115060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208530" y="2089785"/>
            <a:ext cx="99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(1</a:t>
            </a:r>
            <a:r>
              <a:rPr lang="zh-CN" altLang="en-US"/>
              <a:t>，</a:t>
            </a:r>
            <a:r>
              <a:rPr lang="en-US" altLang="zh-CN"/>
              <a:t> 10)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8300085" y="2089785"/>
            <a:ext cx="99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(2</a:t>
            </a:r>
            <a:r>
              <a:rPr lang="zh-CN" altLang="en-US"/>
              <a:t>，</a:t>
            </a:r>
            <a:r>
              <a:rPr lang="en-US" altLang="zh-CN"/>
              <a:t> 20)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5284470" y="2089785"/>
            <a:ext cx="99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(3</a:t>
            </a:r>
            <a:r>
              <a:rPr lang="zh-CN" altLang="en-US"/>
              <a:t>，</a:t>
            </a:r>
            <a:r>
              <a:rPr lang="en-US" altLang="zh-CN"/>
              <a:t> 30)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5175" y="3543300"/>
            <a:ext cx="10838815" cy="2368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struct CacheNode</a:t>
            </a:r>
            <a:endParaRPr lang="en-US" altLang="zh-CN"/>
          </a:p>
          <a:p>
            <a:r>
              <a:rPr lang="en-US" altLang="zh-CN"/>
              <a:t>{</a:t>
            </a:r>
            <a:endParaRPr lang="en-US" altLang="zh-CN"/>
          </a:p>
          <a:p>
            <a:pPr indent="457200"/>
            <a:r>
              <a:rPr lang="en-US" altLang="zh-CN"/>
              <a:t>int key;</a:t>
            </a:r>
            <a:endParaRPr lang="en-US" altLang="zh-CN"/>
          </a:p>
          <a:p>
            <a:r>
              <a:rPr lang="en-US" altLang="zh-CN"/>
              <a:t>        int value;</a:t>
            </a:r>
            <a:endParaRPr lang="en-US" altLang="zh-CN"/>
          </a:p>
          <a:p>
            <a:r>
              <a:rPr lang="en-US" altLang="zh-CN"/>
              <a:t>   };</a:t>
            </a:r>
            <a:endParaRPr lang="en-US" altLang="zh-CN"/>
          </a:p>
          <a:p>
            <a:endParaRPr lang="en-US" altLang="zh-CN"/>
          </a:p>
          <a:p>
            <a:r>
              <a:rPr lang="zh-CN" altLang="en-US" sz="2000" b="1">
                <a:solidFill>
                  <a:srgbClr val="FF0000"/>
                </a:solidFill>
              </a:rPr>
              <a:t>list&lt;CacheNode&gt; _nodes;</a:t>
            </a:r>
            <a:r>
              <a:rPr lang="en-US" altLang="zh-CN" sz="2000" b="1">
                <a:solidFill>
                  <a:srgbClr val="FF0000"/>
                </a:solidFill>
              </a:rPr>
              <a:t>   </a:t>
            </a:r>
            <a:r>
              <a:rPr lang="zh-CN" altLang="en-US" sz="2000" b="1">
                <a:solidFill>
                  <a:srgbClr val="FF0000"/>
                </a:solidFill>
              </a:rPr>
              <a:t>//节点放在list链表之中</a:t>
            </a:r>
            <a:endParaRPr lang="zh-CN" altLang="en-US" sz="2000" b="1">
              <a:solidFill>
                <a:srgbClr val="FF0000"/>
              </a:solidFill>
            </a:endParaRPr>
          </a:p>
          <a:p>
            <a:r>
              <a:rPr lang="zh-CN" altLang="en-US" sz="2000" b="1">
                <a:solidFill>
                  <a:srgbClr val="FF0000"/>
                </a:solidFill>
              </a:rPr>
              <a:t>unordered_map&lt;int, list&lt;CacheNode&gt;::iterator&gt; _cache;//存储key值以及在链表中的位置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52800" y="397510"/>
            <a:ext cx="4588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LRU</a:t>
            </a:r>
            <a:r>
              <a:rPr lang="zh-CN" altLang="en-US" sz="3600" b="1"/>
              <a:t>实现原理图</a:t>
            </a:r>
            <a:endParaRPr lang="zh-CN" altLang="en-US" sz="36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ABLE_ENDDRAG_ORIGIN_RECT" val="772*33"/>
  <p:tag name="TABLE_ENDDRAG_RECT" val="89*99*772*33"/>
</p:tagLst>
</file>

<file path=ppt/tags/tag3.xml><?xml version="1.0" encoding="utf-8"?>
<p:tagLst xmlns:p="http://schemas.openxmlformats.org/presentationml/2006/main">
  <p:tag name="TABLE_ENDDRAG_ORIGIN_RECT" val="772*33"/>
  <p:tag name="TABLE_ENDDRAG_RECT" val="89*99*772*33"/>
</p:tagLst>
</file>

<file path=ppt/tags/tag4.xml><?xml version="1.0" encoding="utf-8"?>
<p:tagLst xmlns:p="http://schemas.openxmlformats.org/presentationml/2006/main">
  <p:tag name="KSO_WM_BEAUTIFY_FLAG" val=""/>
  <p:tag name="KSO_WM_UNIT_PLACING_PICTURE_USER_VIEWPORT" val="{&quot;height&quot;:6190,&quot;width&quot;:10990}"/>
</p:tagLst>
</file>

<file path=ppt/tags/tag5.xml><?xml version="1.0" encoding="utf-8"?>
<p:tagLst xmlns:p="http://schemas.openxmlformats.org/presentationml/2006/main">
  <p:tag name="KSO_WPP_MARK_KEY" val="4728ba35-8cc1-4bb3-8421-3c62c26d4259"/>
  <p:tag name="COMMONDATA" val="eyJoZGlkIjoiMGRlMjEyNWVmZjNjZDU2ZTQ2N2U1NGY0MWQ2ODFhZT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WPS 演示</Application>
  <PresentationFormat>宽屏</PresentationFormat>
  <Paragraphs>108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线程相关</vt:lpstr>
      <vt:lpstr>PowerPoint 演示文稿</vt:lpstr>
      <vt:lpstr>PowerPoint 演示文稿</vt:lpstr>
      <vt:lpstr>PowerPoint 演示文稿</vt:lpstr>
      <vt:lpstr>PowerPoint 演示文稿</vt:lpstr>
      <vt:lpstr>              生产者消费者模型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boldness</cp:lastModifiedBy>
  <cp:revision>52</cp:revision>
  <dcterms:created xsi:type="dcterms:W3CDTF">2022-01-19T09:28:00Z</dcterms:created>
  <dcterms:modified xsi:type="dcterms:W3CDTF">2023-05-17T14:56:36Z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E94C573708CF4506A767A843568DC72A</vt:lpwstr>
  </property>
  <property fmtid="{D5CDD505-2E9C-101B-9397-08002B2CF9AE}" pid="3" name="KSOProductBuildVer">
    <vt:lpwstr>2052-11.1.0.14309</vt:lpwstr>
  </property>
</Properties>
</file>