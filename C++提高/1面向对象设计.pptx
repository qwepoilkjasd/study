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1"/>
  </p:notesMasterIdLst>
  <p:sldIdLst>
    <p:sldId id="289" r:id="rId3"/>
    <p:sldId id="290" r:id="rId4"/>
    <p:sldId id="291" r:id="rId5"/>
    <p:sldId id="342" r:id="rId6"/>
    <p:sldId id="268" r:id="rId7"/>
    <p:sldId id="292" r:id="rId8"/>
    <p:sldId id="343" r:id="rId9"/>
    <p:sldId id="344" r:id="rId10"/>
    <p:sldId id="321" r:id="rId11"/>
    <p:sldId id="345" r:id="rId12"/>
    <p:sldId id="316" r:id="rId13"/>
    <p:sldId id="317" r:id="rId14"/>
    <p:sldId id="318" r:id="rId15"/>
    <p:sldId id="346" r:id="rId16"/>
    <p:sldId id="347" r:id="rId17"/>
    <p:sldId id="322" r:id="rId18"/>
    <p:sldId id="319" r:id="rId19"/>
    <p:sldId id="320" r:id="rId20"/>
    <p:sldId id="323" r:id="rId21"/>
    <p:sldId id="348" r:id="rId22"/>
    <p:sldId id="349" r:id="rId23"/>
    <p:sldId id="350" r:id="rId24"/>
    <p:sldId id="353" r:id="rId25"/>
    <p:sldId id="435" r:id="rId26"/>
    <p:sldId id="351" r:id="rId27"/>
    <p:sldId id="352" r:id="rId28"/>
    <p:sldId id="408" r:id="rId29"/>
    <p:sldId id="354" r:id="rId30"/>
    <p:sldId id="355" r:id="rId31"/>
    <p:sldId id="356" r:id="rId32"/>
    <p:sldId id="357" r:id="rId33"/>
    <p:sldId id="385" r:id="rId34"/>
    <p:sldId id="386" r:id="rId35"/>
    <p:sldId id="359" r:id="rId36"/>
    <p:sldId id="387" r:id="rId37"/>
    <p:sldId id="406" r:id="rId38"/>
    <p:sldId id="331" r:id="rId39"/>
    <p:sldId id="604" r:id="rId40"/>
    <p:sldId id="324" r:id="rId41"/>
    <p:sldId id="325" r:id="rId42"/>
    <p:sldId id="326" r:id="rId43"/>
    <p:sldId id="360" r:id="rId44"/>
    <p:sldId id="361" r:id="rId45"/>
    <p:sldId id="362" r:id="rId46"/>
    <p:sldId id="484" r:id="rId47"/>
    <p:sldId id="332" r:id="rId48"/>
    <p:sldId id="502" r:id="rId49"/>
    <p:sldId id="558" r:id="rId50"/>
    <p:sldId id="580" r:id="rId51"/>
    <p:sldId id="639" r:id="rId52"/>
    <p:sldId id="521" r:id="rId53"/>
    <p:sldId id="503" r:id="rId54"/>
    <p:sldId id="559" r:id="rId55"/>
    <p:sldId id="581" r:id="rId56"/>
    <p:sldId id="582" r:id="rId57"/>
    <p:sldId id="540" r:id="rId58"/>
    <p:sldId id="504" r:id="rId59"/>
    <p:sldId id="336" r:id="rId60"/>
  </p:sldIdLst>
  <p:sldSz cx="12192000" cy="6858000"/>
  <p:notesSz cx="6858000" cy="9144000"/>
  <p:custDataLst>
    <p:tags r:id="rId6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518C"/>
    <a:srgbClr val="314F86"/>
    <a:srgbClr val="2E4978"/>
    <a:srgbClr val="3F63A1"/>
    <a:srgbClr val="D0D3DB"/>
    <a:srgbClr val="283F67"/>
    <a:srgbClr val="4B4E99"/>
    <a:srgbClr val="3C3F8E"/>
    <a:srgbClr val="173AA1"/>
    <a:srgbClr val="571D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/>
    <p:restoredTop sz="94666"/>
  </p:normalViewPr>
  <p:slideViewPr>
    <p:cSldViewPr snapToGrid="0" snapToObjects="1">
      <p:cViewPr varScale="1">
        <p:scale>
          <a:sx n="81" d="100"/>
          <a:sy n="81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5" Type="http://schemas.openxmlformats.org/officeDocument/2006/relationships/tags" Target="tags/tag3.xml"/><Relationship Id="rId64" Type="http://schemas.openxmlformats.org/officeDocument/2006/relationships/tableStyles" Target="tableStyles.xml"/><Relationship Id="rId63" Type="http://schemas.openxmlformats.org/officeDocument/2006/relationships/viewProps" Target="viewProps.xml"/><Relationship Id="rId62" Type="http://schemas.openxmlformats.org/officeDocument/2006/relationships/presProps" Target="presProps.xml"/><Relationship Id="rId61" Type="http://schemas.openxmlformats.org/officeDocument/2006/relationships/notesMaster" Target="notesMasters/notesMaster1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副本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8900" y="90805"/>
            <a:ext cx="1682115" cy="4413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tags" Target="../tags/tag1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image" Target="../media/image16.png"/><Relationship Id="rId2" Type="http://schemas.openxmlformats.org/officeDocument/2006/relationships/tags" Target="../tags/tag2.xml"/><Relationship Id="rId1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jpe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1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1" Type="http://schemas.openxmlformats.org/officeDocument/2006/relationships/image" Target="../media/image55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5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9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936365" y="1988185"/>
            <a:ext cx="4318635" cy="110680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131945" y="5213350"/>
            <a:ext cx="3935730" cy="398780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dirty="0">
                <a:ln>
                  <a:noFill/>
                </a:ln>
                <a:solidFill>
                  <a:srgbClr val="3C3F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王道</a:t>
            </a:r>
            <a:r>
              <a:rPr kumimoji="1" lang="en-US" altLang="zh-CN" sz="2000" dirty="0">
                <a:ln>
                  <a:noFill/>
                </a:ln>
                <a:solidFill>
                  <a:srgbClr val="3C3F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kumimoji="1" lang="zh-CN" altLang="en-US" sz="2000" dirty="0">
                <a:ln>
                  <a:noFill/>
                </a:ln>
                <a:solidFill>
                  <a:srgbClr val="3C3F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endParaRPr kumimoji="1" lang="zh-CN" altLang="en-US" sz="2000" dirty="0">
              <a:ln>
                <a:noFill/>
              </a:ln>
              <a:solidFill>
                <a:srgbClr val="3C3F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31728" y="2080093"/>
            <a:ext cx="3928533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4800" b="1" dirty="0">
                <a:solidFill>
                  <a:schemeClr val="bg1"/>
                </a:solidFill>
                <a:latin typeface="Lantinghei SC Heavy" panose="02000000000000000000" charset="-122"/>
                <a:ea typeface="Lantinghei SC Heavy" panose="02000000000000000000" charset="-122"/>
              </a:rPr>
              <a:t>面向对象设计</a:t>
            </a:r>
            <a:endParaRPr kumimoji="1" lang="zh-CN" altLang="en-US" sz="4800" b="1" dirty="0">
              <a:solidFill>
                <a:schemeClr val="bg1"/>
              </a:solidFill>
              <a:latin typeface="Lantinghei SC Heavy" panose="02000000000000000000" charset="-122"/>
              <a:ea typeface="Lantinghei SC Heavy" panose="02000000000000000000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3387725" y="3720465"/>
            <a:ext cx="5416550" cy="0"/>
          </a:xfrm>
          <a:prstGeom prst="line">
            <a:avLst/>
          </a:prstGeom>
          <a:ln w="38100">
            <a:solidFill>
              <a:srgbClr val="3F63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/>
          <p:cNvSpPr/>
          <p:nvPr/>
        </p:nvSpPr>
        <p:spPr>
          <a:xfrm>
            <a:off x="3536315" y="3996690"/>
            <a:ext cx="502920" cy="502920"/>
          </a:xfrm>
          <a:prstGeom prst="ellipse">
            <a:avLst/>
          </a:prstGeom>
          <a:noFill/>
          <a:ln>
            <a:solidFill>
              <a:srgbClr val="3F63A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直角三角形 4"/>
          <p:cNvSpPr/>
          <p:nvPr/>
        </p:nvSpPr>
        <p:spPr>
          <a:xfrm flipH="1">
            <a:off x="4235450" y="4022090"/>
            <a:ext cx="1016635" cy="464185"/>
          </a:xfrm>
          <a:prstGeom prst="rtTriangle">
            <a:avLst/>
          </a:prstGeom>
          <a:solidFill>
            <a:srgbClr val="3F63A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712460" y="4022090"/>
            <a:ext cx="2068195" cy="464185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3F63A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195310" y="4022090"/>
            <a:ext cx="464185" cy="464185"/>
          </a:xfrm>
          <a:prstGeom prst="rect">
            <a:avLst/>
          </a:prstGeom>
          <a:solidFill>
            <a:srgbClr val="3F63A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128770" y="5701665"/>
            <a:ext cx="3935730" cy="398780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p>
            <a:pPr algn="ctr"/>
            <a:r>
              <a:rPr kumimoji="1" lang="en-US" altLang="zh-CN" sz="2000" dirty="0">
                <a:ln>
                  <a:noFill/>
                </a:ln>
                <a:solidFill>
                  <a:srgbClr val="3C3F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</a:t>
            </a:r>
            <a:r>
              <a:rPr kumimoji="1" lang="zh-CN" altLang="en-US" sz="2000" dirty="0">
                <a:ln>
                  <a:noFill/>
                </a:ln>
                <a:solidFill>
                  <a:srgbClr val="3C3F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endParaRPr kumimoji="1" lang="zh-CN" altLang="en-US" sz="2000" dirty="0">
              <a:ln>
                <a:noFill/>
              </a:ln>
              <a:solidFill>
                <a:srgbClr val="3C3F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07390" y="612775"/>
            <a:ext cx="3484880" cy="581215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66850" y="2682875"/>
            <a:ext cx="1965960" cy="1014730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6000" b="1" dirty="0">
                <a:solidFill>
                  <a:schemeClr val="bg1"/>
                </a:solidFill>
                <a:latin typeface="Lantinghei SC Heavy" panose="02000000000000000000" charset="-122"/>
                <a:ea typeface="Lantinghei SC Heavy" panose="02000000000000000000" charset="-122"/>
              </a:rPr>
              <a:t>目录</a:t>
            </a:r>
            <a:endParaRPr kumimoji="1" lang="zh-CN" altLang="en-US" sz="6000" b="1" dirty="0">
              <a:solidFill>
                <a:schemeClr val="bg1"/>
              </a:solidFill>
              <a:latin typeface="Lantinghei SC Heavy" panose="02000000000000000000" charset="-122"/>
              <a:ea typeface="Lantinghei SC Heavy" panose="020000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16025" y="1243364"/>
            <a:ext cx="558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2800" b="1" dirty="0">
                <a:solidFill>
                  <a:srgbClr val="3F63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1" lang="en-US" altLang="zh-CN" sz="2800" b="1" dirty="0">
              <a:solidFill>
                <a:srgbClr val="3F63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488085" y="2887990"/>
            <a:ext cx="558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2800" b="1" dirty="0">
                <a:solidFill>
                  <a:srgbClr val="3F63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1" lang="en-US" altLang="zh-CN" sz="2800" b="1" dirty="0">
              <a:solidFill>
                <a:srgbClr val="3F63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436360" y="1273810"/>
            <a:ext cx="45046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为什么要面向对象设计？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436142" y="2060203"/>
            <a:ext cx="3098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UML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436142" y="2918432"/>
            <a:ext cx="3098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类与类之间的关系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436360" y="3611880"/>
            <a:ext cx="5120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面向对象设计原则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436358" y="4454900"/>
            <a:ext cx="3098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设计模式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436358" y="5279652"/>
            <a:ext cx="3098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举例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76020" y="3697605"/>
            <a:ext cx="2547620" cy="58356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p>
            <a:pPr algn="dist"/>
            <a:r>
              <a:rPr kumimoji="1" lang="en-US" altLang="zh-CN" sz="3200" dirty="0">
                <a:solidFill>
                  <a:schemeClr val="bg1"/>
                </a:solidFill>
                <a:latin typeface="Hiragino Sans GB W3" panose="020B0300000000000000" charset="-122"/>
                <a:ea typeface="Hiragino Sans GB W3" panose="020B0300000000000000" charset="-122"/>
              </a:rPr>
              <a:t>CONTENTS</a:t>
            </a:r>
            <a:endParaRPr kumimoji="1" lang="en-US" altLang="zh-CN" sz="3200" dirty="0">
              <a:solidFill>
                <a:schemeClr val="bg1"/>
              </a:solidFill>
              <a:latin typeface="Hiragino Sans GB W3" panose="020B0300000000000000" charset="-122"/>
              <a:ea typeface="Hiragino Sans GB W3" panose="020B0300000000000000" charset="-122"/>
            </a:endParaRPr>
          </a:p>
        </p:txBody>
      </p:sp>
      <p:sp>
        <p:nvSpPr>
          <p:cNvPr id="4" name="矩形 3"/>
          <p:cNvSpPr/>
          <p:nvPr/>
        </p:nvSpPr>
        <p:spPr>
          <a:xfrm rot="1500000">
            <a:off x="3020695" y="419100"/>
            <a:ext cx="191135" cy="137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3021965" y="443230"/>
            <a:ext cx="701675" cy="15913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988695" y="5240020"/>
            <a:ext cx="701675" cy="15913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5544185" y="1233170"/>
            <a:ext cx="502920" cy="50292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直角三角形 9"/>
          <p:cNvSpPr/>
          <p:nvPr/>
        </p:nvSpPr>
        <p:spPr>
          <a:xfrm flipH="1">
            <a:off x="5058410" y="2057400"/>
            <a:ext cx="1016635" cy="464185"/>
          </a:xfrm>
          <a:prstGeom prst="rtTriangle">
            <a:avLst/>
          </a:prstGeom>
          <a:solidFill>
            <a:srgbClr val="3F63A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152390" y="2887345"/>
            <a:ext cx="962660" cy="464185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3C3F8E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563870" y="3601720"/>
            <a:ext cx="464185" cy="464185"/>
          </a:xfrm>
          <a:prstGeom prst="rect">
            <a:avLst/>
          </a:prstGeom>
          <a:solidFill>
            <a:srgbClr val="3151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516025" y="2107905"/>
            <a:ext cx="558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1"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499515" y="3602036"/>
            <a:ext cx="558802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3F63A1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kumimoji="1"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511580" y="4465354"/>
            <a:ext cx="55880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kumimoji="1" lang="en-US" altLang="zh-CN" sz="2800" b="1" dirty="0">
                <a:solidFill>
                  <a:srgbClr val="3F63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kumimoji="1" lang="en-US" altLang="zh-CN" sz="2800" b="1" dirty="0">
              <a:solidFill>
                <a:srgbClr val="3F63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5539740" y="4455160"/>
            <a:ext cx="502920" cy="50292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直角三角形 30"/>
          <p:cNvSpPr/>
          <p:nvPr/>
        </p:nvSpPr>
        <p:spPr>
          <a:xfrm flipH="1">
            <a:off x="5053965" y="5279390"/>
            <a:ext cx="1016635" cy="464185"/>
          </a:xfrm>
          <a:prstGeom prst="rtTriangle">
            <a:avLst/>
          </a:prstGeom>
          <a:solidFill>
            <a:srgbClr val="3F63A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5511580" y="5329895"/>
            <a:ext cx="55880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kumimoji="1"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kumimoji="1"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6475" y="1414780"/>
            <a:ext cx="7639685" cy="40284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605405" y="3154045"/>
            <a:ext cx="69818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48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为什么要面向对象设计</a:t>
            </a:r>
            <a:endParaRPr kumimoji="1" lang="zh-CN" altLang="en-US" sz="4800" b="1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994910" y="2778760"/>
            <a:ext cx="22021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159375" y="1948815"/>
            <a:ext cx="18738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kumimoji="1" lang="en-US" altLang="zh-CN" sz="4800" b="1" spc="-150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ONE</a:t>
            </a:r>
            <a:endParaRPr kumimoji="1" lang="en-US" altLang="zh-CN" sz="4800" b="1" spc="-150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grpSp>
        <p:nvGrpSpPr>
          <p:cNvPr id="6" name="组 5"/>
          <p:cNvGrpSpPr/>
          <p:nvPr/>
        </p:nvGrpSpPr>
        <p:grpSpPr>
          <a:xfrm>
            <a:off x="5504391" y="1360516"/>
            <a:ext cx="645948" cy="645948"/>
            <a:chOff x="5504391" y="2084416"/>
            <a:chExt cx="645948" cy="645948"/>
          </a:xfrm>
        </p:grpSpPr>
        <p:sp>
          <p:nvSpPr>
            <p:cNvPr id="7" name="八角星 6"/>
            <p:cNvSpPr/>
            <p:nvPr/>
          </p:nvSpPr>
          <p:spPr>
            <a:xfrm>
              <a:off x="5504391" y="2084416"/>
              <a:ext cx="645948" cy="645948"/>
            </a:xfrm>
            <a:prstGeom prst="star8">
              <a:avLst/>
            </a:prstGeom>
            <a:solidFill>
              <a:srgbClr val="68C39F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613204" y="2222724"/>
              <a:ext cx="470000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r>
                <a:rPr lang="en-US" b="1">
                  <a:solidFill>
                    <a:schemeClr val="bg1"/>
                  </a:solidFill>
                </a:rPr>
                <a:t>01</a:t>
              </a:r>
              <a:endParaRPr lang="zh-CN" b="1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组 9"/>
          <p:cNvGrpSpPr/>
          <p:nvPr/>
        </p:nvGrpSpPr>
        <p:grpSpPr>
          <a:xfrm>
            <a:off x="5509444" y="3068642"/>
            <a:ext cx="645948" cy="645948"/>
            <a:chOff x="5509444" y="3439945"/>
            <a:chExt cx="645948" cy="645948"/>
          </a:xfrm>
        </p:grpSpPr>
        <p:sp>
          <p:nvSpPr>
            <p:cNvPr id="11" name="八角星 10"/>
            <p:cNvSpPr/>
            <p:nvPr/>
          </p:nvSpPr>
          <p:spPr>
            <a:xfrm>
              <a:off x="5509444" y="3439945"/>
              <a:ext cx="645948" cy="645948"/>
            </a:xfrm>
            <a:prstGeom prst="star8">
              <a:avLst/>
            </a:prstGeom>
            <a:solidFill>
              <a:srgbClr val="68C39F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618257" y="3578253"/>
              <a:ext cx="470000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r>
                <a:rPr lang="en-US" b="1">
                  <a:solidFill>
                    <a:schemeClr val="bg1"/>
                  </a:solidFill>
                </a:rPr>
                <a:t>02</a:t>
              </a:r>
              <a:endParaRPr lang="zh-CN" b="1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组 12"/>
          <p:cNvGrpSpPr/>
          <p:nvPr/>
        </p:nvGrpSpPr>
        <p:grpSpPr>
          <a:xfrm>
            <a:off x="5510803" y="4776768"/>
            <a:ext cx="645948" cy="645948"/>
            <a:chOff x="5633676" y="5501924"/>
            <a:chExt cx="645948" cy="645948"/>
          </a:xfrm>
        </p:grpSpPr>
        <p:sp>
          <p:nvSpPr>
            <p:cNvPr id="14" name="八角星 13"/>
            <p:cNvSpPr/>
            <p:nvPr/>
          </p:nvSpPr>
          <p:spPr>
            <a:xfrm>
              <a:off x="5633676" y="5501924"/>
              <a:ext cx="645948" cy="645948"/>
            </a:xfrm>
            <a:prstGeom prst="star8">
              <a:avLst/>
            </a:prstGeom>
            <a:solidFill>
              <a:srgbClr val="68C39F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742489" y="5640232"/>
              <a:ext cx="470000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r>
                <a:rPr lang="en-US" b="1">
                  <a:solidFill>
                    <a:schemeClr val="bg1"/>
                  </a:solidFill>
                </a:rPr>
                <a:t>03</a:t>
              </a:r>
              <a:endParaRPr lang="zh-CN" b="1">
                <a:solidFill>
                  <a:schemeClr val="bg1"/>
                </a:solidFill>
              </a:endParaRPr>
            </a:p>
          </p:txBody>
        </p:sp>
      </p:grpSp>
      <p:sp>
        <p:nvSpPr>
          <p:cNvPr id="16" name="矩形 15"/>
          <p:cNvSpPr/>
          <p:nvPr/>
        </p:nvSpPr>
        <p:spPr>
          <a:xfrm>
            <a:off x="6259152" y="1294265"/>
            <a:ext cx="4995820" cy="64516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sz="2400" b="1" kern="100"/>
              <a:t>面向对象分析  </a:t>
            </a:r>
            <a:r>
              <a:rPr lang="en-US" altLang="zh-CN" sz="2400" b="1" kern="100"/>
              <a:t>--&gt; What</a:t>
            </a:r>
            <a:endParaRPr lang="zh-CN" altLang="en-US" sz="2400" b="1" kern="100"/>
          </a:p>
        </p:txBody>
      </p:sp>
      <p:sp>
        <p:nvSpPr>
          <p:cNvPr id="17" name="矩形 16"/>
          <p:cNvSpPr/>
          <p:nvPr/>
        </p:nvSpPr>
        <p:spPr>
          <a:xfrm>
            <a:off x="6259152" y="2005928"/>
            <a:ext cx="4995820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sz="1400" kern="100"/>
              <a:t>Object-Oriented Analysis</a:t>
            </a:r>
            <a:r>
              <a:rPr lang="zh-CN" sz="1400"/>
              <a:t>   分析业务，确定需求，找出对象</a:t>
            </a:r>
            <a:endParaRPr lang="zh-CN" sz="1400"/>
          </a:p>
        </p:txBody>
      </p:sp>
      <p:sp>
        <p:nvSpPr>
          <p:cNvPr id="18" name="矩形 17"/>
          <p:cNvSpPr/>
          <p:nvPr/>
        </p:nvSpPr>
        <p:spPr>
          <a:xfrm>
            <a:off x="6259152" y="3002391"/>
            <a:ext cx="4995820" cy="64516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sz="2400" b="1" kern="100"/>
              <a:t>面向对象设计 </a:t>
            </a:r>
            <a:r>
              <a:rPr lang="en-US" altLang="zh-CN" sz="2400" b="1" kern="100"/>
              <a:t>--&gt; How</a:t>
            </a:r>
            <a:endParaRPr lang="en-US" altLang="zh-CN" sz="2400" b="1" kern="100"/>
          </a:p>
        </p:txBody>
      </p:sp>
      <p:sp>
        <p:nvSpPr>
          <p:cNvPr id="20" name="矩形 19"/>
          <p:cNvSpPr/>
          <p:nvPr/>
        </p:nvSpPr>
        <p:spPr>
          <a:xfrm>
            <a:off x="6265564" y="4710517"/>
            <a:ext cx="4995820" cy="64516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sz="2400" b="1" kern="100"/>
              <a:t>面向对象编程 </a:t>
            </a:r>
            <a:r>
              <a:rPr lang="en-US" altLang="zh-CN" sz="2400" b="1" kern="100"/>
              <a:t>--&gt; Implementation</a:t>
            </a:r>
            <a:endParaRPr lang="zh-CN" altLang="en-US" sz="2400" b="1" kern="100"/>
          </a:p>
        </p:txBody>
      </p:sp>
      <p:sp>
        <p:nvSpPr>
          <p:cNvPr id="28" name="六边形 27"/>
          <p:cNvSpPr/>
          <p:nvPr/>
        </p:nvSpPr>
        <p:spPr>
          <a:xfrm>
            <a:off x="327833" y="4081421"/>
            <a:ext cx="967154" cy="833754"/>
          </a:xfrm>
          <a:prstGeom prst="hexagon">
            <a:avLst/>
          </a:prstGeom>
          <a:solidFill>
            <a:srgbClr val="EFC94C">
              <a:alpha val="72000"/>
            </a:srgbClr>
          </a:solidFill>
          <a:ln>
            <a:noFill/>
          </a:ln>
        </p:spPr>
        <p:txBody>
          <a:bodyPr anchor="ctr"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25" name="六边形 24"/>
          <p:cNvSpPr/>
          <p:nvPr/>
        </p:nvSpPr>
        <p:spPr>
          <a:xfrm>
            <a:off x="2801037" y="1060606"/>
            <a:ext cx="1765965" cy="1522384"/>
          </a:xfrm>
          <a:prstGeom prst="hexagon">
            <a:avLst/>
          </a:prstGeom>
          <a:solidFill>
            <a:srgbClr val="EB5055"/>
          </a:solidFill>
          <a:ln>
            <a:noFill/>
          </a:ln>
        </p:spPr>
        <p:txBody>
          <a:bodyPr anchor="ctr"/>
          <a:p>
            <a:pPr algn="ctr"/>
            <a:endParaRPr lang="zh-CN">
              <a:solidFill>
                <a:schemeClr val="lt1"/>
              </a:solidFill>
            </a:endParaRPr>
          </a:p>
        </p:txBody>
      </p:sp>
      <p:pic>
        <p:nvPicPr>
          <p:cNvPr id="29" name="图片 28"/>
          <p:cNvPicPr/>
          <p:nvPr/>
        </p:nvPicPr>
        <p:blipFill rotWithShape="1">
          <a:blip r:embed="rId1"/>
          <a:stretch>
            <a:fillRect/>
          </a:stretch>
        </p:blipFill>
        <p:spPr>
          <a:xfrm>
            <a:off x="811410" y="2143826"/>
            <a:ext cx="2907207" cy="1940715"/>
          </a:xfrm>
          <a:prstGeom prst="hexagon">
            <a:avLst/>
          </a:prstGeom>
        </p:spPr>
      </p:pic>
      <p:sp>
        <p:nvSpPr>
          <p:cNvPr id="26" name="六边形 25"/>
          <p:cNvSpPr/>
          <p:nvPr/>
        </p:nvSpPr>
        <p:spPr>
          <a:xfrm>
            <a:off x="2519912" y="4218338"/>
            <a:ext cx="1765965" cy="1522384"/>
          </a:xfrm>
          <a:prstGeom prst="hexagon">
            <a:avLst/>
          </a:prstGeom>
          <a:solidFill>
            <a:srgbClr val="043D5D"/>
          </a:solidFill>
          <a:ln>
            <a:noFill/>
          </a:ln>
        </p:spPr>
        <p:txBody>
          <a:bodyPr anchor="ctr"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259152" y="3804248"/>
            <a:ext cx="4995820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sz="1400" kern="100"/>
              <a:t>Object-Oriented </a:t>
            </a:r>
            <a:r>
              <a:rPr lang="en-US" altLang="zh-CN" sz="1400" kern="100"/>
              <a:t>Design</a:t>
            </a:r>
            <a:r>
              <a:rPr lang="zh-CN" sz="1400"/>
              <a:t>   </a:t>
            </a:r>
            <a:endParaRPr lang="zh-CN" sz="1400"/>
          </a:p>
        </p:txBody>
      </p:sp>
      <p:sp>
        <p:nvSpPr>
          <p:cNvPr id="8" name="矩形 7"/>
          <p:cNvSpPr/>
          <p:nvPr/>
        </p:nvSpPr>
        <p:spPr>
          <a:xfrm>
            <a:off x="6259152" y="5638128"/>
            <a:ext cx="4995820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sz="1400" kern="100"/>
              <a:t>Object-Oriented </a:t>
            </a:r>
            <a:r>
              <a:rPr lang="en-US" altLang="zh-CN" sz="1400" kern="100"/>
              <a:t>Program</a:t>
            </a:r>
            <a:r>
              <a:rPr lang="zh-CN" sz="1400"/>
              <a:t>   实现</a:t>
            </a:r>
            <a:endParaRPr lang="en-US" altLang="zh-CN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1506" name="内容占位符 2"/>
          <p:cNvSpPr>
            <a:spLocks noGrp="1"/>
          </p:cNvSpPr>
          <p:nvPr>
            <p:ph idx="1"/>
          </p:nvPr>
        </p:nvSpPr>
        <p:spPr>
          <a:xfrm>
            <a:off x="1098550" y="1894205"/>
            <a:ext cx="8568055" cy="4636770"/>
          </a:xfrm>
        </p:spPr>
        <p:txBody>
          <a:bodyPr wrap="square" anchor="t"/>
          <a:p>
            <a:pPr>
              <a:buFont typeface="Wingdings" panose="05000000000000000000" charset="0"/>
              <a:buChar char="l"/>
            </a:pPr>
            <a:r>
              <a:rPr lang="en-US" altLang="zh-CN" dirty="0"/>
              <a:t> 软件开发唯一的真理是“</a:t>
            </a:r>
            <a:r>
              <a:rPr lang="en-US" altLang="zh-CN" b="1" dirty="0">
                <a:solidFill>
                  <a:srgbClr val="FF0000"/>
                </a:solidFill>
              </a:rPr>
              <a:t>软件一定会变化</a:t>
            </a:r>
            <a:r>
              <a:rPr lang="en-US" altLang="zh-CN" dirty="0"/>
              <a:t>”</a:t>
            </a:r>
            <a:endParaRPr lang="en-US" altLang="zh-CN" dirty="0"/>
          </a:p>
          <a:p>
            <a:pPr>
              <a:buFont typeface="Wingdings" panose="05000000000000000000" charset="0"/>
              <a:buChar char="l"/>
            </a:pPr>
            <a:r>
              <a:rPr lang="en-US" altLang="zh-CN" dirty="0"/>
              <a:t> 设计敏捷</a:t>
            </a:r>
            <a:endParaRPr lang="en-US" altLang="zh-CN" dirty="0"/>
          </a:p>
          <a:p>
            <a:pPr lvl="2">
              <a:buFont typeface="Wingdings" panose="05000000000000000000" charset="0"/>
              <a:buChar char="l"/>
            </a:pPr>
            <a:r>
              <a:rPr lang="en-US" altLang="zh-CN" dirty="0"/>
              <a:t>一个设计敏捷的软件能轻松应对变化，能被扩展，并且能被复用。</a:t>
            </a:r>
            <a:endParaRPr lang="en-US" altLang="zh-CN" dirty="0"/>
          </a:p>
          <a:p>
            <a:pPr>
              <a:buFont typeface="Wingdings" panose="05000000000000000000" charset="0"/>
              <a:buChar char="l"/>
            </a:pPr>
            <a:r>
              <a:rPr lang="zh-CN" altLang="zh-CN" dirty="0"/>
              <a:t> 特点</a:t>
            </a:r>
            <a:endParaRPr lang="zh-CN" altLang="zh-CN" dirty="0"/>
          </a:p>
          <a:p>
            <a:pPr lvl="2">
              <a:buFont typeface="Wingdings" panose="05000000000000000000" charset="0"/>
              <a:buChar char="l"/>
            </a:pPr>
            <a:r>
              <a:rPr lang="en-US" altLang="zh-CN" dirty="0"/>
              <a:t>面向对象</a:t>
            </a:r>
            <a:endParaRPr lang="en-US" altLang="zh-CN" dirty="0"/>
          </a:p>
          <a:p>
            <a:pPr lvl="2">
              <a:buFont typeface="Wingdings" panose="05000000000000000000" charset="0"/>
              <a:buChar char="l"/>
            </a:pPr>
            <a:r>
              <a:rPr lang="en-US" altLang="zh-CN" dirty="0"/>
              <a:t>复用</a:t>
            </a:r>
            <a:endParaRPr lang="en-US" altLang="zh-CN" dirty="0"/>
          </a:p>
          <a:p>
            <a:pPr lvl="2">
              <a:buFont typeface="Wingdings" panose="05000000000000000000" charset="0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能以最小的代价满足变化</a:t>
            </a:r>
            <a:endParaRPr lang="en-US" altLang="zh-CN" dirty="0">
              <a:solidFill>
                <a:srgbClr val="FF0000"/>
              </a:solidFill>
            </a:endParaRPr>
          </a:p>
          <a:p>
            <a:pPr lvl="2">
              <a:buFont typeface="Wingdings" panose="05000000000000000000" charset="0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不用改变现有代码满足扩展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21505" name="标题 1"/>
          <p:cNvSpPr>
            <a:spLocks noGrp="1"/>
          </p:cNvSpPr>
          <p:nvPr>
            <p:ph type="title"/>
          </p:nvPr>
        </p:nvSpPr>
        <p:spPr>
          <a:xfrm>
            <a:off x="1468120" y="686435"/>
            <a:ext cx="8027035" cy="732155"/>
          </a:xfrm>
        </p:spPr>
        <p:txBody>
          <a:bodyPr anchor="ctr"/>
          <a:p>
            <a:r>
              <a:rPr lang="zh-CN" altLang="en-US"/>
              <a:t>为什么要面向对象设计</a:t>
            </a:r>
            <a:r>
              <a:rPr lang="en-US" altLang="zh-CN"/>
              <a:t>(OOD)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6475" y="1414780"/>
            <a:ext cx="7639685" cy="40284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4994910" y="2778760"/>
            <a:ext cx="22021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159375" y="1948815"/>
            <a:ext cx="18738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4800" b="1" spc="-150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TWO</a:t>
            </a:r>
            <a:endParaRPr kumimoji="1" lang="en-US" altLang="zh-CN" sz="4800" b="1" spc="-150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536315" y="3260090"/>
            <a:ext cx="51200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5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UML</a:t>
            </a:r>
            <a:r>
              <a:rPr kumimoji="1" lang="zh-CN" altLang="en-US" sz="5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语言</a:t>
            </a:r>
            <a:endParaRPr kumimoji="1" lang="zh-CN" altLang="en-US" sz="5400" b="1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802005" y="1410970"/>
            <a:ext cx="9869805" cy="4438015"/>
          </a:xfrm>
        </p:spPr>
        <p:txBody>
          <a:bodyPr wrap="square" anchor="t"/>
          <a:p>
            <a:pPr>
              <a:buFont typeface="Wingdings" panose="05000000000000000000" charset="0"/>
              <a:buChar char="l"/>
            </a:pPr>
            <a:r>
              <a:rPr lang="zh-CN" altLang="en-US" sz="2400" dirty="0"/>
              <a:t>软件工程 </a:t>
            </a:r>
            <a:endParaRPr lang="en-US" altLang="zh-CN" sz="2400" dirty="0"/>
          </a:p>
          <a:p>
            <a:pPr lvl="1">
              <a:buFont typeface="Wingdings" panose="05000000000000000000" charset="0"/>
              <a:buChar char="l"/>
            </a:pPr>
            <a:r>
              <a:rPr lang="zh-CN" altLang="en-US" sz="2000" dirty="0"/>
              <a:t>软件开发生命周期：分析、设计、编码、测试、运行和维护</a:t>
            </a:r>
            <a:endParaRPr lang="zh-CN" altLang="en-US" sz="2000" dirty="0"/>
          </a:p>
          <a:p>
            <a:pPr lvl="1">
              <a:buFont typeface="Wingdings" panose="05000000000000000000" charset="0"/>
              <a:buChar char="l"/>
            </a:pPr>
            <a:r>
              <a:rPr lang="zh-CN" altLang="en-US" sz="2000" dirty="0"/>
              <a:t>标准与规范 </a:t>
            </a:r>
            <a:r>
              <a:rPr lang="en-US" altLang="zh-CN" sz="2000" dirty="0"/>
              <a:t>-----</a:t>
            </a:r>
            <a:r>
              <a:rPr lang="zh-CN" altLang="en-US" sz="2000" dirty="0"/>
              <a:t>统一语言</a:t>
            </a:r>
            <a:endParaRPr lang="en-US" altLang="zh-CN" sz="2000" dirty="0"/>
          </a:p>
          <a:p>
            <a:pPr>
              <a:buFont typeface="Wingdings" panose="05000000000000000000" charset="0"/>
              <a:buChar char=""/>
            </a:pPr>
            <a:endParaRPr lang="en-US" altLang="zh-CN" dirty="0"/>
          </a:p>
          <a:p>
            <a:pPr>
              <a:buFont typeface="Wingdings" panose="05000000000000000000" charset="0"/>
              <a:buChar char="l"/>
            </a:pPr>
            <a:r>
              <a:rPr lang="en-US" altLang="zh-CN" sz="2400" dirty="0">
                <a:latin typeface="Courier New" panose="02070309020205020404" charset="0"/>
              </a:rPr>
              <a:t>Unifed Modeling Language(UML)</a:t>
            </a:r>
            <a:r>
              <a:rPr lang="zh-CN" altLang="en-US" sz="2400" dirty="0"/>
              <a:t>， 又称统一建模语言或标准建模语言，是始于</a:t>
            </a:r>
            <a:r>
              <a:rPr lang="en-US" altLang="zh-CN" sz="2400" dirty="0"/>
              <a:t>1997</a:t>
            </a:r>
            <a:r>
              <a:rPr lang="zh-CN" altLang="en-US" sz="2400" dirty="0"/>
              <a:t>年一个</a:t>
            </a:r>
            <a:r>
              <a:rPr lang="en-US" altLang="zh-CN" sz="2400" dirty="0">
                <a:latin typeface="Courier New" panose="02070309020205020404" charset="0"/>
              </a:rPr>
              <a:t>OMG</a:t>
            </a:r>
            <a:r>
              <a:rPr lang="zh-CN" altLang="en-US" sz="2400" dirty="0">
                <a:latin typeface="Courier New" panose="02070309020205020404" charset="0"/>
              </a:rPr>
              <a:t>(Object Management Group)</a:t>
            </a:r>
            <a:r>
              <a:rPr lang="zh-CN" altLang="en-US" sz="2400" dirty="0"/>
              <a:t>标准，它是一个模型化和软件系统开发的图形化语言。</a:t>
            </a:r>
            <a:endParaRPr lang="en-US" altLang="zh-CN" sz="2400" dirty="0"/>
          </a:p>
          <a:p>
            <a:pPr>
              <a:buFont typeface="Wingdings" panose="05000000000000000000" charset="0"/>
              <a:buChar char=""/>
            </a:pPr>
            <a:endParaRPr lang="en-US" altLang="zh-CN" dirty="0"/>
          </a:p>
          <a:p>
            <a:pPr>
              <a:buFont typeface="Wingdings" panose="05000000000000000000" charset="0"/>
              <a:buChar char="l"/>
            </a:pPr>
            <a:r>
              <a:rPr lang="en-US" altLang="zh-CN" sz="2400" dirty="0">
                <a:latin typeface="Courier New" panose="02070309020205020404" charset="0"/>
              </a:rPr>
              <a:t>UML</a:t>
            </a:r>
            <a:r>
              <a:rPr lang="zh-CN" altLang="en-US" sz="2400" dirty="0"/>
              <a:t>为软件开发提供了一些标准的图例</a:t>
            </a:r>
            <a:r>
              <a:rPr lang="en-US" altLang="zh-CN" sz="2400" dirty="0"/>
              <a:t>(10)</a:t>
            </a:r>
            <a:r>
              <a:rPr lang="zh-CN" altLang="en-US" sz="2400" dirty="0"/>
              <a:t>，统一开发思想，从而促进</a:t>
            </a:r>
            <a:r>
              <a:rPr lang="zh-CN" altLang="en-US" sz="2400" dirty="0">
                <a:solidFill>
                  <a:srgbClr val="FF0000"/>
                </a:solidFill>
              </a:rPr>
              <a:t>团队协作</a:t>
            </a:r>
            <a:endParaRPr lang="en-US" altLang="zh-CN" sz="2400" dirty="0">
              <a:solidFill>
                <a:srgbClr val="FF0000"/>
              </a:solidFill>
            </a:endParaRPr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2018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6625" name="内容占位符 2"/>
          <p:cNvSpPr>
            <a:spLocks noGrp="1"/>
          </p:cNvSpPr>
          <p:nvPr>
            <p:ph idx="1"/>
          </p:nvPr>
        </p:nvSpPr>
        <p:spPr>
          <a:xfrm>
            <a:off x="1265555" y="1038225"/>
            <a:ext cx="7108825" cy="5259070"/>
          </a:xfrm>
        </p:spPr>
        <p:txBody>
          <a:bodyPr wrap="square" anchor="t"/>
          <a:p>
            <a:pPr>
              <a:buFont typeface="Wingdings" panose="05000000000000000000" charset="0"/>
              <a:buChar char=""/>
            </a:pP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zh-CN" altLang="en-US" sz="2800" dirty="0">
                <a:solidFill>
                  <a:srgbClr val="FF0000"/>
                </a:solidFill>
              </a:rPr>
              <a:t>类图</a:t>
            </a:r>
            <a:r>
              <a:rPr lang="en-US" altLang="zh-CN" sz="2800" dirty="0">
                <a:solidFill>
                  <a:srgbClr val="FF0000"/>
                </a:solidFill>
              </a:rPr>
              <a:t>(class diagram)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 sz="2800" dirty="0"/>
              <a:t> 对象图</a:t>
            </a:r>
            <a:r>
              <a:rPr lang="en-US" altLang="zh-CN" sz="2800" dirty="0"/>
              <a:t>(object diagram)</a:t>
            </a:r>
            <a:endParaRPr lang="en-US" altLang="zh-CN" sz="2800" dirty="0"/>
          </a:p>
          <a:p>
            <a:pPr>
              <a:buFont typeface="Wingdings" panose="05000000000000000000" charset="0"/>
              <a:buChar char=""/>
            </a:pPr>
            <a:r>
              <a:rPr lang="zh-CN" altLang="en-US" sz="2800" dirty="0"/>
              <a:t> 用例图</a:t>
            </a:r>
            <a:r>
              <a:rPr lang="en-US" altLang="zh-CN" sz="2800" dirty="0"/>
              <a:t>(use case diagram)</a:t>
            </a:r>
            <a:endParaRPr lang="en-US" altLang="zh-CN" sz="2800" dirty="0"/>
          </a:p>
          <a:p>
            <a:pPr>
              <a:buFont typeface="Wingdings" panose="05000000000000000000" charset="0"/>
              <a:buChar char=""/>
            </a:pPr>
            <a:r>
              <a:rPr lang="zh-CN" altLang="en-US" sz="2800" dirty="0"/>
              <a:t> 组件图</a:t>
            </a:r>
            <a:r>
              <a:rPr lang="en-US" altLang="zh-CN" sz="2800" dirty="0"/>
              <a:t>(component diagram)</a:t>
            </a:r>
            <a:endParaRPr lang="en-US" altLang="zh-CN" sz="2800" dirty="0"/>
          </a:p>
          <a:p>
            <a:pPr>
              <a:buFont typeface="Wingdings" panose="05000000000000000000" charset="0"/>
              <a:buChar char=""/>
            </a:pPr>
            <a:r>
              <a:rPr lang="zh-CN" altLang="en-US" sz="2800" dirty="0"/>
              <a:t> 部署图</a:t>
            </a:r>
            <a:r>
              <a:rPr lang="en-US" altLang="zh-CN" sz="2800" dirty="0"/>
              <a:t>(deployment diagram)</a:t>
            </a:r>
            <a:endParaRPr lang="en-US" altLang="zh-CN" sz="2800" dirty="0"/>
          </a:p>
          <a:p>
            <a:pPr>
              <a:buFont typeface="Wingdings" panose="05000000000000000000" charset="0"/>
              <a:buChar char=""/>
            </a:pPr>
            <a:r>
              <a:rPr lang="zh-CN" altLang="en-US" sz="2800" dirty="0"/>
              <a:t> 组合结构图</a:t>
            </a:r>
            <a:r>
              <a:rPr lang="en-US" altLang="zh-CN" sz="2800" dirty="0"/>
              <a:t>(composite structure diagram)</a:t>
            </a:r>
            <a:endParaRPr lang="en-US" altLang="zh-CN" sz="2800" dirty="0"/>
          </a:p>
          <a:p>
            <a:pPr>
              <a:buFont typeface="Wingdings" panose="05000000000000000000" charset="0"/>
              <a:buChar char=""/>
            </a:pPr>
            <a:r>
              <a:rPr lang="zh-CN" altLang="en-US" sz="2800" dirty="0">
                <a:solidFill>
                  <a:srgbClr val="FF0000"/>
                </a:solidFill>
              </a:rPr>
              <a:t> 序列图</a:t>
            </a:r>
            <a:r>
              <a:rPr lang="en-US" altLang="zh-CN" sz="2800" dirty="0">
                <a:solidFill>
                  <a:srgbClr val="FF0000"/>
                </a:solidFill>
              </a:rPr>
              <a:t>(sequence diagram)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 sz="2800" dirty="0"/>
              <a:t> 协作图</a:t>
            </a:r>
            <a:r>
              <a:rPr lang="en-US" altLang="zh-CN" sz="2800" dirty="0"/>
              <a:t>(collaboration diagram)</a:t>
            </a:r>
            <a:endParaRPr lang="en-US" altLang="zh-CN" sz="2800" dirty="0"/>
          </a:p>
          <a:p>
            <a:pPr>
              <a:buFont typeface="Wingdings" panose="05000000000000000000" charset="0"/>
              <a:buChar char=""/>
            </a:pPr>
            <a:r>
              <a:rPr lang="zh-CN" altLang="en-US" sz="2800" dirty="0"/>
              <a:t> 状态图</a:t>
            </a:r>
            <a:r>
              <a:rPr lang="en-US" altLang="zh-CN" sz="2800" dirty="0"/>
              <a:t>(state diagram)</a:t>
            </a:r>
            <a:endParaRPr lang="en-US" altLang="zh-CN" sz="2800" dirty="0"/>
          </a:p>
          <a:p>
            <a:pPr>
              <a:buFont typeface="Wingdings" panose="05000000000000000000" charset="0"/>
              <a:buChar char=""/>
            </a:pPr>
            <a:r>
              <a:rPr lang="zh-CN" altLang="en-US" sz="2800" dirty="0"/>
              <a:t> 活动图</a:t>
            </a:r>
            <a:r>
              <a:rPr lang="en-US" altLang="zh-CN" sz="2800" dirty="0"/>
              <a:t>(activity diagram)</a:t>
            </a:r>
            <a:endParaRPr lang="zh-CN" altLang="en-US" sz="2800" dirty="0"/>
          </a:p>
        </p:txBody>
      </p:sp>
      <p:sp>
        <p:nvSpPr>
          <p:cNvPr id="26627" name="右大括号 4"/>
          <p:cNvSpPr/>
          <p:nvPr/>
        </p:nvSpPr>
        <p:spPr>
          <a:xfrm>
            <a:off x="8462963" y="1073150"/>
            <a:ext cx="214312" cy="2928938"/>
          </a:xfrm>
          <a:prstGeom prst="rightBrace">
            <a:avLst>
              <a:gd name="adj1" fmla="val 5694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t"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628" name="右大括号 5"/>
          <p:cNvSpPr/>
          <p:nvPr/>
        </p:nvSpPr>
        <p:spPr>
          <a:xfrm>
            <a:off x="8505825" y="4286250"/>
            <a:ext cx="142875" cy="1857375"/>
          </a:xfrm>
          <a:prstGeom prst="rightBrace">
            <a:avLst>
              <a:gd name="adj1" fmla="val 8125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t"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六边形 24"/>
          <p:cNvSpPr/>
          <p:nvPr/>
        </p:nvSpPr>
        <p:spPr>
          <a:xfrm>
            <a:off x="9136432" y="1776886"/>
            <a:ext cx="1765965" cy="1522384"/>
          </a:xfrm>
          <a:prstGeom prst="hexagon">
            <a:avLst/>
          </a:prstGeom>
          <a:solidFill>
            <a:srgbClr val="EB5055"/>
          </a:solidFill>
          <a:ln>
            <a:noFill/>
          </a:ln>
        </p:spPr>
        <p:txBody>
          <a:bodyPr anchor="ctr"/>
          <a:p>
            <a:pPr algn="ctr"/>
            <a:r>
              <a:rPr lang="zh-CN" sz="3600">
                <a:solidFill>
                  <a:schemeClr val="lt1"/>
                </a:solidFill>
              </a:rPr>
              <a:t>静态</a:t>
            </a:r>
            <a:endParaRPr lang="zh-CN" sz="3600">
              <a:solidFill>
                <a:schemeClr val="lt1"/>
              </a:solidFill>
            </a:endParaRPr>
          </a:p>
        </p:txBody>
      </p:sp>
      <p:sp>
        <p:nvSpPr>
          <p:cNvPr id="26" name="六边形 25"/>
          <p:cNvSpPr/>
          <p:nvPr/>
        </p:nvSpPr>
        <p:spPr>
          <a:xfrm>
            <a:off x="9136612" y="4453923"/>
            <a:ext cx="1765965" cy="1522384"/>
          </a:xfrm>
          <a:prstGeom prst="hexagon">
            <a:avLst/>
          </a:prstGeom>
          <a:solidFill>
            <a:srgbClr val="043D5D"/>
          </a:solidFill>
          <a:ln>
            <a:noFill/>
          </a:ln>
        </p:spPr>
        <p:txBody>
          <a:bodyPr anchor="ctr"/>
          <a:p>
            <a:pPr algn="ctr"/>
            <a:r>
              <a:rPr lang="zh-CN" sz="3600">
                <a:solidFill>
                  <a:schemeClr val="lt1"/>
                </a:solidFill>
              </a:rPr>
              <a:t>动态</a:t>
            </a:r>
            <a:endParaRPr lang="zh-CN"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6475" y="1414780"/>
            <a:ext cx="7639685" cy="40284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860290" y="1948815"/>
            <a:ext cx="24726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4800" b="1" spc="-150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THREE</a:t>
            </a:r>
            <a:endParaRPr kumimoji="1" lang="en-US" altLang="zh-CN" sz="4800" b="1" spc="-150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67125" y="3154045"/>
            <a:ext cx="485965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类与类之间的关系</a:t>
            </a:r>
            <a:endParaRPr kumimoji="1" lang="zh-CN" altLang="en-US" sz="4400" b="1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726940" y="2778760"/>
            <a:ext cx="2738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801" y="62653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9697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en-US" dirty="0"/>
              <a:t>类与类之间的关系</a:t>
            </a:r>
            <a:r>
              <a:rPr lang="en-US" altLang="zh-CN" dirty="0"/>
              <a:t>—</a:t>
            </a:r>
            <a:r>
              <a:rPr lang="zh-CN" altLang="en-US" dirty="0"/>
              <a:t>继承</a:t>
            </a:r>
            <a:r>
              <a:rPr lang="en-US" altLang="zh-CN" dirty="0"/>
              <a:t>(</a:t>
            </a:r>
            <a:r>
              <a:rPr lang="zh-CN" altLang="en-US" dirty="0"/>
              <a:t>泛化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0723" name="TextBox 6"/>
          <p:cNvSpPr txBox="1"/>
          <p:nvPr/>
        </p:nvSpPr>
        <p:spPr>
          <a:xfrm>
            <a:off x="1027430" y="2090420"/>
            <a:ext cx="5000625" cy="37846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基类部分成为派生类的一部分</a:t>
            </a:r>
            <a:endParaRPr lang="en-US" altLang="zh-CN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endParaRPr lang="en-US" altLang="zh-CN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在语义上：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 is B</a:t>
            </a:r>
            <a:endParaRPr lang="en-US" altLang="zh-CN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在代码上：继承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继承与泛化的区别，继承是基类向派生类方向，泛化是从派生类向基类方向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zh-CN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813560"/>
            <a:ext cx="3617595" cy="38080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2018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en-US" dirty="0"/>
              <a:t>类与类之间的关系</a:t>
            </a:r>
            <a:r>
              <a:rPr lang="en-US" altLang="zh-CN" dirty="0"/>
              <a:t>—</a:t>
            </a:r>
            <a:r>
              <a:rPr lang="zh-CN" altLang="en-US" dirty="0"/>
              <a:t>关联</a:t>
            </a:r>
            <a:endParaRPr lang="zh-CN" altLang="en-US" dirty="0"/>
          </a:p>
        </p:txBody>
      </p:sp>
      <p:sp>
        <p:nvSpPr>
          <p:cNvPr id="30723" name="TextBox 6"/>
          <p:cNvSpPr txBox="1"/>
          <p:nvPr/>
        </p:nvSpPr>
        <p:spPr>
          <a:xfrm>
            <a:off x="1486535" y="1510030"/>
            <a:ext cx="6927850" cy="32302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关联关系有两种形式：</a:t>
            </a:r>
            <a:endParaRPr lang="en-US" altLang="zh-CN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buFont typeface="Wingdings" panose="05000000000000000000" charset="0"/>
              <a:buChar char=""/>
            </a:pP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双向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的关联关系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buFont typeface="Wingdings" panose="05000000000000000000" charset="0"/>
              <a:buChar char=""/>
            </a:pP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单向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的关联关系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彼此并不负责对方的生命周期</a:t>
            </a:r>
            <a:endParaRPr lang="zh-CN" altLang="zh-CN" sz="24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Font typeface="Wingdings" panose="05000000000000000000" charset="0"/>
              <a:buChar char=""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在语义上：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A has 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关系是固定的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Font typeface="Wingdings" panose="05000000000000000000" charset="0"/>
              <a:buChar char=""/>
            </a:pPr>
            <a:endParaRPr lang="zh-CN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在代码上：一般使用</a:t>
            </a:r>
            <a:r>
              <a:rPr lang="zh-CN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指针或者引用</a:t>
            </a:r>
            <a:endParaRPr lang="zh-CN" altLang="zh-CN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9360" y="4972685"/>
            <a:ext cx="6962140" cy="11741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2018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31745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en-US" dirty="0"/>
              <a:t>类与类之间的关系</a:t>
            </a:r>
            <a:r>
              <a:rPr lang="en-US" altLang="zh-CN" dirty="0"/>
              <a:t>—</a:t>
            </a:r>
            <a:r>
              <a:rPr lang="zh-CN" altLang="en-US" dirty="0"/>
              <a:t>聚合</a:t>
            </a:r>
            <a:endParaRPr lang="zh-CN" altLang="en-US" dirty="0"/>
          </a:p>
        </p:txBody>
      </p:sp>
      <p:sp>
        <p:nvSpPr>
          <p:cNvPr id="31747" name="TextBox 6"/>
          <p:cNvSpPr txBox="1"/>
          <p:nvPr/>
        </p:nvSpPr>
        <p:spPr>
          <a:xfrm>
            <a:off x="838200" y="2341245"/>
            <a:ext cx="6806565" cy="34150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比较强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的一种关联关系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对象之间的关系表现为整体和局部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整体部分并不负责局部对象的销毁</a:t>
            </a:r>
            <a:endParaRPr lang="zh-CN" altLang="en-US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endParaRPr lang="zh-CN" altLang="en-US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在语义上：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 has B</a:t>
            </a:r>
            <a:endParaRPr lang="zh-CN" altLang="en-US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endParaRPr lang="zh-CN" altLang="en-US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在代码上：数据成员以指针或者引用形式存在</a:t>
            </a:r>
            <a:endParaRPr lang="zh-CN" altLang="en-US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1355" y="2062480"/>
            <a:ext cx="4504055" cy="31229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2780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32769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en-US" dirty="0"/>
              <a:t>类与类之间的关系</a:t>
            </a:r>
            <a:r>
              <a:rPr lang="en-US" altLang="zh-CN" dirty="0"/>
              <a:t>—</a:t>
            </a:r>
            <a:r>
              <a:rPr lang="zh-CN" altLang="en-US" dirty="0"/>
              <a:t>组合</a:t>
            </a:r>
            <a:endParaRPr lang="zh-CN" altLang="en-US" dirty="0"/>
          </a:p>
        </p:txBody>
      </p:sp>
      <p:sp>
        <p:nvSpPr>
          <p:cNvPr id="32770" name="TextBox 6"/>
          <p:cNvSpPr txBox="1"/>
          <p:nvPr/>
        </p:nvSpPr>
        <p:spPr>
          <a:xfrm>
            <a:off x="571500" y="2143125"/>
            <a:ext cx="6697980" cy="34150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更强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的一种关联关系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对象之间的关系表现为整体和局部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整体部分负责局部对象的销毁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 sz="2400" dirty="0">
                <a:latin typeface="Courier New" panose="02070309020205020404" charset="0"/>
                <a:ea typeface="宋体" panose="02010600030101010101" pitchFamily="2" charset="-122"/>
              </a:rPr>
              <a:t> 在语义上：</a:t>
            </a:r>
            <a:r>
              <a:rPr lang="en-US" altLang="zh-CN" sz="2400" dirty="0">
                <a:latin typeface="Courier New" panose="02070309020205020404" charset="0"/>
                <a:ea typeface="宋体" panose="02010600030101010101" pitchFamily="2" charset="-122"/>
              </a:rPr>
              <a:t>A has B</a:t>
            </a:r>
            <a:endParaRPr lang="en-US" altLang="zh-CN" sz="24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endParaRPr lang="en-US" altLang="zh-CN" sz="24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en-US" altLang="zh-CN" sz="2400" dirty="0"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Courier New" panose="02070309020205020404" charset="0"/>
                <a:ea typeface="宋体" panose="02010600030101010101" pitchFamily="2" charset="-122"/>
              </a:rPr>
              <a:t>在代码上：数据成员以子对象成员形式存在</a:t>
            </a:r>
            <a:endParaRPr lang="zh-CN" altLang="en-US" sz="2400" dirty="0"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0010" y="1819275"/>
            <a:ext cx="5380990" cy="32188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01769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33793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en-US" dirty="0"/>
              <a:t>类与类之间的关系</a:t>
            </a:r>
            <a:r>
              <a:rPr lang="en-US" altLang="zh-CN" dirty="0"/>
              <a:t>—</a:t>
            </a:r>
            <a:r>
              <a:rPr lang="zh-CN" altLang="en-US" dirty="0"/>
              <a:t>依赖</a:t>
            </a:r>
            <a:endParaRPr lang="zh-CN" altLang="en-US" dirty="0"/>
          </a:p>
        </p:txBody>
      </p:sp>
      <p:sp>
        <p:nvSpPr>
          <p:cNvPr id="33794" name="TextBox 6"/>
          <p:cNvSpPr txBox="1"/>
          <p:nvPr/>
        </p:nvSpPr>
        <p:spPr>
          <a:xfrm>
            <a:off x="1007745" y="1765935"/>
            <a:ext cx="901065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342900" indent="-342900">
              <a:buFont typeface="Wingdings" panose="05000000000000000000" charset="0"/>
              <a:buChar char="p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从语义上来说是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A use 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，是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偶然的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临时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的，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并非固定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charset="0"/>
              <a:buChar char="p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在代码上：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buFont typeface="Wingdings" panose="05000000000000000000" charset="0"/>
              <a:buChar char="p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B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作为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的成员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函数参数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buFont typeface="Wingdings" panose="05000000000000000000" charset="0"/>
              <a:buChar char="p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B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作为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的成员函数的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局部变量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作为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的成员函数返回值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buFont typeface="Wingdings" panose="05000000000000000000" charset="0"/>
              <a:buChar char="p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的成员函数调用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静态方法</a:t>
            </a:r>
            <a:endParaRPr lang="zh-CN" altLang="en-US" sz="20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3886835"/>
            <a:ext cx="5469255" cy="18262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0621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34818" name="内容占位符 2"/>
          <p:cNvSpPr>
            <a:spLocks noGrp="1"/>
          </p:cNvSpPr>
          <p:nvPr>
            <p:ph idx="1"/>
          </p:nvPr>
        </p:nvSpPr>
        <p:spPr>
          <a:xfrm>
            <a:off x="1017905" y="1468755"/>
            <a:ext cx="7827010" cy="4636770"/>
          </a:xfrm>
        </p:spPr>
        <p:txBody>
          <a:bodyPr wrap="square" anchor="t"/>
          <a:p>
            <a:pPr>
              <a:lnSpc>
                <a:spcPct val="90000"/>
              </a:lnSpc>
              <a:buFont typeface="Wingdings" panose="05000000000000000000" charset="0"/>
              <a:buChar char=""/>
            </a:pPr>
            <a:r>
              <a:rPr lang="en-US" altLang="zh-CN" dirty="0"/>
              <a:t> </a:t>
            </a:r>
            <a:r>
              <a:rPr lang="zh-CN" altLang="en-US" dirty="0"/>
              <a:t>继承体现的是类与类之间的</a:t>
            </a:r>
            <a:r>
              <a:rPr lang="zh-CN" altLang="en-US" dirty="0">
                <a:solidFill>
                  <a:srgbClr val="FF0000"/>
                </a:solidFill>
              </a:rPr>
              <a:t>纵向</a:t>
            </a:r>
            <a:r>
              <a:rPr lang="zh-CN" altLang="en-US" dirty="0"/>
              <a:t>关系</a:t>
            </a:r>
            <a:endParaRPr lang="en-US" altLang="zh-CN" dirty="0"/>
          </a:p>
          <a:p>
            <a:pPr>
              <a:lnSpc>
                <a:spcPct val="90000"/>
              </a:lnSpc>
              <a:buFont typeface="Wingdings" panose="05000000000000000000" charset="0"/>
              <a:buChar char=""/>
            </a:pPr>
            <a:r>
              <a:rPr lang="zh-CN" altLang="en-US" dirty="0"/>
              <a:t> 其他四种体现的是类与类之间的</a:t>
            </a:r>
            <a:r>
              <a:rPr lang="zh-CN" altLang="en-US" dirty="0">
                <a:solidFill>
                  <a:srgbClr val="FF0000"/>
                </a:solidFill>
              </a:rPr>
              <a:t>横向</a:t>
            </a:r>
            <a:r>
              <a:rPr lang="zh-CN" altLang="en-US" dirty="0"/>
              <a:t>关系</a:t>
            </a:r>
            <a:endParaRPr lang="en-US" altLang="zh-CN" dirty="0"/>
          </a:p>
          <a:p>
            <a:pPr>
              <a:lnSpc>
                <a:spcPct val="90000"/>
              </a:lnSpc>
              <a:buFont typeface="Wingdings" panose="05000000000000000000" charset="0"/>
              <a:buChar char=""/>
            </a:pPr>
            <a:r>
              <a:rPr lang="zh-CN" altLang="en-US" dirty="0"/>
              <a:t> 耦合强弱：</a:t>
            </a:r>
            <a:endParaRPr lang="en-US" altLang="zh-CN" dirty="0"/>
          </a:p>
          <a:p>
            <a:pPr marL="1905" lvl="1" indent="0">
              <a:lnSpc>
                <a:spcPct val="9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	</a:t>
            </a:r>
            <a:r>
              <a:rPr lang="zh-CN" altLang="en-US" dirty="0">
                <a:solidFill>
                  <a:srgbClr val="FF0000"/>
                </a:solidFill>
              </a:rPr>
              <a:t>依赖 </a:t>
            </a:r>
            <a:r>
              <a:rPr lang="en-US" altLang="zh-CN" dirty="0">
                <a:solidFill>
                  <a:srgbClr val="FF0000"/>
                </a:solidFill>
              </a:rPr>
              <a:t>&lt; </a:t>
            </a:r>
            <a:r>
              <a:rPr lang="zh-CN" altLang="en-US" dirty="0">
                <a:solidFill>
                  <a:srgbClr val="FF0000"/>
                </a:solidFill>
              </a:rPr>
              <a:t>关联 </a:t>
            </a:r>
            <a:r>
              <a:rPr lang="en-US" altLang="zh-CN" dirty="0">
                <a:solidFill>
                  <a:srgbClr val="FF0000"/>
                </a:solidFill>
              </a:rPr>
              <a:t>&lt; </a:t>
            </a:r>
            <a:r>
              <a:rPr lang="zh-CN" altLang="en-US" dirty="0">
                <a:solidFill>
                  <a:srgbClr val="FF0000"/>
                </a:solidFill>
              </a:rPr>
              <a:t>聚合 </a:t>
            </a:r>
            <a:r>
              <a:rPr lang="en-US" altLang="zh-CN" dirty="0">
                <a:solidFill>
                  <a:srgbClr val="FF0000"/>
                </a:solidFill>
              </a:rPr>
              <a:t>&lt; </a:t>
            </a:r>
            <a:r>
              <a:rPr lang="zh-CN" altLang="en-US" dirty="0">
                <a:solidFill>
                  <a:srgbClr val="FF0000"/>
                </a:solidFill>
              </a:rPr>
              <a:t>组合</a:t>
            </a:r>
            <a:r>
              <a:rPr lang="en-US" altLang="zh-CN" dirty="0">
                <a:solidFill>
                  <a:srgbClr val="FF0000"/>
                </a:solidFill>
              </a:rPr>
              <a:t> &lt; </a:t>
            </a:r>
            <a:r>
              <a:rPr lang="zh-CN" altLang="en-US" dirty="0">
                <a:solidFill>
                  <a:srgbClr val="FF0000"/>
                </a:solidFill>
              </a:rPr>
              <a:t>继承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Wingdings" panose="05000000000000000000" charset="0"/>
              <a:buChar char=""/>
            </a:pPr>
            <a:r>
              <a:rPr lang="zh-CN" altLang="en-US" dirty="0"/>
              <a:t> 从语义上来看</a:t>
            </a:r>
            <a:endParaRPr lang="en-US" altLang="zh-CN" dirty="0"/>
          </a:p>
          <a:p>
            <a:pPr marL="802005" lvl="2" indent="-342900">
              <a:lnSpc>
                <a:spcPct val="90000"/>
              </a:lnSpc>
              <a:buFont typeface="Wingdings" panose="05000000000000000000" charset="0"/>
              <a:buChar char="p"/>
            </a:pPr>
            <a:r>
              <a:rPr lang="zh-CN" altLang="en-US" dirty="0">
                <a:solidFill>
                  <a:srgbClr val="FF0000"/>
                </a:solidFill>
              </a:rPr>
              <a:t>继承</a:t>
            </a:r>
            <a:r>
              <a:rPr lang="en-US" altLang="zh-CN" dirty="0">
                <a:solidFill>
                  <a:srgbClr val="FF0000"/>
                </a:solidFill>
              </a:rPr>
              <a:t>(A is B)</a:t>
            </a:r>
            <a:endParaRPr lang="en-US" altLang="zh-CN" dirty="0">
              <a:solidFill>
                <a:srgbClr val="FF0000"/>
              </a:solidFill>
            </a:endParaRPr>
          </a:p>
          <a:p>
            <a:pPr marL="802005" lvl="2" indent="-342900">
              <a:lnSpc>
                <a:spcPct val="90000"/>
              </a:lnSpc>
              <a:buFont typeface="Wingdings" panose="05000000000000000000" charset="0"/>
              <a:buChar char="p"/>
            </a:pPr>
            <a:r>
              <a:rPr lang="zh-CN" altLang="en-US" dirty="0"/>
              <a:t>关联、聚合、组合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A has B</a:t>
            </a:r>
            <a:r>
              <a:rPr lang="en-US" altLang="zh-CN" dirty="0"/>
              <a:t>)</a:t>
            </a:r>
            <a:endParaRPr lang="en-US" altLang="zh-CN" dirty="0"/>
          </a:p>
          <a:p>
            <a:pPr marL="802005" lvl="2" indent="-342900">
              <a:lnSpc>
                <a:spcPct val="90000"/>
              </a:lnSpc>
              <a:buFont typeface="Wingdings" panose="05000000000000000000" charset="0"/>
              <a:buChar char="p"/>
            </a:pPr>
            <a:r>
              <a:rPr lang="zh-CN" altLang="en-US" dirty="0"/>
              <a:t>依赖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A use B</a:t>
            </a:r>
            <a:r>
              <a:rPr lang="en-US" altLang="zh-CN" dirty="0"/>
              <a:t>)</a:t>
            </a:r>
            <a:endParaRPr lang="en-US" altLang="zh-CN" dirty="0"/>
          </a:p>
          <a:p>
            <a:pPr>
              <a:lnSpc>
                <a:spcPct val="90000"/>
              </a:lnSpc>
              <a:buFont typeface="Wingdings" panose="05000000000000000000" charset="0"/>
              <a:buChar char=""/>
            </a:pPr>
            <a:r>
              <a:rPr lang="zh-CN" altLang="en-US" dirty="0"/>
              <a:t> 当组合与依赖结合时，可以替代继承</a:t>
            </a:r>
            <a:endParaRPr lang="en-US" altLang="zh-CN" dirty="0"/>
          </a:p>
          <a:p>
            <a:pPr marL="802005" lvl="2" indent="-342900">
              <a:lnSpc>
                <a:spcPct val="90000"/>
              </a:lnSpc>
              <a:buFont typeface="Wingdings" panose="05000000000000000000" charset="0"/>
              <a:buChar char="p"/>
            </a:pPr>
            <a:r>
              <a:rPr lang="zh-CN" altLang="en-US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组合+依赖（基于对象） </a:t>
            </a:r>
            <a:r>
              <a:rPr lang="zh-CN" altLang="en-US" dirty="0"/>
              <a:t>vs  </a:t>
            </a:r>
            <a:r>
              <a:rPr lang="zh-CN" altLang="en-US" dirty="0">
                <a:solidFill>
                  <a:srgbClr val="FF0000"/>
                </a:solidFill>
              </a:rPr>
              <a:t>继承</a:t>
            </a:r>
            <a:r>
              <a:rPr lang="en-US" altLang="zh-CN" dirty="0">
                <a:solidFill>
                  <a:srgbClr val="FF0000"/>
                </a:solidFill>
              </a:rPr>
              <a:t> + </a:t>
            </a:r>
            <a:r>
              <a:rPr lang="zh-CN" altLang="en-US" dirty="0">
                <a:solidFill>
                  <a:srgbClr val="FF0000"/>
                </a:solidFill>
              </a:rPr>
              <a:t>虚函数（面向对象）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4817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en-US" dirty="0"/>
              <a:t>各关系的比较和总结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6475" y="1414780"/>
            <a:ext cx="7639685" cy="40284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048250" y="1948815"/>
            <a:ext cx="20980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4800" b="1" spc="-150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FOUR</a:t>
            </a:r>
            <a:endParaRPr kumimoji="1" lang="en-US" altLang="zh-CN" sz="4800" b="1" spc="-150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24835" y="3194685"/>
            <a:ext cx="59423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5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面向对象设计原则</a:t>
            </a:r>
            <a:endParaRPr kumimoji="1" lang="zh-CN" altLang="en-US" sz="5400" b="1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726940" y="2778760"/>
            <a:ext cx="2738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801" y="500169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35842" name="内容占位符 2"/>
          <p:cNvSpPr>
            <a:spLocks noGrp="1"/>
          </p:cNvSpPr>
          <p:nvPr>
            <p:ph idx="1"/>
          </p:nvPr>
        </p:nvSpPr>
        <p:spPr>
          <a:xfrm>
            <a:off x="771525" y="1943100"/>
            <a:ext cx="10892155" cy="4174490"/>
          </a:xfrm>
        </p:spPr>
        <p:txBody>
          <a:bodyPr wrap="square" anchor="t"/>
          <a:p>
            <a:pPr>
              <a:buFont typeface="Wingdings" panose="05000000000000000000" charset="0"/>
              <a:buChar char=""/>
            </a:pPr>
            <a:r>
              <a:rPr lang="en-US" altLang="zh-CN" dirty="0"/>
              <a:t> 一个优良的系统设计，强调</a:t>
            </a:r>
            <a:r>
              <a:rPr lang="zh-CN" altLang="en-US" dirty="0"/>
              <a:t>要</a:t>
            </a:r>
            <a:r>
              <a:rPr lang="en-US" altLang="zh-CN" dirty="0"/>
              <a:t>保持</a:t>
            </a:r>
            <a:r>
              <a:rPr lang="en-US" altLang="zh-CN" dirty="0">
                <a:solidFill>
                  <a:srgbClr val="FF0000"/>
                </a:solidFill>
              </a:rPr>
              <a:t>低耦合</a:t>
            </a:r>
            <a:r>
              <a:rPr lang="en-US" altLang="zh-CN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高内聚</a:t>
            </a:r>
            <a:r>
              <a:rPr lang="en-US" altLang="zh-CN" dirty="0"/>
              <a:t>的关系</a:t>
            </a:r>
            <a:endParaRPr lang="en-US" altLang="zh-CN" dirty="0"/>
          </a:p>
          <a:p>
            <a:pPr>
              <a:buFont typeface="Wingdings" panose="05000000000000000000" charset="0"/>
              <a:buChar char=""/>
            </a:pPr>
            <a:r>
              <a:rPr lang="en-US" altLang="zh-CN" dirty="0"/>
              <a:t> SOLID</a:t>
            </a:r>
            <a:r>
              <a:rPr lang="zh-CN" altLang="en-US" dirty="0"/>
              <a:t>的</a:t>
            </a:r>
            <a:r>
              <a:rPr lang="en-US" altLang="zh-CN" dirty="0"/>
              <a:t>5</a:t>
            </a:r>
            <a:r>
              <a:rPr lang="zh-CN" altLang="en-US" dirty="0"/>
              <a:t>原则</a:t>
            </a:r>
            <a:r>
              <a:rPr lang="en-US" altLang="zh-CN" dirty="0"/>
              <a:t> ==</a:t>
            </a:r>
            <a:r>
              <a:rPr lang="zh-CN" altLang="en-US" dirty="0"/>
              <a:t>》基本原则</a:t>
            </a:r>
            <a:endParaRPr lang="en-US" altLang="zh-CN" dirty="0"/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2000" dirty="0"/>
              <a:t> 单一职责原则  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ingle Responsibility Principle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2000" dirty="0"/>
              <a:t> 开闭原则         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pen Closed Principle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2000" dirty="0"/>
              <a:t> 里氏替换原则  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iscov Substitution Principle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2000" dirty="0"/>
              <a:t> 接口分离原则  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nterface Segregation Principle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2000" dirty="0"/>
              <a:t> 依赖倒置原则  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ependency Inversion Principle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lvl="0">
              <a:buFont typeface="Wingdings" panose="05000000000000000000" charset="0"/>
              <a:buChar char="p"/>
            </a:pPr>
            <a:r>
              <a:rPr lang="en-US" altLang="zh-CN" dirty="0"/>
              <a:t> </a:t>
            </a:r>
            <a:r>
              <a:rPr lang="zh-CN" altLang="en-US" dirty="0"/>
              <a:t>另外的</a:t>
            </a:r>
            <a:r>
              <a:rPr lang="en-US" altLang="zh-CN" dirty="0"/>
              <a:t>2</a:t>
            </a:r>
            <a:r>
              <a:rPr lang="zh-CN" altLang="en-US" dirty="0"/>
              <a:t>大原则</a:t>
            </a:r>
            <a:endParaRPr lang="zh-CN" altLang="en-US" dirty="0"/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1995" dirty="0"/>
              <a:t> 迪米特法则   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Law of Demeter -&gt; Least Knowledge Principle</a:t>
            </a:r>
            <a:r>
              <a:rPr lang="zh-CN" altLang="en-US" sz="1995" dirty="0"/>
              <a:t>）</a:t>
            </a:r>
            <a:endParaRPr lang="zh-CN" altLang="en-US" sz="1995" dirty="0"/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1995" dirty="0"/>
              <a:t> 组合复用原则  </a:t>
            </a:r>
            <a:r>
              <a:rPr lang="en-US" altLang="zh-CN" sz="1995" dirty="0"/>
              <a:t>(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Composite/Aggregate Reuse Principle</a:t>
            </a:r>
            <a:r>
              <a:rPr lang="en-US" altLang="zh-CN" sz="1995" dirty="0"/>
              <a:t>)</a:t>
            </a:r>
            <a:endParaRPr lang="en-US" altLang="zh-CN" sz="1995" dirty="0"/>
          </a:p>
        </p:txBody>
      </p:sp>
      <p:sp>
        <p:nvSpPr>
          <p:cNvPr id="34817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en-US" dirty="0"/>
              <a:t>面向对象设计原则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81000" y="620395"/>
            <a:ext cx="11617325" cy="561784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381000" y="6369050"/>
            <a:ext cx="11430000" cy="117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37891" name="图片 1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8183" y="1844675"/>
            <a:ext cx="4762500" cy="3495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89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x-none" dirty="0"/>
              <a:t>单一职责原则</a:t>
            </a:r>
            <a:endParaRPr lang="zh-CN" altLang="x-none" dirty="0"/>
          </a:p>
        </p:txBody>
      </p:sp>
      <p:sp>
        <p:nvSpPr>
          <p:cNvPr id="37892" name="文本框 2"/>
          <p:cNvSpPr txBox="1"/>
          <p:nvPr/>
        </p:nvSpPr>
        <p:spPr>
          <a:xfrm>
            <a:off x="837883" y="1520825"/>
            <a:ext cx="6884987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</a:rPr>
              <a:t>核心思想：</a:t>
            </a:r>
            <a:endParaRPr lang="zh-CN" altLang="en-US">
              <a:latin typeface="等线" panose="02010600030101010101" charset="-122"/>
              <a:ea typeface="等线" panose="02010600030101010101" charset="-122"/>
            </a:endParaRPr>
          </a:p>
          <a:p>
            <a:pPr lvl="1" indent="0" algn="l">
              <a:buNone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</a:rPr>
              <a:t>一个类，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最好只做一件事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</a:rPr>
              <a:t>，只有一个引起它变化的原因。</a:t>
            </a:r>
            <a:endParaRPr lang="zh-CN" altLang="en-US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7893" name="文本框 3"/>
          <p:cNvSpPr txBox="1"/>
          <p:nvPr/>
        </p:nvSpPr>
        <p:spPr>
          <a:xfrm>
            <a:off x="795020" y="2521585"/>
            <a:ext cx="6022340" cy="2584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如果一个类承担的职责过多，就等于把这些职责耦合在一起了。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一个职责的变化可能会削弱或者抑制这个类完成其他职责的能力。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这种耦合会导致脆弱的设计，当发生变化时，设计会遭受到意想不到的破坏。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而如果想要避免这种现象的发生，就要尽可能的遵守单一职责原则。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此原则的核心就是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解耦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和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增强内聚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性。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2018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38914" name="内容占位符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108575" y="994410"/>
            <a:ext cx="6245225" cy="4411345"/>
          </a:xfrm>
        </p:spPr>
      </p:pic>
      <p:sp>
        <p:nvSpPr>
          <p:cNvPr id="38915" name="文本框 6"/>
          <p:cNvSpPr txBox="1"/>
          <p:nvPr/>
        </p:nvSpPr>
        <p:spPr>
          <a:xfrm>
            <a:off x="327660" y="2320925"/>
            <a:ext cx="4840605" cy="2214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en-US" altLang="zh-CN" sz="24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lang="zh-CN" altLang="en-US" sz="24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Rectangle类做了下面两件事：</a:t>
            </a:r>
            <a:endParaRPr lang="zh-CN" altLang="en-US" sz="24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742950" lvl="1" indent="-285750">
              <a:buFont typeface="Wingdings" panose="05000000000000000000" charset="0"/>
              <a:buChar char="p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计算矩形面积；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742950" lvl="1" indent="-285750">
              <a:buFont typeface="Wingdings" panose="05000000000000000000" charset="0"/>
              <a:buChar char="p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在界面上绘制矩形；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 sz="24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有两个应用使用了Rectangle类：</a:t>
            </a:r>
            <a:endParaRPr lang="zh-CN" altLang="en-US" sz="24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742950" lvl="1" indent="-285750">
              <a:buFont typeface="Wingdings" panose="05000000000000000000" charset="0"/>
              <a:buChar char="p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计算几何应用程序用这个类计算面积；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742950" lvl="1" indent="-285750">
              <a:buFont typeface="Wingdings" panose="05000000000000000000" charset="0"/>
              <a:buChar char="p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图形程序用这个类在界面上绘制矩形；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7889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x-none" dirty="0"/>
              <a:t>案例</a:t>
            </a:r>
            <a:endParaRPr lang="zh-CN" altLang="x-none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2018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39937" name="图片 2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9685" y="1943100"/>
            <a:ext cx="4762500" cy="3514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38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x-none" dirty="0"/>
              <a:t>开放闭合原则</a:t>
            </a:r>
            <a:endParaRPr lang="zh-CN" altLang="x-none" dirty="0"/>
          </a:p>
        </p:txBody>
      </p:sp>
      <p:sp>
        <p:nvSpPr>
          <p:cNvPr id="39939" name="文本框 1"/>
          <p:cNvSpPr txBox="1"/>
          <p:nvPr/>
        </p:nvSpPr>
        <p:spPr>
          <a:xfrm>
            <a:off x="929640" y="1551305"/>
            <a:ext cx="513461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从</a:t>
            </a:r>
            <a:r>
              <a:rPr lang="en-US" altLang="zh-CN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OOD</a:t>
            </a:r>
            <a:r>
              <a:rPr lang="zh-CN" altLang="zh-CN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角度看，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软件实体(类,模块,函数等等)应当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对扩展开放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对修改闭合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。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通俗来讲，它意味着应当能在不修改类的前提下扩展一个类的行为。就好像不需要改变身体而可以穿上衣服。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9940" name="文本框 3"/>
          <p:cNvSpPr txBox="1"/>
          <p:nvPr/>
        </p:nvSpPr>
        <p:spPr>
          <a:xfrm>
            <a:off x="929640" y="3543935"/>
            <a:ext cx="5116830" cy="23069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</a:rPr>
              <a:t>核心思想就是对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抽象编程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</a:rPr>
              <a:t>，而不对具体编程，因为抽象相对稳定。</a:t>
            </a:r>
            <a:endParaRPr lang="zh-CN" altLang="en-US">
              <a:latin typeface="等线" panose="02010600030101010101" charset="-122"/>
              <a:ea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endParaRPr lang="zh-CN" altLang="en-US">
              <a:latin typeface="等线" panose="02010600030101010101" charset="-122"/>
              <a:ea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</a:rPr>
              <a:t>让类依赖于固定的抽象，所以修改就是封闭的；</a:t>
            </a:r>
            <a:endParaRPr lang="zh-CN" altLang="en-US">
              <a:latin typeface="等线" panose="02010600030101010101" charset="-122"/>
              <a:ea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endParaRPr lang="zh-CN" altLang="en-US">
              <a:latin typeface="等线" panose="02010600030101010101" charset="-122"/>
              <a:ea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</a:rPr>
              <a:t>而通过面向对象的继承和多态机制，又可以实现对抽象类的继承，通过覆写其方法来改变固有行为，实现新的拓展方法，所以就是开放的。</a:t>
            </a:r>
            <a:endParaRPr lang="zh-CN" altLang="en-US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39938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x-none" dirty="0"/>
              <a:t>案例：计算器实现</a:t>
            </a:r>
            <a:endParaRPr lang="zh-CN" altLang="x-none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310" y="1534160"/>
            <a:ext cx="3891280" cy="39903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475" y="2254885"/>
            <a:ext cx="4146550" cy="10985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870" y="3843020"/>
            <a:ext cx="3092450" cy="12954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3195" y="3843020"/>
            <a:ext cx="2978150" cy="1295400"/>
          </a:xfrm>
          <a:prstGeom prst="rect">
            <a:avLst/>
          </a:prstGeom>
        </p:spPr>
      </p:pic>
      <p:grpSp>
        <p:nvGrpSpPr>
          <p:cNvPr id="27" name="组 28"/>
          <p:cNvGrpSpPr/>
          <p:nvPr/>
        </p:nvGrpSpPr>
        <p:grpSpPr>
          <a:xfrm>
            <a:off x="199390" y="3094990"/>
            <a:ext cx="1065530" cy="868680"/>
            <a:chOff x="5504391" y="2084416"/>
            <a:chExt cx="797369" cy="645948"/>
          </a:xfrm>
        </p:grpSpPr>
        <p:sp>
          <p:nvSpPr>
            <p:cNvPr id="28" name="八角星 27"/>
            <p:cNvSpPr/>
            <p:nvPr/>
          </p:nvSpPr>
          <p:spPr>
            <a:xfrm>
              <a:off x="5504391" y="2084416"/>
              <a:ext cx="645948" cy="645948"/>
            </a:xfrm>
            <a:prstGeom prst="star8">
              <a:avLst/>
            </a:prstGeom>
            <a:solidFill>
              <a:srgbClr val="043D5D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tx1"/>
                </a:solidFill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516265" y="2291191"/>
              <a:ext cx="785495" cy="2738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/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方案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</p:grpSp>
      <p:grpSp>
        <p:nvGrpSpPr>
          <p:cNvPr id="29" name="组 28"/>
          <p:cNvGrpSpPr/>
          <p:nvPr/>
        </p:nvGrpSpPr>
        <p:grpSpPr>
          <a:xfrm>
            <a:off x="8459470" y="944880"/>
            <a:ext cx="1065530" cy="868680"/>
            <a:chOff x="5504391" y="2084416"/>
            <a:chExt cx="797369" cy="645948"/>
          </a:xfrm>
        </p:grpSpPr>
        <p:sp>
          <p:nvSpPr>
            <p:cNvPr id="30" name="八角星 29"/>
            <p:cNvSpPr/>
            <p:nvPr/>
          </p:nvSpPr>
          <p:spPr>
            <a:xfrm>
              <a:off x="5504391" y="2084416"/>
              <a:ext cx="645948" cy="645948"/>
            </a:xfrm>
            <a:prstGeom prst="star8">
              <a:avLst/>
            </a:prstGeom>
            <a:solidFill>
              <a:srgbClr val="043D5D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tx1"/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516265" y="2291191"/>
              <a:ext cx="785495" cy="2738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/>
              <a:r>
                <a:rPr lang="en-US" altLang="zh-CN">
                  <a:solidFill>
                    <a:schemeClr val="bg1"/>
                  </a:solidFill>
                  <a:sym typeface="+mn-ea"/>
                </a:rPr>
                <a:t>B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方案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</p:grpSp>
      <p:cxnSp>
        <p:nvCxnSpPr>
          <p:cNvPr id="12" name="直接连接符 11"/>
          <p:cNvCxnSpPr/>
          <p:nvPr/>
        </p:nvCxnSpPr>
        <p:spPr>
          <a:xfrm>
            <a:off x="5353050" y="1591310"/>
            <a:ext cx="0" cy="41567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3009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x-none" dirty="0"/>
              <a:t>里氏替换原则</a:t>
            </a:r>
            <a:endParaRPr lang="zh-CN" altLang="x-none" dirty="0"/>
          </a:p>
        </p:txBody>
      </p:sp>
      <p:pic>
        <p:nvPicPr>
          <p:cNvPr id="43010" name="图片 3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5063" y="1460818"/>
            <a:ext cx="4762500" cy="3762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011" name="文本框 1"/>
          <p:cNvSpPr txBox="1"/>
          <p:nvPr/>
        </p:nvSpPr>
        <p:spPr>
          <a:xfrm>
            <a:off x="405130" y="1659255"/>
            <a:ext cx="486473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核心思想是：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派生类必须能够替换其基类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012" name="文本框 2"/>
          <p:cNvSpPr txBox="1"/>
          <p:nvPr/>
        </p:nvSpPr>
        <p:spPr>
          <a:xfrm>
            <a:off x="405130" y="2188845"/>
            <a:ext cx="5174615" cy="1753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Liskov替换原则，主要着眼于抽象和多态建立在继承的基础上，因此只有遵循了Liskov替换原则，才能保证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继承复用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是可靠的。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里氏替换原则通俗来讲就是：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派生类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可以扩展基类的功能，但不能改变基类原有的功能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1"/>
          <p:cNvSpPr txBox="1"/>
          <p:nvPr/>
        </p:nvSpPr>
        <p:spPr>
          <a:xfrm>
            <a:off x="381000" y="4085590"/>
            <a:ext cx="556768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zh-CN">
                <a:latin typeface="宋体" panose="02010600030101010101" pitchFamily="2" charset="-122"/>
                <a:ea typeface="宋体" panose="02010600030101010101" pitchFamily="2" charset="-122"/>
              </a:rPr>
              <a:t>表现：</a:t>
            </a:r>
            <a:endParaRPr lang="zh-CN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buFont typeface="Wingdings" panose="05000000000000000000" charset="0"/>
              <a:buChar char=""/>
            </a:pPr>
            <a:r>
              <a:rPr lang="zh-CN" altLang="zh-CN">
                <a:latin typeface="宋体" panose="02010600030101010101" pitchFamily="2" charset="-122"/>
                <a:ea typeface="宋体" panose="02010600030101010101" pitchFamily="2" charset="-122"/>
              </a:rPr>
              <a:t>子类可以实现父类的抽象方法，表现多态</a:t>
            </a:r>
            <a:endParaRPr lang="zh-CN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buFont typeface="Wingdings" panose="05000000000000000000" charset="0"/>
              <a:buChar char=""/>
            </a:pPr>
            <a:r>
              <a:rPr lang="zh-CN" altLang="zh-CN">
                <a:latin typeface="宋体" panose="02010600030101010101" pitchFamily="2" charset="-122"/>
                <a:ea typeface="宋体" panose="02010600030101010101" pitchFamily="2" charset="-122"/>
              </a:rPr>
              <a:t>但不能覆盖父类的非抽象方法</a:t>
            </a:r>
            <a:endParaRPr lang="zh-CN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buFont typeface="Wingdings" panose="05000000000000000000" charset="0"/>
              <a:buChar char=""/>
            </a:pPr>
            <a:r>
              <a:rPr lang="zh-CN" altLang="zh-CN">
                <a:latin typeface="宋体" panose="02010600030101010101" pitchFamily="2" charset="-122"/>
                <a:ea typeface="宋体" panose="02010600030101010101" pitchFamily="2" charset="-122"/>
              </a:rPr>
              <a:t>子类可以有自己的个性</a:t>
            </a:r>
            <a:endParaRPr lang="zh-CN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3009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x-none" dirty="0"/>
              <a:t>案例：商户的促销策略（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8200" y="2560955"/>
            <a:ext cx="2940050" cy="2514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275" y="2359660"/>
            <a:ext cx="3473450" cy="30988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340" y="2660650"/>
            <a:ext cx="2857500" cy="15367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3009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x-none" dirty="0"/>
              <a:t>案例：商户的促销策略（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6675" y="1691005"/>
            <a:ext cx="4070350" cy="4254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19175" y="2259965"/>
            <a:ext cx="2940050" cy="2514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170" y="3732530"/>
            <a:ext cx="3873500" cy="16637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2018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4033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x-none" dirty="0"/>
              <a:t>接口分离原则</a:t>
            </a:r>
            <a:endParaRPr lang="zh-CN" altLang="x-none" dirty="0"/>
          </a:p>
        </p:txBody>
      </p:sp>
      <p:pic>
        <p:nvPicPr>
          <p:cNvPr id="44034" name="图片 1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973" y="1545273"/>
            <a:ext cx="5238750" cy="3895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4035" name="文本框 1"/>
          <p:cNvSpPr txBox="1"/>
          <p:nvPr/>
        </p:nvSpPr>
        <p:spPr>
          <a:xfrm>
            <a:off x="6737350" y="1691640"/>
            <a:ext cx="479869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核心思想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：使用多个小的专门的接口，而不要使用一个大的总接口。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036" name="文本框 2"/>
          <p:cNvSpPr txBox="1"/>
          <p:nvPr/>
        </p:nvSpPr>
        <p:spPr>
          <a:xfrm>
            <a:off x="6783070" y="3125470"/>
            <a:ext cx="475297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接口隔离原则体现在：接口应该是内聚的，应该避免“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胖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”接口。一个类对另外一个类的依赖应该建立在最小的接口上，不要强迫依赖不用的方法，这是一种接口污染。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0621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6081" name="标题 3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zh-CN" altLang="en-US"/>
              <a:t>案例</a:t>
            </a:r>
            <a:endParaRPr lang="zh-CN" altLang="en-US"/>
          </a:p>
        </p:txBody>
      </p:sp>
      <p:sp>
        <p:nvSpPr>
          <p:cNvPr id="46084" name="文本框 7"/>
          <p:cNvSpPr txBox="1"/>
          <p:nvPr/>
        </p:nvSpPr>
        <p:spPr>
          <a:xfrm>
            <a:off x="1309688" y="1600200"/>
            <a:ext cx="471170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Bird接口包含很多鸟类的行为，包括</a:t>
            </a:r>
            <a:r>
              <a:rPr lang="en-US" altLang="zh-CN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f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ly()行为。现在如果一个Bird类(如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Ostrich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)实现了这个接口，那么它需要实现不必要的</a:t>
            </a:r>
            <a:r>
              <a:rPr lang="en-US" altLang="zh-CN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f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ly()行为(Ostrich不会飞)。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6085" name="文本框 8"/>
          <p:cNvSpPr txBox="1"/>
          <p:nvPr/>
        </p:nvSpPr>
        <p:spPr>
          <a:xfrm>
            <a:off x="5594668" y="3591878"/>
            <a:ext cx="453390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这个"</a:t>
            </a:r>
            <a:r>
              <a:rPr lang="zh-CN" altLang="en-US" b="1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胖接口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"应该拆分未两个不同的接口，Bird和FlyingBird,FlyingBird继承自Bird。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6086" name="文本框 9"/>
          <p:cNvSpPr txBox="1"/>
          <p:nvPr/>
        </p:nvSpPr>
        <p:spPr>
          <a:xfrm>
            <a:off x="5594985" y="4979035"/>
            <a:ext cx="4243705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这里如果一种鸟不会飞(如Ostrich)，那它实现Bird接口。如果一种鸟会飞(如</a:t>
            </a:r>
            <a:r>
              <a:rPr lang="en-US" altLang="zh-CN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Crow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)，那么它实现FlyingBird.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7525" y="3005455"/>
            <a:ext cx="2914650" cy="30924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685" y="513080"/>
            <a:ext cx="2616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965" y="1488440"/>
            <a:ext cx="2889250" cy="149225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438150" y="3282950"/>
            <a:ext cx="10924540" cy="1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20" y="4889500"/>
            <a:ext cx="2641600" cy="9715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215" y="3559175"/>
            <a:ext cx="3854450" cy="25717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3690" y="3829050"/>
            <a:ext cx="3797300" cy="2032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1215" y="308610"/>
            <a:ext cx="3784600" cy="2565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5090" y="327660"/>
            <a:ext cx="3765550" cy="2527300"/>
          </a:xfrm>
          <a:prstGeom prst="rect">
            <a:avLst/>
          </a:prstGeom>
        </p:spPr>
      </p:pic>
      <p:grpSp>
        <p:nvGrpSpPr>
          <p:cNvPr id="27" name="组 28"/>
          <p:cNvGrpSpPr/>
          <p:nvPr/>
        </p:nvGrpSpPr>
        <p:grpSpPr>
          <a:xfrm>
            <a:off x="1195705" y="454660"/>
            <a:ext cx="1065530" cy="868680"/>
            <a:chOff x="5504391" y="2084416"/>
            <a:chExt cx="797369" cy="645948"/>
          </a:xfrm>
        </p:grpSpPr>
        <p:sp>
          <p:nvSpPr>
            <p:cNvPr id="28" name="八角星 27"/>
            <p:cNvSpPr/>
            <p:nvPr/>
          </p:nvSpPr>
          <p:spPr>
            <a:xfrm>
              <a:off x="5504391" y="2084416"/>
              <a:ext cx="645948" cy="645948"/>
            </a:xfrm>
            <a:prstGeom prst="star8">
              <a:avLst/>
            </a:prstGeom>
            <a:solidFill>
              <a:srgbClr val="043D5D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tx1"/>
                </a:solidFill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516265" y="2291191"/>
              <a:ext cx="785495" cy="2738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/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方案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</p:grpSp>
      <p:grpSp>
        <p:nvGrpSpPr>
          <p:cNvPr id="29" name="组 28"/>
          <p:cNvGrpSpPr/>
          <p:nvPr/>
        </p:nvGrpSpPr>
        <p:grpSpPr>
          <a:xfrm>
            <a:off x="1270000" y="3559175"/>
            <a:ext cx="1065530" cy="868680"/>
            <a:chOff x="5504391" y="2084416"/>
            <a:chExt cx="797369" cy="645948"/>
          </a:xfrm>
        </p:grpSpPr>
        <p:sp>
          <p:nvSpPr>
            <p:cNvPr id="30" name="八角星 29"/>
            <p:cNvSpPr/>
            <p:nvPr/>
          </p:nvSpPr>
          <p:spPr>
            <a:xfrm>
              <a:off x="5504391" y="2084416"/>
              <a:ext cx="645948" cy="645948"/>
            </a:xfrm>
            <a:prstGeom prst="star8">
              <a:avLst/>
            </a:prstGeom>
            <a:solidFill>
              <a:srgbClr val="043D5D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tx1"/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516265" y="2291191"/>
              <a:ext cx="785495" cy="2738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/>
              <a:r>
                <a:rPr lang="en-US" altLang="zh-CN">
                  <a:solidFill>
                    <a:schemeClr val="bg1"/>
                  </a:solidFill>
                  <a:sym typeface="+mn-ea"/>
                </a:rPr>
                <a:t>B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方案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2018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710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/>
          <a:p>
            <a:r>
              <a:rPr lang="zh-CN" altLang="x-none" dirty="0"/>
              <a:t>依赖倒置原则</a:t>
            </a:r>
            <a:endParaRPr lang="zh-CN" altLang="x-none" dirty="0"/>
          </a:p>
        </p:txBody>
      </p:sp>
      <p:sp>
        <p:nvSpPr>
          <p:cNvPr id="47106" name="内容占位符 2"/>
          <p:cNvSpPr>
            <a:spLocks noGrp="1"/>
          </p:cNvSpPr>
          <p:nvPr>
            <p:ph idx="1"/>
          </p:nvPr>
        </p:nvSpPr>
        <p:spPr>
          <a:xfrm>
            <a:off x="1017588" y="1468438"/>
            <a:ext cx="7108825" cy="4637087"/>
          </a:xfrm>
        </p:spPr>
        <p:txBody>
          <a:bodyPr wrap="square" anchor="t"/>
          <a:p>
            <a:pPr marL="1905" indent="-1905">
              <a:lnSpc>
                <a:spcPct val="90000"/>
              </a:lnSpc>
            </a:pPr>
            <a:endParaRPr lang="en-US" altLang="zh-CN" dirty="0"/>
          </a:p>
          <a:p>
            <a:pPr marL="1905" indent="-1905">
              <a:lnSpc>
                <a:spcPct val="90000"/>
              </a:lnSpc>
            </a:pP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7107" name="图片 2" descr="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0085" y="3133725"/>
            <a:ext cx="4015740" cy="2971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108" name="文本框 1"/>
          <p:cNvSpPr txBox="1"/>
          <p:nvPr/>
        </p:nvSpPr>
        <p:spPr>
          <a:xfrm>
            <a:off x="1083945" y="1691005"/>
            <a:ext cx="493395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核心思想：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面向接口编程，依赖于抽象</a:t>
            </a:r>
            <a:r>
              <a:rPr lang="en-US" altLang="zh-CN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(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抽象是稳定的，具体的是在变化的</a:t>
            </a:r>
            <a:r>
              <a:rPr lang="en-US" altLang="zh-CN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)</a:t>
            </a:r>
            <a:endParaRPr lang="zh-CN" altLang="en-US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具体而言：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a.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高层模块不依赖于低层模块，二者都同依赖于抽象；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b.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抽象不依赖于具体，具体依赖于抽象。</a:t>
            </a:r>
            <a:endParaRPr lang="zh-CN" altLang="zh-CN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7109" name="文本框 2"/>
          <p:cNvSpPr txBox="1"/>
          <p:nvPr/>
        </p:nvSpPr>
        <p:spPr>
          <a:xfrm>
            <a:off x="1083945" y="3697605"/>
            <a:ext cx="4402455" cy="2030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</a:rPr>
              <a:t>当两个模块之间存在紧密的耦合关系时，最好的方法就是分离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接口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</a:rPr>
              <a:t>和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实现</a:t>
            </a:r>
            <a:endParaRPr lang="zh-CN" altLang="en-US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endParaRPr lang="zh-CN" altLang="en-US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</a:rPr>
              <a:t>在依赖之间定义一个抽象的接口使得高层模块调用接口，而底层模块实现接口的定义，以此来有效控制耦合关系，达到依赖于抽象的设计目标。</a:t>
            </a:r>
            <a:endParaRPr lang="zh-CN" altLang="en-US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6837045" y="125730"/>
            <a:ext cx="4402455" cy="31381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与其相关的还有</a:t>
            </a:r>
            <a:r>
              <a:rPr lang="en-US" altLang="zh-CN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”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控制反转</a:t>
            </a:r>
            <a:r>
              <a:rPr lang="en-US" altLang="zh-CN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”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一个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概念</a:t>
            </a:r>
            <a:endParaRPr lang="zh-CN" altLang="en-US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endParaRPr lang="zh-CN" altLang="en-US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该原则关注的是框架</a:t>
            </a:r>
            <a:r>
              <a:rPr lang="en-US" altLang="zh-CN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模块</a:t>
            </a:r>
            <a:r>
              <a:rPr lang="en-US" altLang="zh-CN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)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的设计。本来所有的流程都是由程序员控制，但有了框架以后，所有的流程由框架来控制，流程的控制权从程序员</a:t>
            </a:r>
            <a:r>
              <a:rPr lang="en-US" altLang="zh-CN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“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反转</a:t>
            </a:r>
            <a:r>
              <a:rPr lang="en-US" altLang="zh-CN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”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到了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框架。</a:t>
            </a:r>
            <a:endParaRPr lang="zh-CN" altLang="en-US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endParaRPr lang="zh-CN" altLang="en-US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程序员利用框架进行开发时，只需要往预留的扩展点上，添加与业务相关的代码，就可以利用框架来驱动程序流程的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执行。</a:t>
            </a:r>
            <a:endParaRPr lang="zh-CN" altLang="en-US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endParaRPr lang="zh-CN" altLang="en-US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185" y="1041400"/>
            <a:ext cx="3236595" cy="18281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265" y="1206500"/>
            <a:ext cx="4108450" cy="1498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620" y="1415415"/>
            <a:ext cx="3930650" cy="1454150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327660" y="3061970"/>
            <a:ext cx="11483340" cy="1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" y="3182620"/>
            <a:ext cx="3138805" cy="294386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2505" y="3264535"/>
            <a:ext cx="3378200" cy="762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2505" y="4267835"/>
            <a:ext cx="5346700" cy="1784350"/>
          </a:xfrm>
          <a:prstGeom prst="rect">
            <a:avLst/>
          </a:prstGeom>
        </p:spPr>
      </p:pic>
      <p:grpSp>
        <p:nvGrpSpPr>
          <p:cNvPr id="27" name="组 28"/>
          <p:cNvGrpSpPr/>
          <p:nvPr/>
        </p:nvGrpSpPr>
        <p:grpSpPr>
          <a:xfrm>
            <a:off x="11045825" y="167640"/>
            <a:ext cx="1065530" cy="868680"/>
            <a:chOff x="5504391" y="2084416"/>
            <a:chExt cx="797369" cy="645948"/>
          </a:xfrm>
        </p:grpSpPr>
        <p:sp>
          <p:nvSpPr>
            <p:cNvPr id="28" name="八角星 27"/>
            <p:cNvSpPr/>
            <p:nvPr/>
          </p:nvSpPr>
          <p:spPr>
            <a:xfrm>
              <a:off x="5504391" y="2084416"/>
              <a:ext cx="645948" cy="645948"/>
            </a:xfrm>
            <a:prstGeom prst="star8">
              <a:avLst/>
            </a:prstGeom>
            <a:solidFill>
              <a:srgbClr val="043D5D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tx1"/>
                </a:solidFill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516265" y="2291191"/>
              <a:ext cx="785495" cy="2738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/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方案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</p:grpSp>
      <p:grpSp>
        <p:nvGrpSpPr>
          <p:cNvPr id="29" name="组 28"/>
          <p:cNvGrpSpPr/>
          <p:nvPr/>
        </p:nvGrpSpPr>
        <p:grpSpPr>
          <a:xfrm>
            <a:off x="10944225" y="4229735"/>
            <a:ext cx="1065530" cy="868680"/>
            <a:chOff x="5504391" y="2084416"/>
            <a:chExt cx="797369" cy="645948"/>
          </a:xfrm>
        </p:grpSpPr>
        <p:sp>
          <p:nvSpPr>
            <p:cNvPr id="30" name="八角星 29"/>
            <p:cNvSpPr/>
            <p:nvPr/>
          </p:nvSpPr>
          <p:spPr>
            <a:xfrm>
              <a:off x="5504391" y="2084416"/>
              <a:ext cx="645948" cy="645948"/>
            </a:xfrm>
            <a:prstGeom prst="star8">
              <a:avLst/>
            </a:prstGeom>
            <a:solidFill>
              <a:srgbClr val="043D5D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tx1"/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516265" y="2291191"/>
              <a:ext cx="785495" cy="2738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/>
              <a:r>
                <a:rPr lang="en-US" altLang="zh-CN">
                  <a:solidFill>
                    <a:schemeClr val="bg1"/>
                  </a:solidFill>
                  <a:sym typeface="+mn-ea"/>
                </a:rPr>
                <a:t>B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方案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8262620" y="3543300"/>
            <a:ext cx="35966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对</a:t>
            </a:r>
            <a:r>
              <a:rPr lang="en-US" altLang="zh-CN"/>
              <a:t>worker</a:t>
            </a:r>
            <a:r>
              <a:rPr lang="zh-CN" altLang="en-US"/>
              <a:t>本身进行赋值的过程，</a:t>
            </a:r>
            <a:r>
              <a:rPr lang="zh-CN" altLang="en-US"/>
              <a:t>又</a:t>
            </a:r>
            <a:endParaRPr lang="zh-CN" altLang="en-US"/>
          </a:p>
          <a:p>
            <a:r>
              <a:rPr lang="zh-CN" altLang="en-US"/>
              <a:t>叫做</a:t>
            </a:r>
            <a:r>
              <a:rPr lang="zh-CN" altLang="en-US">
                <a:solidFill>
                  <a:srgbClr val="FF0000"/>
                </a:solidFill>
              </a:rPr>
              <a:t>依赖注入</a:t>
            </a:r>
            <a:r>
              <a:rPr lang="zh-CN" altLang="en-US"/>
              <a:t>的</a:t>
            </a:r>
            <a:r>
              <a:rPr lang="zh-CN" altLang="en-US"/>
              <a:t>过程</a:t>
            </a:r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0621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710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/>
          <a:p>
            <a:r>
              <a:rPr lang="zh-CN" altLang="x-none" dirty="0">
                <a:sym typeface="+mn-ea"/>
              </a:rPr>
              <a:t>迪米特法则</a:t>
            </a:r>
            <a:r>
              <a:rPr lang="zh-CN" altLang="x-none" dirty="0"/>
              <a:t>（</a:t>
            </a:r>
            <a:r>
              <a:rPr lang="zh-CN" altLang="x-none" dirty="0">
                <a:sym typeface="+mn-ea"/>
              </a:rPr>
              <a:t>最少知识原则</a:t>
            </a:r>
            <a:r>
              <a:rPr lang="zh-CN" altLang="x-none" dirty="0"/>
              <a:t>）</a:t>
            </a:r>
            <a:endParaRPr lang="zh-CN" altLang="x-none" dirty="0"/>
          </a:p>
        </p:txBody>
      </p:sp>
      <p:sp>
        <p:nvSpPr>
          <p:cNvPr id="47108" name="文本框 1"/>
          <p:cNvSpPr txBox="1"/>
          <p:nvPr/>
        </p:nvSpPr>
        <p:spPr>
          <a:xfrm>
            <a:off x="902970" y="1691005"/>
            <a:ext cx="874839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来自于一个叫做</a:t>
            </a:r>
            <a:r>
              <a:rPr lang="en-US" altLang="zh-CN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“Demeter”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的研究项目，该项目是</a:t>
            </a:r>
            <a:r>
              <a:rPr lang="en-US" altLang="zh-CN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1987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年由</a:t>
            </a: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美国东北大学创立的</a:t>
            </a:r>
            <a:endParaRPr lang="zh-CN" altLang="en-US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定义：</a:t>
            </a:r>
            <a:r>
              <a:rPr lang="zh-CN" altLang="en-US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一个软件实体应当尽可能少地与其他实体发生相互作用</a:t>
            </a:r>
            <a:endParaRPr lang="zh-CN" altLang="zh-CN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02970" y="2637155"/>
            <a:ext cx="8748395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>
                <a:latin typeface="等线" panose="02010600030101010101" charset="-122"/>
                <a:ea typeface="等线" panose="02010600030101010101" charset="-122"/>
              </a:rPr>
              <a:t>一个类应该对自己需要调用的类知道得最少</a:t>
            </a:r>
            <a:endParaRPr>
              <a:latin typeface="等线" panose="02010600030101010101" charset="-122"/>
              <a:ea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>
                <a:latin typeface="等线" panose="02010600030101010101" charset="-122"/>
                <a:ea typeface="等线" panose="02010600030101010101" charset="-122"/>
              </a:rPr>
              <a:t>类的内部如何实现、如何复杂都与调用者或者依赖者没关系</a:t>
            </a:r>
            <a:endParaRPr>
              <a:latin typeface="等线" panose="02010600030101010101" charset="-122"/>
              <a:ea typeface="等线" panose="02010600030101010101" charset="-122"/>
            </a:endParaRPr>
          </a:p>
          <a:p>
            <a:pPr>
              <a:buFont typeface="Wingdings" panose="05000000000000000000" charset="0"/>
              <a:buChar char=""/>
            </a:pPr>
            <a:r>
              <a:rPr>
                <a:latin typeface="等线" panose="02010600030101010101" charset="-122"/>
                <a:ea typeface="等线" panose="02010600030101010101" charset="-122"/>
              </a:rPr>
              <a:t>调用者或者依赖者只需要知道他需要的方法即可，其他的一概不关心。</a:t>
            </a:r>
            <a:endParaRPr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02970" y="4139565"/>
            <a:ext cx="108546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>
                <a:latin typeface="等线" panose="02010600030101010101" charset="-122"/>
                <a:ea typeface="等线" panose="02010600030101010101" charset="-122"/>
              </a:rPr>
              <a:t>优点：</a:t>
            </a:r>
            <a:endParaRPr lang="zh-CN">
              <a:latin typeface="等线" panose="02010600030101010101" charset="-122"/>
              <a:ea typeface="等线" panose="02010600030101010101" charset="-122"/>
            </a:endParaRPr>
          </a:p>
          <a:p>
            <a:pPr lvl="1">
              <a:buFont typeface="Wingdings" panose="05000000000000000000" charset="0"/>
              <a:buChar char=""/>
            </a:pPr>
            <a:r>
              <a:rPr lang="zh-CN">
                <a:latin typeface="等线" panose="02010600030101010101" charset="-122"/>
                <a:ea typeface="等线" panose="02010600030101010101" charset="-122"/>
              </a:rPr>
              <a:t>实践迪米特法则可以</a:t>
            </a:r>
            <a:r>
              <a:rPr lang="zh-CN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降低类与类之间的耦合</a:t>
            </a:r>
            <a:r>
              <a:rPr lang="zh-CN">
                <a:latin typeface="等线" panose="02010600030101010101" charset="-122"/>
                <a:ea typeface="等线" panose="02010600030101010101" charset="-122"/>
              </a:rPr>
              <a:t>，</a:t>
            </a:r>
            <a:r>
              <a:rPr lang="zh-CN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减少类与类之间的关联程度</a:t>
            </a:r>
            <a:r>
              <a:rPr lang="zh-CN">
                <a:latin typeface="等线" panose="02010600030101010101" charset="-122"/>
                <a:ea typeface="等线" panose="02010600030101010101" charset="-122"/>
              </a:rPr>
              <a:t>，让类与类</a:t>
            </a:r>
            <a:endParaRPr lang="zh-CN">
              <a:latin typeface="等线" panose="02010600030101010101" charset="-122"/>
              <a:ea typeface="等线" panose="02010600030101010101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>
                <a:latin typeface="等线" panose="02010600030101010101" charset="-122"/>
                <a:ea typeface="等线" panose="02010600030101010101" charset="-122"/>
              </a:rPr>
              <a:t>之间的协作更加直接</a:t>
            </a:r>
            <a:endParaRPr lang="zh-CN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710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/>
          <a:p>
            <a:r>
              <a:rPr lang="zh-CN" altLang="en-US" dirty="0"/>
              <a:t>案例：楼盘买房问题</a:t>
            </a:r>
            <a:endParaRPr lang="zh-CN" altLang="en-US" dirty="0"/>
          </a:p>
        </p:txBody>
      </p:sp>
      <p:grpSp>
        <p:nvGrpSpPr>
          <p:cNvPr id="19" name="组合 18"/>
          <p:cNvGrpSpPr/>
          <p:nvPr/>
        </p:nvGrpSpPr>
        <p:grpSpPr>
          <a:xfrm>
            <a:off x="883285" y="1483995"/>
            <a:ext cx="2803525" cy="3796030"/>
            <a:chOff x="1415" y="2837"/>
            <a:chExt cx="4415" cy="5978"/>
          </a:xfrm>
        </p:grpSpPr>
        <p:pic>
          <p:nvPicPr>
            <p:cNvPr id="2" name="图片 1" descr="人_#333333_128_363255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15" y="4872"/>
              <a:ext cx="1280" cy="1280"/>
            </a:xfrm>
            <a:prstGeom prst="rect">
              <a:avLst/>
            </a:prstGeom>
          </p:spPr>
        </p:pic>
        <p:pic>
          <p:nvPicPr>
            <p:cNvPr id="6" name="图片 5" descr="大楼I_#333333_128_2156276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50" y="5268"/>
              <a:ext cx="1280" cy="1280"/>
            </a:xfrm>
            <a:prstGeom prst="rect">
              <a:avLst/>
            </a:prstGeom>
          </p:spPr>
        </p:pic>
        <p:pic>
          <p:nvPicPr>
            <p:cNvPr id="7" name="图片 6" descr="大楼L_#333333_128_2156276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50" y="7535"/>
              <a:ext cx="1280" cy="1280"/>
            </a:xfrm>
            <a:prstGeom prst="rect">
              <a:avLst/>
            </a:prstGeom>
          </p:spPr>
        </p:pic>
        <p:pic>
          <p:nvPicPr>
            <p:cNvPr id="8" name="图片 7" descr="摩天大楼_#333333_128_2153795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50" y="2837"/>
              <a:ext cx="1280" cy="1280"/>
            </a:xfrm>
            <a:prstGeom prst="rect">
              <a:avLst/>
            </a:prstGeom>
          </p:spPr>
        </p:pic>
        <p:cxnSp>
          <p:nvCxnSpPr>
            <p:cNvPr id="16" name="直接箭头连接符 15"/>
            <p:cNvCxnSpPr>
              <a:stCxn id="2" idx="3"/>
            </p:cNvCxnSpPr>
            <p:nvPr/>
          </p:nvCxnSpPr>
          <p:spPr>
            <a:xfrm flipV="1">
              <a:off x="2695" y="3542"/>
              <a:ext cx="1855" cy="197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endCxn id="6" idx="1"/>
            </p:cNvCxnSpPr>
            <p:nvPr/>
          </p:nvCxnSpPr>
          <p:spPr>
            <a:xfrm>
              <a:off x="2695" y="5892"/>
              <a:ext cx="1855" cy="1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>
              <a:off x="2695" y="6152"/>
              <a:ext cx="1855" cy="170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/>
          <p:cNvGrpSpPr/>
          <p:nvPr/>
        </p:nvGrpSpPr>
        <p:grpSpPr>
          <a:xfrm>
            <a:off x="6209030" y="1435735"/>
            <a:ext cx="4612640" cy="3966845"/>
            <a:chOff x="9977" y="2262"/>
            <a:chExt cx="7264" cy="6247"/>
          </a:xfrm>
        </p:grpSpPr>
        <p:pic>
          <p:nvPicPr>
            <p:cNvPr id="11" name="图片 10" descr="人_#13227a_128_363255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77" y="4872"/>
              <a:ext cx="1280" cy="1280"/>
            </a:xfrm>
            <a:prstGeom prst="rect">
              <a:avLst/>
            </a:prstGeom>
          </p:spPr>
        </p:pic>
        <p:pic>
          <p:nvPicPr>
            <p:cNvPr id="12" name="图片 11" descr="人_#1396db_128_363248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919" y="4761"/>
              <a:ext cx="1280" cy="1280"/>
            </a:xfrm>
            <a:prstGeom prst="rect">
              <a:avLst/>
            </a:prstGeom>
          </p:spPr>
        </p:pic>
        <p:pic>
          <p:nvPicPr>
            <p:cNvPr id="13" name="图片 12" descr="摩天大楼_#333333_128_2153795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803" y="2262"/>
              <a:ext cx="1280" cy="1280"/>
            </a:xfrm>
            <a:prstGeom prst="rect">
              <a:avLst/>
            </a:prstGeom>
          </p:spPr>
        </p:pic>
        <p:pic>
          <p:nvPicPr>
            <p:cNvPr id="14" name="图片 13" descr="大楼I_#333333_128_2156276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803" y="4872"/>
              <a:ext cx="1280" cy="1280"/>
            </a:xfrm>
            <a:prstGeom prst="rect">
              <a:avLst/>
            </a:prstGeom>
          </p:spPr>
        </p:pic>
        <p:pic>
          <p:nvPicPr>
            <p:cNvPr id="15" name="图片 14" descr="大楼L_#333333_128_2156276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61" y="7229"/>
              <a:ext cx="1280" cy="1280"/>
            </a:xfrm>
            <a:prstGeom prst="rect">
              <a:avLst/>
            </a:prstGeom>
          </p:spPr>
        </p:pic>
        <p:cxnSp>
          <p:nvCxnSpPr>
            <p:cNvPr id="20" name="直接箭头连接符 19"/>
            <p:cNvCxnSpPr/>
            <p:nvPr/>
          </p:nvCxnSpPr>
          <p:spPr>
            <a:xfrm flipV="1">
              <a:off x="11275" y="5457"/>
              <a:ext cx="1329" cy="1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 flipV="1">
              <a:off x="14420" y="3209"/>
              <a:ext cx="1541" cy="17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>
              <a:off x="14388" y="5455"/>
              <a:ext cx="141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>
              <a:off x="14388" y="5882"/>
              <a:ext cx="1415" cy="169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 28"/>
          <p:cNvGrpSpPr/>
          <p:nvPr/>
        </p:nvGrpSpPr>
        <p:grpSpPr>
          <a:xfrm>
            <a:off x="7692390" y="822325"/>
            <a:ext cx="1065530" cy="868680"/>
            <a:chOff x="5504391" y="2084416"/>
            <a:chExt cx="797369" cy="645948"/>
          </a:xfrm>
        </p:grpSpPr>
        <p:sp>
          <p:nvSpPr>
            <p:cNvPr id="30" name="八角星 29"/>
            <p:cNvSpPr/>
            <p:nvPr/>
          </p:nvSpPr>
          <p:spPr>
            <a:xfrm>
              <a:off x="5504391" y="2084416"/>
              <a:ext cx="645948" cy="645948"/>
            </a:xfrm>
            <a:prstGeom prst="star8">
              <a:avLst/>
            </a:prstGeom>
            <a:solidFill>
              <a:srgbClr val="043D5D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tx1"/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516265" y="2291191"/>
              <a:ext cx="785495" cy="2738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/>
              <a:r>
                <a:rPr lang="en-US" altLang="zh-CN">
                  <a:solidFill>
                    <a:schemeClr val="bg1"/>
                  </a:solidFill>
                  <a:sym typeface="+mn-ea"/>
                </a:rPr>
                <a:t>B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方案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</p:grpSp>
      <p:grpSp>
        <p:nvGrpSpPr>
          <p:cNvPr id="27" name="组 28"/>
          <p:cNvGrpSpPr/>
          <p:nvPr/>
        </p:nvGrpSpPr>
        <p:grpSpPr>
          <a:xfrm>
            <a:off x="1808480" y="5254625"/>
            <a:ext cx="1065530" cy="868680"/>
            <a:chOff x="5504391" y="2084416"/>
            <a:chExt cx="797369" cy="645948"/>
          </a:xfrm>
        </p:grpSpPr>
        <p:sp>
          <p:nvSpPr>
            <p:cNvPr id="28" name="八角星 27"/>
            <p:cNvSpPr/>
            <p:nvPr/>
          </p:nvSpPr>
          <p:spPr>
            <a:xfrm>
              <a:off x="5504391" y="2084416"/>
              <a:ext cx="645948" cy="645948"/>
            </a:xfrm>
            <a:prstGeom prst="star8">
              <a:avLst/>
            </a:prstGeom>
            <a:solidFill>
              <a:srgbClr val="043D5D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tx1"/>
                </a:solidFill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516265" y="2291191"/>
              <a:ext cx="785495" cy="2738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/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方案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8077200" y="422148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房产中介</a:t>
            </a:r>
            <a:endParaRPr lang="zh-CN" altLang="en-US" b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01769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335" y="1155065"/>
            <a:ext cx="3251200" cy="13144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35" y="2779395"/>
            <a:ext cx="5765800" cy="28702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725" y="1306195"/>
            <a:ext cx="5118100" cy="460375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6427470" y="1064260"/>
            <a:ext cx="0" cy="49060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965" y="2175510"/>
            <a:ext cx="4756150" cy="27051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2708275"/>
            <a:ext cx="5308600" cy="1860550"/>
          </a:xfrm>
          <a:prstGeom prst="rect">
            <a:avLst/>
          </a:prstGeom>
        </p:spPr>
      </p:pic>
      <p:grpSp>
        <p:nvGrpSpPr>
          <p:cNvPr id="27" name="组 28"/>
          <p:cNvGrpSpPr/>
          <p:nvPr/>
        </p:nvGrpSpPr>
        <p:grpSpPr>
          <a:xfrm>
            <a:off x="2210435" y="816610"/>
            <a:ext cx="1065530" cy="868680"/>
            <a:chOff x="5504391" y="2084416"/>
            <a:chExt cx="797369" cy="645948"/>
          </a:xfrm>
        </p:grpSpPr>
        <p:sp>
          <p:nvSpPr>
            <p:cNvPr id="28" name="八角星 27"/>
            <p:cNvSpPr/>
            <p:nvPr/>
          </p:nvSpPr>
          <p:spPr>
            <a:xfrm>
              <a:off x="5504391" y="2084416"/>
              <a:ext cx="645948" cy="645948"/>
            </a:xfrm>
            <a:prstGeom prst="star8">
              <a:avLst/>
            </a:prstGeom>
            <a:solidFill>
              <a:srgbClr val="043D5D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tx1"/>
                </a:solidFill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516265" y="2291191"/>
              <a:ext cx="785495" cy="2738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/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方案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</p:grpSp>
      <p:grpSp>
        <p:nvGrpSpPr>
          <p:cNvPr id="29" name="组 28"/>
          <p:cNvGrpSpPr/>
          <p:nvPr/>
        </p:nvGrpSpPr>
        <p:grpSpPr>
          <a:xfrm>
            <a:off x="7692390" y="822325"/>
            <a:ext cx="1065530" cy="868680"/>
            <a:chOff x="5504391" y="2084416"/>
            <a:chExt cx="797369" cy="645948"/>
          </a:xfrm>
        </p:grpSpPr>
        <p:sp>
          <p:nvSpPr>
            <p:cNvPr id="30" name="八角星 29"/>
            <p:cNvSpPr/>
            <p:nvPr/>
          </p:nvSpPr>
          <p:spPr>
            <a:xfrm>
              <a:off x="5504391" y="2084416"/>
              <a:ext cx="645948" cy="645948"/>
            </a:xfrm>
            <a:prstGeom prst="star8">
              <a:avLst/>
            </a:prstGeom>
            <a:solidFill>
              <a:srgbClr val="043D5D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tx1"/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516265" y="2291191"/>
              <a:ext cx="785495" cy="2738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/>
              <a:r>
                <a:rPr lang="en-US" altLang="zh-CN">
                  <a:solidFill>
                    <a:schemeClr val="bg1"/>
                  </a:solidFill>
                  <a:sym typeface="+mn-ea"/>
                </a:rPr>
                <a:t>B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方案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</p:grpSp>
      <p:cxnSp>
        <p:nvCxnSpPr>
          <p:cNvPr id="2" name="直接连接符 1"/>
          <p:cNvCxnSpPr/>
          <p:nvPr/>
        </p:nvCxnSpPr>
        <p:spPr>
          <a:xfrm>
            <a:off x="5754370" y="1100455"/>
            <a:ext cx="0" cy="49060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710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/>
          <a:p>
            <a:r>
              <a:rPr lang="zh-CN" altLang="en-US" dirty="0">
                <a:sym typeface="+mn-ea"/>
              </a:rPr>
              <a:t>组合复用原则</a:t>
            </a:r>
            <a:endParaRPr lang="zh-CN" altLang="en-US" dirty="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45820" y="2213610"/>
            <a:ext cx="4744085" cy="38461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sz="24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继承的缺点：</a:t>
            </a:r>
            <a:endParaRPr sz="24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>
              <a:buFont typeface="Wingdings" panose="05000000000000000000" charset="0"/>
              <a:buChar char=""/>
            </a:pP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继承复用破坏了类的封装性。因为继承会将父类的实现细节暴露给子类，父类对子类是透明的，所以这种复用又称为</a:t>
            </a:r>
            <a:r>
              <a:rPr sz="20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“白箱”复用</a:t>
            </a: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。</a:t>
            </a:r>
            <a:endParaRPr sz="20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>
              <a:buFont typeface="Wingdings" panose="05000000000000000000" charset="0"/>
              <a:buChar char=""/>
            </a:pP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子类与父类的</a:t>
            </a:r>
            <a:r>
              <a:rPr sz="20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耦合度高</a:t>
            </a: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。父类的实现的任何改变都会导致子类的实现发生变化，这不利于类的扩展与维护。</a:t>
            </a:r>
            <a:endParaRPr sz="20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>
              <a:buFont typeface="Wingdings" panose="05000000000000000000" charset="0"/>
              <a:buChar char=""/>
            </a:pP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它限制了复用的灵活性。从父类继承而来的实现是</a:t>
            </a:r>
            <a:r>
              <a:rPr sz="20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静态</a:t>
            </a: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的，在编译时已经定义，所以在运行时不可能发生变化。</a:t>
            </a:r>
            <a:endParaRPr sz="20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89650" y="2257425"/>
            <a:ext cx="5374640" cy="32302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Wingdings" panose="05000000000000000000" charset="0"/>
              <a:buChar char=""/>
            </a:pPr>
            <a:r>
              <a:rPr lang="zh-CN" sz="24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采用组合或聚合的优点：</a:t>
            </a:r>
            <a:endParaRPr sz="24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>
              <a:buFont typeface="Wingdings" panose="05000000000000000000" charset="0"/>
              <a:buChar char=""/>
            </a:pP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它维持了类的封装性。因为</a:t>
            </a:r>
            <a:r>
              <a:rPr lang="zh-CN"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成员</a:t>
            </a: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对象的内部细节是新对象看不见的，所以这种复用又称为</a:t>
            </a:r>
            <a:r>
              <a:rPr sz="20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“黑箱”</a:t>
            </a: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复用。</a:t>
            </a:r>
            <a:endParaRPr sz="20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>
              <a:buFont typeface="Wingdings" panose="05000000000000000000" charset="0"/>
              <a:buChar char=""/>
            </a:pPr>
            <a:r>
              <a:rPr sz="20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新旧类之间的耦合度低</a:t>
            </a: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。这种复用所需的依赖较少，新对象存取</a:t>
            </a:r>
            <a:r>
              <a:rPr lang="zh-CN"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成员</a:t>
            </a: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对象的唯一方法是通过</a:t>
            </a:r>
            <a:r>
              <a:rPr lang="zh-CN"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成员</a:t>
            </a: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对象的接口。</a:t>
            </a:r>
            <a:endParaRPr sz="20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>
              <a:buFont typeface="Wingdings" panose="05000000000000000000" charset="0"/>
              <a:buChar char=""/>
            </a:pP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复用的灵活性高。这种复用可以在运行时动态进行，新对象可以</a:t>
            </a:r>
            <a:r>
              <a:rPr sz="20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动态</a:t>
            </a: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地引用与成</a:t>
            </a:r>
            <a:r>
              <a:rPr lang="zh-CN"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员</a:t>
            </a:r>
            <a:r>
              <a:rPr sz="20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对象类型相同的对象。</a:t>
            </a:r>
            <a:endParaRPr sz="20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7108" name="文本框 1"/>
          <p:cNvSpPr txBox="1"/>
          <p:nvPr/>
        </p:nvSpPr>
        <p:spPr>
          <a:xfrm>
            <a:off x="845820" y="1500505"/>
            <a:ext cx="1061847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342900" indent="-342900">
              <a:buFont typeface="Wingdings" panose="05000000000000000000" charset="0"/>
              <a:buChar char="p"/>
            </a:pPr>
            <a:r>
              <a:rPr lang="zh-CN" altLang="en-US" sz="2400">
                <a:latin typeface="等线" panose="02010600030101010101" charset="-122"/>
                <a:ea typeface="等线" panose="02010600030101010101" charset="-122"/>
              </a:rPr>
              <a:t>定义：尽量采用</a:t>
            </a:r>
            <a:r>
              <a:rPr lang="zh-CN" altLang="en-US" sz="24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组合、聚合</a:t>
            </a:r>
            <a:r>
              <a:rPr lang="zh-CN" altLang="en-US" sz="2400">
                <a:latin typeface="等线" panose="02010600030101010101" charset="-122"/>
                <a:ea typeface="等线" panose="02010600030101010101" charset="-122"/>
              </a:rPr>
              <a:t>的方式而不是继承的方式来达到软件复用的目标</a:t>
            </a:r>
            <a:endParaRPr lang="en-US" altLang="zh-CN" sz="2400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710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/>
          <a:p>
            <a:r>
              <a:rPr lang="zh-CN" altLang="en-US" dirty="0">
                <a:sym typeface="+mn-ea"/>
              </a:rPr>
              <a:t>案例：人驾驶汽车</a:t>
            </a:r>
            <a:endParaRPr lang="zh-CN" altLang="x-none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703195"/>
            <a:ext cx="3644900" cy="33064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3209925"/>
            <a:ext cx="4889500" cy="2292350"/>
          </a:xfrm>
          <a:prstGeom prst="rect">
            <a:avLst/>
          </a:prstGeom>
        </p:spPr>
      </p:pic>
      <p:grpSp>
        <p:nvGrpSpPr>
          <p:cNvPr id="27" name="组 28"/>
          <p:cNvGrpSpPr/>
          <p:nvPr/>
        </p:nvGrpSpPr>
        <p:grpSpPr>
          <a:xfrm>
            <a:off x="2127885" y="1449070"/>
            <a:ext cx="1065530" cy="868680"/>
            <a:chOff x="5504391" y="2084416"/>
            <a:chExt cx="797369" cy="645948"/>
          </a:xfrm>
        </p:grpSpPr>
        <p:sp>
          <p:nvSpPr>
            <p:cNvPr id="28" name="八角星 27"/>
            <p:cNvSpPr/>
            <p:nvPr/>
          </p:nvSpPr>
          <p:spPr>
            <a:xfrm>
              <a:off x="5504391" y="2084416"/>
              <a:ext cx="645948" cy="645948"/>
            </a:xfrm>
            <a:prstGeom prst="star8">
              <a:avLst/>
            </a:prstGeom>
            <a:solidFill>
              <a:srgbClr val="043D5D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tx1"/>
                </a:solidFill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516265" y="2291191"/>
              <a:ext cx="785495" cy="2738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/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方案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</p:grpSp>
      <p:grpSp>
        <p:nvGrpSpPr>
          <p:cNvPr id="29" name="组 28"/>
          <p:cNvGrpSpPr/>
          <p:nvPr/>
        </p:nvGrpSpPr>
        <p:grpSpPr>
          <a:xfrm>
            <a:off x="8776970" y="1477010"/>
            <a:ext cx="1065530" cy="868680"/>
            <a:chOff x="5504391" y="2084416"/>
            <a:chExt cx="797369" cy="645948"/>
          </a:xfrm>
        </p:grpSpPr>
        <p:sp>
          <p:nvSpPr>
            <p:cNvPr id="30" name="八角星 29"/>
            <p:cNvSpPr/>
            <p:nvPr/>
          </p:nvSpPr>
          <p:spPr>
            <a:xfrm>
              <a:off x="5504391" y="2084416"/>
              <a:ext cx="645948" cy="645948"/>
            </a:xfrm>
            <a:prstGeom prst="star8">
              <a:avLst/>
            </a:prstGeom>
            <a:solidFill>
              <a:srgbClr val="043D5D"/>
            </a:solidFill>
            <a:ln w="34925">
              <a:solidFill>
                <a:schemeClr val="bg1"/>
              </a:solidFill>
              <a:prstDash val="solid"/>
              <a:miter/>
            </a:ln>
          </p:spPr>
          <p:txBody>
            <a:bodyPr anchor="ctr"/>
            <a:p>
              <a:pPr algn="ctr"/>
              <a:endParaRPr lang="zh-CN">
                <a:solidFill>
                  <a:schemeClr val="tx1"/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516265" y="2291191"/>
              <a:ext cx="785495" cy="2738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/>
              <a:r>
                <a:rPr lang="en-US" altLang="zh-CN">
                  <a:solidFill>
                    <a:schemeClr val="bg1"/>
                  </a:solidFill>
                  <a:sym typeface="+mn-ea"/>
                </a:rPr>
                <a:t>B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方案</a:t>
              </a:r>
              <a:endParaRPr lang="zh-CN" altLang="en-US" b="1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00" y="1188085"/>
            <a:ext cx="4445000" cy="410210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5448300" y="150495"/>
            <a:ext cx="5699125" cy="2521585"/>
            <a:chOff x="8580" y="237"/>
            <a:chExt cx="8975" cy="3971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80" y="1428"/>
              <a:ext cx="4600" cy="2410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25" y="1058"/>
              <a:ext cx="2730" cy="3150"/>
            </a:xfrm>
            <a:prstGeom prst="rect">
              <a:avLst/>
            </a:prstGeom>
          </p:spPr>
        </p:pic>
        <p:grpSp>
          <p:nvGrpSpPr>
            <p:cNvPr id="11" name="组 9"/>
            <p:cNvGrpSpPr/>
            <p:nvPr/>
          </p:nvGrpSpPr>
          <p:grpSpPr>
            <a:xfrm>
              <a:off x="12674" y="237"/>
              <a:ext cx="1474" cy="1474"/>
              <a:chOff x="5838496" y="272382"/>
              <a:chExt cx="1225685" cy="1225685"/>
            </a:xfrm>
          </p:grpSpPr>
          <p:sp>
            <p:nvSpPr>
              <p:cNvPr id="12" name="三角形 10"/>
              <p:cNvSpPr/>
              <p:nvPr/>
            </p:nvSpPr>
            <p:spPr>
              <a:xfrm rot="10800000">
                <a:off x="5838496" y="272382"/>
                <a:ext cx="1225685" cy="1225685"/>
              </a:xfrm>
              <a:prstGeom prst="triangle">
                <a:avLst/>
              </a:prstGeom>
              <a:solidFill>
                <a:srgbClr val="043D5D"/>
              </a:solidFill>
              <a:ln>
                <a:noFill/>
              </a:ln>
            </p:spPr>
            <p:txBody>
              <a:bodyPr anchor="ctr"/>
              <a:p>
                <a:pPr algn="ctr"/>
                <a:endParaRPr lang="zh-CN" sz="800">
                  <a:solidFill>
                    <a:schemeClr val="lt1"/>
                  </a:solidFill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6031832" y="473350"/>
                <a:ext cx="838322" cy="48236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p>
                <a:r>
                  <a:rPr lang="zh-CN" b="1">
                    <a:solidFill>
                      <a:schemeClr val="bg1"/>
                    </a:solidFill>
                  </a:rPr>
                  <a:t>继承</a:t>
                </a:r>
                <a:endParaRPr lang="zh-CN" b="1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8" name="组合 17"/>
          <p:cNvGrpSpPr/>
          <p:nvPr/>
        </p:nvGrpSpPr>
        <p:grpSpPr>
          <a:xfrm>
            <a:off x="4867910" y="2848610"/>
            <a:ext cx="7324090" cy="3371215"/>
            <a:chOff x="7666" y="4486"/>
            <a:chExt cx="11534" cy="5309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66" y="6282"/>
              <a:ext cx="5670" cy="2900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180" y="5255"/>
              <a:ext cx="6020" cy="4540"/>
            </a:xfrm>
            <a:prstGeom prst="rect">
              <a:avLst/>
            </a:prstGeom>
          </p:spPr>
        </p:pic>
        <p:grpSp>
          <p:nvGrpSpPr>
            <p:cNvPr id="14" name="组 12"/>
            <p:cNvGrpSpPr/>
            <p:nvPr/>
          </p:nvGrpSpPr>
          <p:grpSpPr>
            <a:xfrm>
              <a:off x="10591" y="4486"/>
              <a:ext cx="1474" cy="1474"/>
              <a:chOff x="5838496" y="316736"/>
              <a:chExt cx="1225685" cy="1225685"/>
            </a:xfrm>
          </p:grpSpPr>
          <p:sp>
            <p:nvSpPr>
              <p:cNvPr id="15" name="三角形 13"/>
              <p:cNvSpPr/>
              <p:nvPr/>
            </p:nvSpPr>
            <p:spPr>
              <a:xfrm rot="10800000">
                <a:off x="5838496" y="316736"/>
                <a:ext cx="1225685" cy="1225685"/>
              </a:xfrm>
              <a:prstGeom prst="triangle">
                <a:avLst/>
              </a:prstGeom>
              <a:solidFill>
                <a:srgbClr val="449BB5"/>
              </a:solidFill>
              <a:ln>
                <a:noFill/>
              </a:ln>
            </p:spPr>
            <p:txBody>
              <a:bodyPr anchor="ctr"/>
              <a:p>
                <a:pPr algn="ctr"/>
                <a:endParaRPr lang="zh-CN" sz="800">
                  <a:solidFill>
                    <a:schemeClr val="lt1"/>
                  </a:solidFill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6032664" y="474182"/>
                <a:ext cx="838322" cy="48236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p>
                <a:r>
                  <a:rPr lang="zh-CN" altLang="en-US" b="1">
                    <a:solidFill>
                      <a:schemeClr val="bg1"/>
                    </a:solidFill>
                  </a:rPr>
                  <a:t>聚合</a:t>
                </a:r>
                <a:endParaRPr lang="zh-CN" altLang="en-US" b="1">
                  <a:solidFill>
                    <a:schemeClr val="bg1"/>
                  </a:solidFill>
                </a:endParaRPr>
              </a:p>
            </p:txBody>
          </p:sp>
        </p:grpSp>
      </p:grpSp>
      <p:cxnSp>
        <p:nvCxnSpPr>
          <p:cNvPr id="9" name="直接连接符 8"/>
          <p:cNvCxnSpPr/>
          <p:nvPr/>
        </p:nvCxnSpPr>
        <p:spPr>
          <a:xfrm>
            <a:off x="4699000" y="198120"/>
            <a:ext cx="0" cy="5853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4989830" y="2715260"/>
            <a:ext cx="68211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6475" y="1414780"/>
            <a:ext cx="7639685" cy="40284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132705" y="1948815"/>
            <a:ext cx="19291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4800" b="1" spc="-150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FIVE</a:t>
            </a:r>
            <a:endParaRPr kumimoji="1" lang="en-US" altLang="zh-CN" sz="4800" b="1" spc="-150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67125" y="3154045"/>
            <a:ext cx="48596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5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设计模式</a:t>
            </a:r>
            <a:endParaRPr kumimoji="1" lang="zh-CN" altLang="en-US" sz="5400" b="1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726940" y="2778760"/>
            <a:ext cx="2738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83945" y="1453515"/>
            <a:ext cx="10727055" cy="1137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FF0000"/>
                </a:solidFill>
              </a:rPr>
              <a:t>设计模式</a:t>
            </a:r>
            <a:r>
              <a:rPr lang="zh-CN" altLang="en-US" sz="2000"/>
              <a:t>是一套被反复使用的、多数人知晓的、经过分类编目的、代码设计经验的总结。是用来</a:t>
            </a:r>
            <a:r>
              <a:rPr lang="zh-CN" altLang="en-US" sz="2000" b="1">
                <a:solidFill>
                  <a:srgbClr val="FF0000"/>
                </a:solidFill>
              </a:rPr>
              <a:t>解决重复利用的解决方案</a:t>
            </a:r>
            <a:r>
              <a:rPr lang="zh-CN" altLang="en-US" sz="2000"/>
              <a:t>，可以对之后的问题进行简单的修改、降低成本来进行使用，设计模式要为了使设计适应变化，并且要保持流畅、简单和持续性。</a:t>
            </a:r>
            <a:endParaRPr lang="zh-CN" altLang="en-US" sz="2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2018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51202" name="内容占位符 1"/>
          <p:cNvSpPr>
            <a:spLocks noGrp="1"/>
          </p:cNvSpPr>
          <p:nvPr>
            <p:ph idx="1"/>
          </p:nvPr>
        </p:nvSpPr>
        <p:spPr>
          <a:xfrm>
            <a:off x="771525" y="1943100"/>
            <a:ext cx="9709150" cy="3686175"/>
          </a:xfrm>
        </p:spPr>
        <p:txBody>
          <a:bodyPr anchor="t"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"/>
            </a:pPr>
            <a:r>
              <a:rPr kumimoji="0" lang="zh-CN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分类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endParaRPr kumimoji="0" lang="en-US" altLang="zh-CN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p"/>
            </a:pPr>
            <a:r>
              <a:rPr kumimoji="0" lang="zh-CN" altLang="zh-CN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创建型设计模式</a:t>
            </a:r>
            <a:r>
              <a:rPr kumimoji="0" lang="en-US" altLang="zh-CN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5</a:t>
            </a:r>
            <a:r>
              <a:rPr kumimoji="0" lang="zh-CN" altLang="zh-CN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：主要用于描述如何创建对象</a:t>
            </a:r>
            <a:endParaRPr kumimoji="0" lang="zh-CN" altLang="zh-CN" sz="20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p"/>
            </a:pPr>
            <a:r>
              <a:rPr kumimoji="0" lang="zh-CN" altLang="zh-CN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结构型设计模式</a:t>
            </a:r>
            <a:r>
              <a:rPr kumimoji="0" lang="en-US" altLang="zh-CN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7</a:t>
            </a:r>
            <a:r>
              <a:rPr kumimoji="0" lang="zh-CN" altLang="zh-CN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：主要用于描述如何实现类和对象的组合</a:t>
            </a:r>
            <a:endParaRPr kumimoji="0" lang="zh-CN" altLang="zh-CN" sz="20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p"/>
            </a:pPr>
            <a:r>
              <a:rPr kumimoji="0" lang="zh-CN" altLang="zh-CN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行为型设计模式</a:t>
            </a:r>
            <a:r>
              <a:rPr kumimoji="0" lang="en-US" altLang="zh-CN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</a:t>
            </a:r>
            <a:r>
              <a:rPr kumimoji="0" lang="zh-CN" altLang="zh-CN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：主要用于描述类或对象怎样交互以及怎样分配职责</a:t>
            </a:r>
            <a:endParaRPr kumimoji="0" lang="zh-CN" altLang="zh-CN" sz="20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710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/>
          <a:p>
            <a:r>
              <a:rPr lang="en-US" altLang="zh-CN" dirty="0">
                <a:sym typeface="+mn-ea"/>
              </a:rPr>
              <a:t>23</a:t>
            </a:r>
            <a:r>
              <a:rPr lang="zh-CN" altLang="en-US" dirty="0">
                <a:sym typeface="+mn-ea"/>
              </a:rPr>
              <a:t>种</a:t>
            </a:r>
            <a:r>
              <a:rPr lang="zh-CN" altLang="en-US" dirty="0">
                <a:sym typeface="+mn-ea"/>
              </a:rPr>
              <a:t>设计模式分类</a:t>
            </a:r>
            <a:endParaRPr lang="zh-CN" altLang="x-none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2653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52225" name="标题 3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zh-CN" altLang="en-US">
                <a:solidFill>
                  <a:srgbClr val="FF0000"/>
                </a:solidFill>
              </a:rPr>
              <a:t>创建型</a:t>
            </a:r>
            <a:r>
              <a:rPr lang="zh-CN" altLang="en-US"/>
              <a:t>设计模式</a:t>
            </a:r>
            <a:endParaRPr lang="zh-CN" altLang="en-US"/>
          </a:p>
        </p:txBody>
      </p:sp>
      <p:pic>
        <p:nvPicPr>
          <p:cNvPr id="52226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87525" y="1581150"/>
            <a:ext cx="7358380" cy="392430"/>
          </a:xfrm>
        </p:spPr>
      </p:pic>
      <p:pic>
        <p:nvPicPr>
          <p:cNvPr id="52227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525" y="1964055"/>
            <a:ext cx="7357745" cy="38188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2018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54273" name="标题 3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zh-CN" altLang="en-US">
                <a:solidFill>
                  <a:srgbClr val="FF0000"/>
                </a:solidFill>
              </a:rPr>
              <a:t>结构型</a:t>
            </a:r>
            <a:r>
              <a:rPr lang="zh-CN" altLang="en-US"/>
              <a:t>设计模式</a:t>
            </a:r>
            <a:endParaRPr lang="zh-CN" altLang="en-US"/>
          </a:p>
        </p:txBody>
      </p:sp>
      <p:pic>
        <p:nvPicPr>
          <p:cNvPr id="5427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64510" y="1588770"/>
            <a:ext cx="6429375" cy="342900"/>
          </a:xfrm>
        </p:spPr>
      </p:pic>
      <p:pic>
        <p:nvPicPr>
          <p:cNvPr id="54275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510" y="1931670"/>
            <a:ext cx="6429375" cy="3933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5955" y="620395"/>
            <a:ext cx="10879455" cy="585025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56321" name="标题 3"/>
          <p:cNvSpPr>
            <a:spLocks noGrp="1"/>
          </p:cNvSpPr>
          <p:nvPr>
            <p:ph type="title"/>
          </p:nvPr>
        </p:nvSpPr>
        <p:spPr>
          <a:xfrm>
            <a:off x="837565" y="285115"/>
            <a:ext cx="10515600" cy="1325563"/>
          </a:xfrm>
        </p:spPr>
        <p:txBody>
          <a:bodyPr anchor="ctr"/>
          <a:p>
            <a:r>
              <a:rPr lang="zh-CN" altLang="en-US">
                <a:solidFill>
                  <a:srgbClr val="FF0000"/>
                </a:solidFill>
              </a:rPr>
              <a:t>行为型</a:t>
            </a:r>
            <a:r>
              <a:rPr lang="zh-CN" altLang="en-US" dirty="0"/>
              <a:t>设计</a:t>
            </a:r>
            <a:r>
              <a:rPr lang="zh-CN" altLang="en-US"/>
              <a:t>模式</a:t>
            </a:r>
            <a:endParaRPr lang="zh-CN" altLang="en-US"/>
          </a:p>
        </p:txBody>
      </p:sp>
      <p:pic>
        <p:nvPicPr>
          <p:cNvPr id="56322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86230" y="1216025"/>
            <a:ext cx="6282055" cy="271145"/>
          </a:xfrm>
        </p:spPr>
      </p:pic>
      <p:pic>
        <p:nvPicPr>
          <p:cNvPr id="5632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230" y="1487170"/>
            <a:ext cx="6269990" cy="45288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710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/>
          <a:p>
            <a:r>
              <a:rPr lang="zh-CN" altLang="zh-CN" dirty="0"/>
              <a:t>重点讲解</a:t>
            </a:r>
            <a:endParaRPr lang="zh-CN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2197735" y="2651760"/>
            <a:ext cx="20999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Wingdings" panose="05000000000000000000" charset="0"/>
              <a:buChar char="p"/>
            </a:pPr>
            <a:r>
              <a:rPr lang="zh-CN" altLang="en-US" sz="2800"/>
              <a:t>工厂模式</a:t>
            </a:r>
            <a:endParaRPr lang="zh-CN" altLang="en-US" sz="2800"/>
          </a:p>
        </p:txBody>
      </p:sp>
      <p:sp>
        <p:nvSpPr>
          <p:cNvPr id="6" name="文本框 5"/>
          <p:cNvSpPr txBox="1"/>
          <p:nvPr/>
        </p:nvSpPr>
        <p:spPr>
          <a:xfrm>
            <a:off x="5640070" y="2651760"/>
            <a:ext cx="29749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Wingdings" panose="05000000000000000000" charset="0"/>
              <a:buChar char="p"/>
            </a:pPr>
            <a:r>
              <a:rPr lang="zh-CN" altLang="en-US" sz="2800"/>
              <a:t>观察者模式</a:t>
            </a:r>
            <a:endParaRPr lang="zh-CN" altLang="en-US" sz="2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801" y="62018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73785" y="3990975"/>
            <a:ext cx="823595" cy="7131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4507865" y="3915410"/>
            <a:ext cx="863600" cy="7131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正五边形 7"/>
          <p:cNvSpPr/>
          <p:nvPr/>
        </p:nvSpPr>
        <p:spPr>
          <a:xfrm>
            <a:off x="2790825" y="3915410"/>
            <a:ext cx="981075" cy="863600"/>
          </a:xfrm>
          <a:prstGeom prst="pentag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073785" y="5120640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/>
              <a:t>苹果</a:t>
            </a:r>
            <a:endParaRPr lang="zh-CN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3061970" y="5220970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/>
              <a:t>菠萝</a:t>
            </a:r>
            <a:endParaRPr lang="zh-CN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19625" y="5220970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/>
              <a:t>西瓜</a:t>
            </a:r>
            <a:endParaRPr lang="zh-CN" altLang="zh-CN"/>
          </a:p>
        </p:txBody>
      </p:sp>
      <p:sp>
        <p:nvSpPr>
          <p:cNvPr id="13" name="圆柱形 12"/>
          <p:cNvSpPr/>
          <p:nvPr/>
        </p:nvSpPr>
        <p:spPr>
          <a:xfrm>
            <a:off x="1073785" y="913130"/>
            <a:ext cx="640080" cy="8134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柱形 13"/>
          <p:cNvSpPr/>
          <p:nvPr/>
        </p:nvSpPr>
        <p:spPr>
          <a:xfrm>
            <a:off x="2663825" y="913130"/>
            <a:ext cx="640080" cy="8134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柱形 14"/>
          <p:cNvSpPr/>
          <p:nvPr/>
        </p:nvSpPr>
        <p:spPr>
          <a:xfrm>
            <a:off x="4253230" y="913130"/>
            <a:ext cx="640080" cy="8134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663825" y="5869940"/>
            <a:ext cx="2861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中国          </a:t>
            </a:r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238365" y="4065905"/>
            <a:ext cx="823595" cy="7131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10672445" y="3990340"/>
            <a:ext cx="863600" cy="7131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正五边形 18"/>
          <p:cNvSpPr/>
          <p:nvPr/>
        </p:nvSpPr>
        <p:spPr>
          <a:xfrm>
            <a:off x="8955405" y="3990340"/>
            <a:ext cx="981075" cy="863600"/>
          </a:xfrm>
          <a:prstGeom prst="pentag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238365" y="5195570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/>
              <a:t>苹果</a:t>
            </a:r>
            <a:endParaRPr lang="zh-CN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9226550" y="5295900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/>
              <a:t>菠萝</a:t>
            </a:r>
            <a:endParaRPr lang="zh-CN" altLang="zh-CN"/>
          </a:p>
        </p:txBody>
      </p:sp>
      <p:sp>
        <p:nvSpPr>
          <p:cNvPr id="22" name="文本框 21"/>
          <p:cNvSpPr txBox="1"/>
          <p:nvPr/>
        </p:nvSpPr>
        <p:spPr>
          <a:xfrm>
            <a:off x="10784205" y="5295900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/>
              <a:t>西瓜</a:t>
            </a:r>
            <a:endParaRPr lang="zh-CN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9087485" y="5851525"/>
            <a:ext cx="1144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非洲       </a:t>
            </a:r>
            <a:endParaRPr lang="zh-CN" altLang="en-US"/>
          </a:p>
        </p:txBody>
      </p:sp>
      <p:sp>
        <p:nvSpPr>
          <p:cNvPr id="24" name="圆柱形 23"/>
          <p:cNvSpPr/>
          <p:nvPr/>
        </p:nvSpPr>
        <p:spPr>
          <a:xfrm>
            <a:off x="7497445" y="1020445"/>
            <a:ext cx="640080" cy="8134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圆柱形 24"/>
          <p:cNvSpPr/>
          <p:nvPr/>
        </p:nvSpPr>
        <p:spPr>
          <a:xfrm>
            <a:off x="9087485" y="1020445"/>
            <a:ext cx="640080" cy="8134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圆柱形 25"/>
          <p:cNvSpPr/>
          <p:nvPr/>
        </p:nvSpPr>
        <p:spPr>
          <a:xfrm>
            <a:off x="10676890" y="1020445"/>
            <a:ext cx="640080" cy="8134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5325745" y="391160"/>
            <a:ext cx="2011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工厂类数量会飙升</a:t>
            </a:r>
            <a:endParaRPr lang="zh-CN" altLang="en-US"/>
          </a:p>
        </p:txBody>
      </p:sp>
      <p:sp>
        <p:nvSpPr>
          <p:cNvPr id="28" name="云形 27"/>
          <p:cNvSpPr/>
          <p:nvPr/>
        </p:nvSpPr>
        <p:spPr>
          <a:xfrm>
            <a:off x="2465070" y="2469515"/>
            <a:ext cx="1038225" cy="702945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云形 28"/>
          <p:cNvSpPr/>
          <p:nvPr/>
        </p:nvSpPr>
        <p:spPr>
          <a:xfrm>
            <a:off x="8955405" y="2399030"/>
            <a:ext cx="1038225" cy="702945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" name="椭圆 1"/>
          <p:cNvSpPr/>
          <p:nvPr/>
        </p:nvSpPr>
        <p:spPr>
          <a:xfrm>
            <a:off x="8007350" y="150114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婴儿</a:t>
            </a:r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8007350" y="3457575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护士</a:t>
            </a:r>
            <a:endParaRPr lang="zh-CN" altLang="en-US"/>
          </a:p>
        </p:txBody>
      </p:sp>
      <p:sp>
        <p:nvSpPr>
          <p:cNvPr id="7" name="菱形 6"/>
          <p:cNvSpPr/>
          <p:nvPr/>
        </p:nvSpPr>
        <p:spPr>
          <a:xfrm>
            <a:off x="2966720" y="2202180"/>
            <a:ext cx="914400" cy="9144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门铃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452880" y="3289300"/>
            <a:ext cx="4754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门铃被按响的时候，婴儿和护士执行什么操作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62990" y="791845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/>
              <a:t>观察者模式</a:t>
            </a:r>
            <a:endParaRPr lang="zh-CN" altLang="en-US" sz="32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6475" y="1414780"/>
            <a:ext cx="7639685" cy="40284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417820" y="1948815"/>
            <a:ext cx="13582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4800" b="1" spc="-150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SIX</a:t>
            </a:r>
            <a:endParaRPr kumimoji="1" lang="en-US" altLang="zh-CN" sz="4800" b="1" spc="-150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11980" y="3140075"/>
            <a:ext cx="33674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5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举例子</a:t>
            </a:r>
            <a:endParaRPr kumimoji="1" lang="zh-CN" altLang="en-US" sz="5400" b="1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072380" y="2778760"/>
            <a:ext cx="204914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08025"/>
            <a:ext cx="10515600" cy="858520"/>
          </a:xfrm>
        </p:spPr>
        <p:txBody>
          <a:bodyPr/>
          <a:p>
            <a:r>
              <a:rPr lang="en-US" altLang="zh-CN"/>
              <a:t>Linux</a:t>
            </a:r>
            <a:r>
              <a:rPr lang="zh-CN" altLang="en-US"/>
              <a:t>下</a:t>
            </a:r>
            <a:r>
              <a:rPr lang="en-US" altLang="zh-CN"/>
              <a:t>pthread</a:t>
            </a:r>
            <a:r>
              <a:rPr lang="zh-CN" altLang="en-US"/>
              <a:t>线程的</a:t>
            </a:r>
            <a:r>
              <a:rPr lang="zh-CN" altLang="en-US"/>
              <a:t>封装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6395" y="1871345"/>
            <a:ext cx="6449060" cy="442277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99745"/>
            <a:ext cx="10515600" cy="1325563"/>
          </a:xfrm>
        </p:spPr>
        <p:txBody>
          <a:bodyPr/>
          <a:p>
            <a:r>
              <a:rPr lang="en-US" altLang="zh-CN" sz="4000"/>
              <a:t>Thread</a:t>
            </a:r>
            <a:r>
              <a:rPr lang="zh-CN" altLang="en-US" sz="4000"/>
              <a:t>类中的</a:t>
            </a:r>
            <a:r>
              <a:rPr lang="en-US" altLang="zh-CN" sz="4000"/>
              <a:t>run</a:t>
            </a:r>
            <a:r>
              <a:rPr lang="zh-CN" altLang="en-US" sz="4000"/>
              <a:t>方法是否应该设置为</a:t>
            </a:r>
            <a:r>
              <a:rPr lang="en-US" altLang="zh-CN" sz="4000"/>
              <a:t>public?</a:t>
            </a:r>
            <a:endParaRPr lang="en-US" altLang="zh-CN" sz="4000"/>
          </a:p>
        </p:txBody>
      </p:sp>
      <p:sp>
        <p:nvSpPr>
          <p:cNvPr id="5" name="内容占位符 4"/>
          <p:cNvSpPr/>
          <p:nvPr>
            <p:ph idx="1"/>
          </p:nvPr>
        </p:nvSpPr>
        <p:spPr/>
        <p:txBody>
          <a:bodyPr/>
          <a:p>
            <a:r>
              <a:rPr lang="zh-CN" altLang="en-US"/>
              <a:t>如果为</a:t>
            </a:r>
            <a:r>
              <a:rPr lang="en-US" altLang="zh-CN"/>
              <a:t>public</a:t>
            </a:r>
            <a:r>
              <a:rPr lang="zh-CN" altLang="en-US"/>
              <a:t>的，就意味着可以在类之外直接调用。而我们设计出来是希望该方法在子线程运行的。所以应该将其设计为</a:t>
            </a:r>
            <a:r>
              <a:rPr lang="en-US" altLang="zh-CN"/>
              <a:t>private</a:t>
            </a:r>
            <a:r>
              <a:rPr lang="zh-CN" altLang="en-US"/>
              <a:t>的。</a:t>
            </a:r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99745"/>
            <a:ext cx="10515600" cy="1325563"/>
          </a:xfrm>
        </p:spPr>
        <p:txBody>
          <a:bodyPr/>
          <a:p>
            <a:r>
              <a:rPr lang="en-US" altLang="zh-CN" sz="4000"/>
              <a:t>Thread</a:t>
            </a:r>
            <a:r>
              <a:rPr lang="zh-CN" altLang="en-US" sz="4000"/>
              <a:t>类中的</a:t>
            </a:r>
            <a:r>
              <a:rPr lang="en-US" altLang="zh-CN" sz="4000"/>
              <a:t>threadFunc</a:t>
            </a:r>
            <a:r>
              <a:rPr lang="zh-CN" altLang="en-US" sz="4000"/>
              <a:t>方法是否应该设置为</a:t>
            </a:r>
            <a:r>
              <a:rPr lang="en-US" altLang="zh-CN" sz="4000"/>
              <a:t>public?</a:t>
            </a:r>
            <a:endParaRPr lang="en-US" altLang="zh-CN" sz="4000"/>
          </a:p>
        </p:txBody>
      </p:sp>
      <p:sp>
        <p:nvSpPr>
          <p:cNvPr id="5" name="内容占位符 4"/>
          <p:cNvSpPr/>
          <p:nvPr>
            <p:ph idx="1"/>
          </p:nvPr>
        </p:nvSpPr>
        <p:spPr/>
        <p:txBody>
          <a:bodyPr/>
          <a:p>
            <a:r>
              <a:rPr lang="zh-CN" altLang="en-US"/>
              <a:t>同样的道理，</a:t>
            </a:r>
            <a:r>
              <a:rPr lang="en-US" altLang="zh-CN"/>
              <a:t>threadFunc</a:t>
            </a:r>
            <a:r>
              <a:rPr lang="zh-CN" altLang="en-US"/>
              <a:t>也不应该设计成</a:t>
            </a:r>
            <a:r>
              <a:rPr lang="en-US" altLang="zh-CN"/>
              <a:t>public</a:t>
            </a:r>
            <a:r>
              <a:rPr lang="zh-CN" altLang="en-US"/>
              <a:t>，应该为</a:t>
            </a:r>
            <a:r>
              <a:rPr lang="en-US" altLang="zh-CN"/>
              <a:t>private</a:t>
            </a:r>
            <a:r>
              <a:rPr lang="zh-CN" altLang="en-US"/>
              <a:t>。因为它是子线程的入口函数，不希望它通过</a:t>
            </a:r>
            <a:r>
              <a:rPr lang="en-US" altLang="zh-CN"/>
              <a:t>Thread</a:t>
            </a:r>
            <a:r>
              <a:rPr lang="zh-CN" altLang="en-US"/>
              <a:t>类名直接调用</a:t>
            </a:r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5293995" y="984885"/>
            <a:ext cx="5234305" cy="24390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665095" y="1537335"/>
            <a:ext cx="1661795" cy="71691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tx1"/>
                </a:solidFill>
              </a:rPr>
              <a:t>生产者</a:t>
            </a:r>
            <a:endParaRPr lang="zh-CN" altLang="en-US" sz="3200" b="1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293995" y="5175885"/>
            <a:ext cx="1651635" cy="7162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tx1"/>
                </a:solidFill>
                <a:sym typeface="+mn-ea"/>
              </a:rPr>
              <a:t>消费者</a:t>
            </a:r>
            <a:r>
              <a:rPr lang="en-US" altLang="zh-CN" sz="3200" b="1">
                <a:solidFill>
                  <a:schemeClr val="tx1"/>
                </a:solidFill>
                <a:sym typeface="+mn-ea"/>
              </a:rPr>
              <a:t>1</a:t>
            </a:r>
            <a:endParaRPr lang="en-US" altLang="zh-CN" sz="32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339455" y="5156835"/>
            <a:ext cx="1850390" cy="7277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tx1"/>
                </a:solidFill>
                <a:sym typeface="+mn-ea"/>
              </a:rPr>
              <a:t>消费者</a:t>
            </a:r>
            <a:r>
              <a:rPr lang="en-US" altLang="zh-CN" sz="3200" b="1">
                <a:solidFill>
                  <a:schemeClr val="tx1"/>
                </a:solidFill>
                <a:sym typeface="+mn-ea"/>
              </a:rPr>
              <a:t>2</a:t>
            </a:r>
            <a:endParaRPr lang="zh-CN" altLang="en-US" sz="3200"/>
          </a:p>
        </p:txBody>
      </p:sp>
      <p:sp>
        <p:nvSpPr>
          <p:cNvPr id="9" name="菱形 8"/>
          <p:cNvSpPr/>
          <p:nvPr/>
        </p:nvSpPr>
        <p:spPr>
          <a:xfrm>
            <a:off x="6885940" y="2632710"/>
            <a:ext cx="1433195" cy="1552575"/>
          </a:xfrm>
          <a:prstGeom prst="diamond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tx1"/>
                </a:solidFill>
              </a:rPr>
              <a:t>锁</a:t>
            </a:r>
            <a:endParaRPr lang="zh-CN" altLang="en-US" sz="3200" b="1">
              <a:solidFill>
                <a:schemeClr val="tx1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326890" y="1761490"/>
            <a:ext cx="936625" cy="26860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下箭头 10"/>
          <p:cNvSpPr/>
          <p:nvPr/>
        </p:nvSpPr>
        <p:spPr>
          <a:xfrm>
            <a:off x="9045575" y="3424555"/>
            <a:ext cx="199390" cy="1731645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下箭头 11"/>
          <p:cNvSpPr/>
          <p:nvPr/>
        </p:nvSpPr>
        <p:spPr>
          <a:xfrm>
            <a:off x="6020435" y="3423920"/>
            <a:ext cx="199390" cy="1731645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对角圆角矩形 12"/>
          <p:cNvSpPr/>
          <p:nvPr/>
        </p:nvSpPr>
        <p:spPr>
          <a:xfrm>
            <a:off x="8278495" y="1259205"/>
            <a:ext cx="1115060" cy="1602105"/>
          </a:xfrm>
          <a:prstGeom prst="round2Diag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 b="1">
                <a:solidFill>
                  <a:schemeClr val="tx1"/>
                </a:solidFill>
              </a:rPr>
              <a:t>cond</a:t>
            </a:r>
            <a:endParaRPr lang="en-US" altLang="zh-CN" sz="2800" b="1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653270" y="1323340"/>
            <a:ext cx="567055" cy="39814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1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632950" y="1940560"/>
            <a:ext cx="567055" cy="39814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2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403340" y="301625"/>
            <a:ext cx="30162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仓库（缓冲区）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椭圆 4"/>
          <p:cNvSpPr/>
          <p:nvPr/>
        </p:nvSpPr>
        <p:spPr>
          <a:xfrm>
            <a:off x="1969135" y="1582420"/>
            <a:ext cx="497840" cy="4476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 rot="20880000">
            <a:off x="2146300" y="2277110"/>
            <a:ext cx="497840" cy="4476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983980" y="1689735"/>
            <a:ext cx="497840" cy="4476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8087995" y="1689735"/>
            <a:ext cx="497840" cy="4476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882265" y="1689735"/>
            <a:ext cx="497840" cy="4476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929765" y="1094740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生产者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190230" y="1094740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消费者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492750" y="4140200"/>
            <a:ext cx="2219960" cy="11645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仓库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492750" y="5842635"/>
            <a:ext cx="14592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缓冲区</a:t>
            </a:r>
            <a:r>
              <a:rPr lang="en-US" altLang="zh-CN"/>
              <a:t>(</a:t>
            </a:r>
            <a:r>
              <a:rPr lang="zh-CN" altLang="en-US"/>
              <a:t>容器</a:t>
            </a:r>
            <a:r>
              <a:rPr lang="en-US" altLang="zh-CN"/>
              <a:t>)</a:t>
            </a:r>
            <a:endParaRPr lang="en-US" altLang="zh-CN"/>
          </a:p>
        </p:txBody>
      </p:sp>
      <p:cxnSp>
        <p:nvCxnSpPr>
          <p:cNvPr id="14" name="直接箭头连接符 13"/>
          <p:cNvCxnSpPr/>
          <p:nvPr/>
        </p:nvCxnSpPr>
        <p:spPr>
          <a:xfrm>
            <a:off x="3133725" y="2398395"/>
            <a:ext cx="2359025" cy="16421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7712710" y="2398395"/>
            <a:ext cx="873125" cy="146304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3452495" y="3124835"/>
            <a:ext cx="6584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push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777605" y="2771775"/>
            <a:ext cx="5765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pop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2616200" y="10947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（</a:t>
            </a:r>
            <a:r>
              <a:rPr lang="zh-CN" altLang="en-US"/>
              <a:t>线程）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983980" y="10947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（线程）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294245" y="584263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临界</a:t>
            </a:r>
            <a:r>
              <a:rPr lang="zh-CN" altLang="en-US"/>
              <a:t>资源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247650" y="3493135"/>
            <a:ext cx="17926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class TaskQueue</a:t>
            </a:r>
            <a:endParaRPr lang="en-US" altLang="zh-CN"/>
          </a:p>
          <a:p>
            <a:r>
              <a:rPr lang="en-US" altLang="zh-CN"/>
              <a:t>{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26" name="文本框 25"/>
          <p:cNvSpPr txBox="1"/>
          <p:nvPr/>
        </p:nvSpPr>
        <p:spPr>
          <a:xfrm>
            <a:off x="247650" y="5304790"/>
            <a:ext cx="299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};</a:t>
            </a:r>
            <a:endParaRPr lang="en-US" altLang="zh-CN"/>
          </a:p>
        </p:txBody>
      </p:sp>
      <p:sp>
        <p:nvSpPr>
          <p:cNvPr id="27" name="文本框 26"/>
          <p:cNvSpPr txBox="1"/>
          <p:nvPr/>
        </p:nvSpPr>
        <p:spPr>
          <a:xfrm>
            <a:off x="3452495" y="5370195"/>
            <a:ext cx="15748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void push(int);</a:t>
            </a:r>
            <a:endParaRPr lang="en-US" altLang="zh-CN"/>
          </a:p>
        </p:txBody>
      </p:sp>
      <p:sp>
        <p:nvSpPr>
          <p:cNvPr id="28" name="文本框 27"/>
          <p:cNvSpPr txBox="1"/>
          <p:nvPr/>
        </p:nvSpPr>
        <p:spPr>
          <a:xfrm>
            <a:off x="3452495" y="5842635"/>
            <a:ext cx="10725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int pop();</a:t>
            </a:r>
            <a:endParaRPr lang="en-US" altLang="zh-CN"/>
          </a:p>
        </p:txBody>
      </p:sp>
      <p:sp>
        <p:nvSpPr>
          <p:cNvPr id="29" name="文本框 28"/>
          <p:cNvSpPr txBox="1"/>
          <p:nvPr/>
        </p:nvSpPr>
        <p:spPr>
          <a:xfrm>
            <a:off x="3452495" y="4661535"/>
            <a:ext cx="14947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bool empty();</a:t>
            </a:r>
            <a:endParaRPr lang="en-US" altLang="zh-CN"/>
          </a:p>
        </p:txBody>
      </p:sp>
      <p:sp>
        <p:nvSpPr>
          <p:cNvPr id="30" name="文本框 29"/>
          <p:cNvSpPr txBox="1"/>
          <p:nvPr/>
        </p:nvSpPr>
        <p:spPr>
          <a:xfrm>
            <a:off x="3452495" y="5029835"/>
            <a:ext cx="11696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bool full();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257175" y="2756535"/>
            <a:ext cx="1783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阻塞式任务队列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6245" y="4040505"/>
            <a:ext cx="269748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size_t queSize;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queue&lt;int&gt; que;</a:t>
            </a:r>
            <a:endParaRPr lang="en-US" altLang="zh-CN"/>
          </a:p>
          <a:p>
            <a:r>
              <a:rPr lang="en-US" altLang="zh-CN">
                <a:sym typeface="+mn-ea"/>
              </a:rPr>
              <a:t>MutexLock mutex;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Condition notFull;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Condition notEmpty</a:t>
            </a:r>
            <a:r>
              <a:rPr lang="zh-CN" altLang="en-US">
                <a:sym typeface="+mn-ea"/>
              </a:rPr>
              <a:t>；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65175"/>
            <a:ext cx="10515600" cy="828675"/>
          </a:xfrm>
        </p:spPr>
        <p:txBody>
          <a:bodyPr/>
          <a:p>
            <a:r>
              <a:rPr lang="zh-CN" altLang="en-US"/>
              <a:t>生产者消费者</a:t>
            </a:r>
            <a:r>
              <a:rPr lang="zh-CN" altLang="en-US"/>
              <a:t>问题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2725" y="1548130"/>
            <a:ext cx="6686550" cy="530987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02285"/>
            <a:ext cx="10515600" cy="1325563"/>
          </a:xfrm>
        </p:spPr>
        <p:txBody>
          <a:bodyPr/>
          <a:p>
            <a:r>
              <a:rPr lang="zh-CN" altLang="en-US"/>
              <a:t>对互斥锁进行保护，防止发生死锁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3250" y="2019300"/>
            <a:ext cx="4597400" cy="34131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265" y="2019300"/>
            <a:ext cx="5448300" cy="33578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40765" y="1468755"/>
            <a:ext cx="148780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利用</a:t>
            </a:r>
            <a:r>
              <a:rPr lang="en-US" altLang="zh-CN">
                <a:solidFill>
                  <a:srgbClr val="FF0000"/>
                </a:solidFill>
              </a:rPr>
              <a:t>RAII</a:t>
            </a:r>
            <a:r>
              <a:rPr lang="zh-CN" altLang="en-US">
                <a:solidFill>
                  <a:srgbClr val="FF0000"/>
                </a:solidFill>
              </a:rPr>
              <a:t>技术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5665" y="584835"/>
            <a:ext cx="10515600" cy="1019175"/>
          </a:xfrm>
        </p:spPr>
        <p:txBody>
          <a:bodyPr/>
          <a:p>
            <a:r>
              <a:rPr lang="zh-CN" altLang="en-US" sz="4000"/>
              <a:t>条件变量的</a:t>
            </a:r>
            <a:r>
              <a:rPr lang="en-US" altLang="zh-CN" sz="4000"/>
              <a:t>notify</a:t>
            </a:r>
            <a:r>
              <a:rPr lang="zh-CN" altLang="en-US" sz="4000"/>
              <a:t>操作如果唤醒了多个子线程</a:t>
            </a:r>
            <a:endParaRPr lang="zh-CN" altLang="en-US" sz="40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假设生产者线程往队列中添加了一个数据，但是唤醒了</a:t>
            </a:r>
            <a:r>
              <a:rPr lang="en-US" altLang="zh-CN"/>
              <a:t>2</a:t>
            </a:r>
            <a:r>
              <a:rPr lang="zh-CN" altLang="en-US"/>
              <a:t>个消费者子线程。第一个消费者线程是可以正常拿到数据的。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007995"/>
            <a:ext cx="4805680" cy="35674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807835" y="3302635"/>
            <a:ext cx="47548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而第二个消费者线程正常情况下应该阻塞的，</a:t>
            </a:r>
            <a:endParaRPr lang="zh-CN" altLang="en-US"/>
          </a:p>
          <a:p>
            <a:r>
              <a:rPr lang="zh-CN" altLang="en-US"/>
              <a:t>但还是会往下走，依然会去执行获取队列</a:t>
            </a:r>
            <a:endParaRPr lang="zh-CN" altLang="en-US"/>
          </a:p>
          <a:p>
            <a:r>
              <a:rPr lang="zh-CN" altLang="en-US"/>
              <a:t>头部元素的操作。这里会发生错误。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807835" y="4577715"/>
            <a:ext cx="4297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这种现象被称为</a:t>
            </a:r>
            <a:r>
              <a:rPr lang="zh-CN" altLang="en-US" b="1">
                <a:solidFill>
                  <a:srgbClr val="FF0000"/>
                </a:solidFill>
              </a:rPr>
              <a:t>虚假唤醒（面试常考点）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07835" y="5344160"/>
            <a:ext cx="42773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为了解决该问题，将</a:t>
            </a:r>
            <a:r>
              <a:rPr lang="en-US" altLang="zh-CN">
                <a:solidFill>
                  <a:srgbClr val="FF0000"/>
                </a:solidFill>
              </a:rPr>
              <a:t>if</a:t>
            </a:r>
            <a:r>
              <a:rPr lang="zh-CN" altLang="en-US"/>
              <a:t>换成</a:t>
            </a:r>
            <a:r>
              <a:rPr lang="en-US" altLang="zh-CN" b="1">
                <a:solidFill>
                  <a:srgbClr val="FF0000"/>
                </a:solidFill>
              </a:rPr>
              <a:t>while</a:t>
            </a:r>
            <a:r>
              <a:rPr lang="zh-CN" altLang="en-US"/>
              <a:t>就可以了</a:t>
            </a:r>
            <a:endParaRPr lang="zh-CN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19430"/>
            <a:ext cx="10515600" cy="1082040"/>
          </a:xfrm>
        </p:spPr>
        <p:txBody>
          <a:bodyPr/>
          <a:p>
            <a:r>
              <a:rPr lang="en-US" altLang="zh-CN" sz="4000"/>
              <a:t>MutexLock/Condition/Thread</a:t>
            </a:r>
            <a:r>
              <a:rPr lang="zh-CN" altLang="en-US" sz="4000"/>
              <a:t>是否能够进行复制？</a:t>
            </a:r>
            <a:endParaRPr lang="zh-CN" altLang="en-US" sz="40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35305" y="1601470"/>
            <a:ext cx="5546090" cy="16275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15" y="4125595"/>
            <a:ext cx="4281805" cy="12287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15" y="5835650"/>
            <a:ext cx="6047740" cy="7188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055" y="2170430"/>
            <a:ext cx="5467350" cy="21482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1950" y="5506720"/>
            <a:ext cx="2971800" cy="10477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134225" y="1601470"/>
            <a:ext cx="29311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解决方案：</a:t>
            </a:r>
            <a:r>
              <a:rPr lang="en-US" altLang="zh-CN"/>
              <a:t>1. </a:t>
            </a:r>
            <a:r>
              <a:rPr lang="zh-CN" altLang="en-US"/>
              <a:t>先定义以下类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476490" y="4640580"/>
            <a:ext cx="42418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2. </a:t>
            </a:r>
            <a:r>
              <a:rPr lang="zh-CN" altLang="en-US"/>
              <a:t>让其他类继承自</a:t>
            </a:r>
            <a:r>
              <a:rPr lang="en-US" altLang="zh-CN"/>
              <a:t>Noncopyable</a:t>
            </a:r>
            <a:r>
              <a:rPr lang="zh-CN" altLang="en-US"/>
              <a:t>，就可以</a:t>
            </a:r>
            <a:endParaRPr lang="zh-CN" altLang="en-US"/>
          </a:p>
          <a:p>
            <a:r>
              <a:rPr lang="zh-CN" altLang="en-US"/>
              <a:t>表达禁止复制的语义</a:t>
            </a:r>
            <a:endParaRPr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55625"/>
            <a:ext cx="10515600" cy="609600"/>
          </a:xfrm>
        </p:spPr>
        <p:txBody>
          <a:bodyPr/>
          <a:p>
            <a:r>
              <a:rPr lang="zh-CN" altLang="en-US"/>
              <a:t>线程池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为什么要有线程池？应用</a:t>
            </a:r>
            <a:r>
              <a:rPr lang="zh-CN" altLang="en-US"/>
              <a:t>场景</a:t>
            </a:r>
            <a:endParaRPr lang="zh-CN" altLang="en-US"/>
          </a:p>
          <a:p>
            <a:r>
              <a:rPr lang="zh-CN" altLang="en-US"/>
              <a:t>假设没有使用线程池时，一个请求用一个子线程来处理。</a:t>
            </a:r>
            <a:endParaRPr lang="zh-CN" altLang="en-US"/>
          </a:p>
          <a:p>
            <a:r>
              <a:rPr lang="zh-CN" altLang="en-US"/>
              <a:t>每来一个请求，都得</a:t>
            </a:r>
            <a:r>
              <a:rPr lang="zh-CN" altLang="en-US">
                <a:solidFill>
                  <a:srgbClr val="FF0000"/>
                </a:solidFill>
              </a:rPr>
              <a:t>创建子线程</a:t>
            </a:r>
            <a:r>
              <a:rPr lang="zh-CN" altLang="en-US"/>
              <a:t>，子线程执行请求，</a:t>
            </a:r>
            <a:r>
              <a:rPr lang="zh-CN" altLang="en-US">
                <a:solidFill>
                  <a:srgbClr val="FF0000"/>
                </a:solidFill>
              </a:rPr>
              <a:t>关闭子线程</a:t>
            </a:r>
            <a:endParaRPr lang="zh-CN" altLang="en-US"/>
          </a:p>
          <a:p>
            <a:r>
              <a:rPr lang="zh-CN" altLang="en-US"/>
              <a:t>当请求量（并发）比较大的时候，</a:t>
            </a:r>
            <a:r>
              <a:rPr lang="zh-CN" altLang="en-US">
                <a:solidFill>
                  <a:srgbClr val="FF0000"/>
                </a:solidFill>
              </a:rPr>
              <a:t>频繁地创建和关闭子线程，也是有开销的。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因此提出线程池。提前开辟好</a:t>
            </a:r>
            <a:r>
              <a:rPr lang="en-US" altLang="zh-CN">
                <a:solidFill>
                  <a:srgbClr val="FF0000"/>
                </a:solidFill>
              </a:rPr>
              <a:t>N</a:t>
            </a:r>
            <a:r>
              <a:rPr lang="zh-CN" altLang="en-US">
                <a:solidFill>
                  <a:srgbClr val="FF0000"/>
                </a:solidFill>
              </a:rPr>
              <a:t>个子线程，当有任务过来的时候，先放到任务队列中，之后</a:t>
            </a:r>
            <a:r>
              <a:rPr lang="en-US" altLang="zh-CN">
                <a:solidFill>
                  <a:srgbClr val="FF0000"/>
                </a:solidFill>
              </a:rPr>
              <a:t>N</a:t>
            </a:r>
            <a:r>
              <a:rPr lang="zh-CN" altLang="en-US">
                <a:solidFill>
                  <a:srgbClr val="FF0000"/>
                </a:solidFill>
              </a:rPr>
              <a:t>个子线程从任务队列中获取任务，并执行。这样能大大提高程序的执行效率。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612775"/>
            <a:ext cx="10515600" cy="798830"/>
          </a:xfrm>
        </p:spPr>
        <p:txBody>
          <a:bodyPr/>
          <a:p>
            <a:r>
              <a:rPr lang="zh-CN" altLang="en-US"/>
              <a:t>线程池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4135" y="1411605"/>
            <a:ext cx="9523730" cy="531622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387725" y="2479675"/>
            <a:ext cx="5416550" cy="0"/>
          </a:xfrm>
          <a:prstGeom prst="line">
            <a:avLst/>
          </a:prstGeom>
          <a:ln w="19050">
            <a:solidFill>
              <a:srgbClr val="3C3F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/>
          <p:cNvSpPr/>
          <p:nvPr/>
        </p:nvSpPr>
        <p:spPr>
          <a:xfrm>
            <a:off x="3508375" y="1751965"/>
            <a:ext cx="502920" cy="50292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直角三角形 4"/>
          <p:cNvSpPr/>
          <p:nvPr/>
        </p:nvSpPr>
        <p:spPr>
          <a:xfrm flipH="1">
            <a:off x="4207510" y="1777365"/>
            <a:ext cx="1016635" cy="464185"/>
          </a:xfrm>
          <a:prstGeom prst="rtTriangle">
            <a:avLst/>
          </a:prstGeom>
          <a:solidFill>
            <a:srgbClr val="3151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684520" y="1777365"/>
            <a:ext cx="2068195" cy="464185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3C3F8E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167370" y="1777365"/>
            <a:ext cx="464185" cy="464185"/>
          </a:xfrm>
          <a:prstGeom prst="rect">
            <a:avLst/>
          </a:prstGeom>
          <a:solidFill>
            <a:srgbClr val="3151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07895" y="2954020"/>
            <a:ext cx="77762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sz="8000" b="1">
                <a:solidFill>
                  <a:srgbClr val="31518C"/>
                </a:solidFill>
                <a:latin typeface="Lantinghei SC Heavy" panose="02000000000000000000" charset="-122"/>
                <a:ea typeface="Lantinghei SC Heavy" panose="02000000000000000000" charset="-122"/>
              </a:rPr>
              <a:t>THANK YOU</a:t>
            </a:r>
            <a:endParaRPr lang="en-US" altLang="zh-CN" sz="8000" b="1">
              <a:solidFill>
                <a:srgbClr val="31518C"/>
              </a:solidFill>
              <a:latin typeface="Lantinghei SC Heavy" panose="02000000000000000000" charset="-122"/>
              <a:ea typeface="Lantinghei SC Heavy" panose="020000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960,&quot;width&quot;:4630}"/>
</p:tagLst>
</file>

<file path=ppt/tags/tag2.xml><?xml version="1.0" encoding="utf-8"?>
<p:tagLst xmlns:p="http://schemas.openxmlformats.org/presentationml/2006/main">
  <p:tag name="KSO_WM_UNIT_PLACING_PICTURE_USER_VIEWPORT" val="{&quot;height&quot;:3960,&quot;width&quot;:4630}"/>
</p:tagLst>
</file>

<file path=ppt/tags/tag3.xml><?xml version="1.0" encoding="utf-8"?>
<p:tagLst xmlns:p="http://schemas.openxmlformats.org/presentationml/2006/main">
  <p:tag name="COMMONDATA" val="eyJoZGlkIjoiMGRlMjEyNWVmZjNjZDU2ZTQ2N2U1NGY0MWQ2ODFhZTYifQ=="/>
  <p:tag name="KSO_WPP_MARK_KEY" val="1a3b32de-fdee-4852-baf2-18db341d8846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6299</Words>
  <Application>WPS 演示</Application>
  <PresentationFormat>宽屏</PresentationFormat>
  <Paragraphs>648</Paragraphs>
  <Slides>58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72" baseType="lpstr">
      <vt:lpstr>Arial</vt:lpstr>
      <vt:lpstr>宋体</vt:lpstr>
      <vt:lpstr>Wingdings</vt:lpstr>
      <vt:lpstr>微软雅黑</vt:lpstr>
      <vt:lpstr>Lantinghei SC Heavy</vt:lpstr>
      <vt:lpstr>Hiragino Sans GB W3</vt:lpstr>
      <vt:lpstr>Lantinghei SC Demibold</vt:lpstr>
      <vt:lpstr>Wingdings</vt:lpstr>
      <vt:lpstr>Courier New</vt:lpstr>
      <vt:lpstr>等线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为什么要面向对象设计(OOD)</vt:lpstr>
      <vt:lpstr>PowerPoint 演示文稿</vt:lpstr>
      <vt:lpstr>PowerPoint 演示文稿</vt:lpstr>
      <vt:lpstr>PowerPoint 演示文稿</vt:lpstr>
      <vt:lpstr>PowerPoint 演示文稿</vt:lpstr>
      <vt:lpstr>类与类之间的关系—继承(泛化)</vt:lpstr>
      <vt:lpstr>类与类之间的关系—关联</vt:lpstr>
      <vt:lpstr>类与类之间的关系—聚合</vt:lpstr>
      <vt:lpstr>类与类之间的关系—组合</vt:lpstr>
      <vt:lpstr>类与类之间的关系—依赖</vt:lpstr>
      <vt:lpstr>各关系的比较和总结</vt:lpstr>
      <vt:lpstr>PowerPoint 演示文稿</vt:lpstr>
      <vt:lpstr>面向对象设计原则</vt:lpstr>
      <vt:lpstr>单一职责原则</vt:lpstr>
      <vt:lpstr>案例</vt:lpstr>
      <vt:lpstr>开放闭合原则</vt:lpstr>
      <vt:lpstr>案例：计算器实现</vt:lpstr>
      <vt:lpstr>里氏替换原则</vt:lpstr>
      <vt:lpstr>案例：商户的促销策略（1）</vt:lpstr>
      <vt:lpstr>案例：商户的促销策略（2）</vt:lpstr>
      <vt:lpstr>接口分离原则</vt:lpstr>
      <vt:lpstr>案例</vt:lpstr>
      <vt:lpstr>PowerPoint 演示文稿</vt:lpstr>
      <vt:lpstr>依赖倒置原则</vt:lpstr>
      <vt:lpstr>PowerPoint 演示文稿</vt:lpstr>
      <vt:lpstr>迪米特法则（最少知识原则）</vt:lpstr>
      <vt:lpstr>案例：楼盘买房问题</vt:lpstr>
      <vt:lpstr>PowerPoint 演示文稿</vt:lpstr>
      <vt:lpstr>PowerPoint 演示文稿</vt:lpstr>
      <vt:lpstr>组合复用原则</vt:lpstr>
      <vt:lpstr>案例：人驾驶汽车</vt:lpstr>
      <vt:lpstr>PowerPoint 演示文稿</vt:lpstr>
      <vt:lpstr>PowerPoint 演示文稿</vt:lpstr>
      <vt:lpstr>PowerPoint 演示文稿</vt:lpstr>
      <vt:lpstr>23种设计模式分类</vt:lpstr>
      <vt:lpstr>创建型设计模式</vt:lpstr>
      <vt:lpstr>结构型设计模式</vt:lpstr>
      <vt:lpstr>行为型设计模式</vt:lpstr>
      <vt:lpstr>重点讲解</vt:lpstr>
      <vt:lpstr>PowerPoint 演示文稿</vt:lpstr>
      <vt:lpstr>PowerPoint 演示文稿</vt:lpstr>
      <vt:lpstr>PowerPoint 演示文稿</vt:lpstr>
      <vt:lpstr>Linux下pthread线程的封装</vt:lpstr>
      <vt:lpstr>Thread类中的run方法是否应该设置为public?</vt:lpstr>
      <vt:lpstr>Thread类中的threadFunc方法是否应该设置为public?</vt:lpstr>
      <vt:lpstr>PowerPoint 演示文稿</vt:lpstr>
      <vt:lpstr>PowerPoint 演示文稿</vt:lpstr>
      <vt:lpstr>生产者消费者问题</vt:lpstr>
      <vt:lpstr>对互斥锁进行保护，防止发生死锁</vt:lpstr>
      <vt:lpstr>条件变量的notify操作如果唤醒了多个子线程</vt:lpstr>
      <vt:lpstr>MutexLock/Condition/Thread是否能够进行复制？</vt:lpstr>
      <vt:lpstr>线程池</vt:lpstr>
      <vt:lpstr>线程池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boldness</cp:lastModifiedBy>
  <cp:revision>181</cp:revision>
  <dcterms:created xsi:type="dcterms:W3CDTF">2020-07-30T09:47:00Z</dcterms:created>
  <dcterms:modified xsi:type="dcterms:W3CDTF">2023-04-18T00:56:09Z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ICV">
    <vt:lpwstr>B24219F0F7FB49BE94F9FFD3A098490B</vt:lpwstr>
  </property>
</Properties>
</file>