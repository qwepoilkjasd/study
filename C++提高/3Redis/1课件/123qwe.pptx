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88" r:id="rId6"/>
    <p:sldId id="274" r:id="rId7"/>
    <p:sldId id="289" r:id="rId8"/>
    <p:sldId id="290" r:id="rId9"/>
    <p:sldId id="296" r:id="rId10"/>
    <p:sldId id="294" r:id="rId11"/>
    <p:sldId id="295" r:id="rId12"/>
    <p:sldId id="404" r:id="rId13"/>
    <p:sldId id="310" r:id="rId14"/>
    <p:sldId id="291" r:id="rId15"/>
    <p:sldId id="292" r:id="rId16"/>
    <p:sldId id="293" r:id="rId17"/>
    <p:sldId id="298" r:id="rId18"/>
    <p:sldId id="297" r:id="rId19"/>
    <p:sldId id="299" r:id="rId20"/>
    <p:sldId id="300" r:id="rId21"/>
    <p:sldId id="303" r:id="rId22"/>
    <p:sldId id="304" r:id="rId23"/>
    <p:sldId id="301" r:id="rId24"/>
    <p:sldId id="302" r:id="rId25"/>
    <p:sldId id="305" r:id="rId26"/>
    <p:sldId id="306" r:id="rId27"/>
    <p:sldId id="307" r:id="rId28"/>
    <p:sldId id="308" r:id="rId29"/>
    <p:sldId id="311" r:id="rId30"/>
    <p:sldId id="332" r:id="rId31"/>
    <p:sldId id="309" r:id="rId32"/>
    <p:sldId id="312" r:id="rId33"/>
    <p:sldId id="315" r:id="rId34"/>
    <p:sldId id="333" r:id="rId35"/>
    <p:sldId id="313" r:id="rId36"/>
    <p:sldId id="314" r:id="rId37"/>
    <p:sldId id="467" r:id="rId38"/>
    <p:sldId id="468" r:id="rId39"/>
    <p:sldId id="316" r:id="rId40"/>
    <p:sldId id="334" r:id="rId41"/>
    <p:sldId id="466" r:id="rId42"/>
    <p:sldId id="469" r:id="rId43"/>
    <p:sldId id="317" r:id="rId44"/>
    <p:sldId id="318" r:id="rId45"/>
    <p:sldId id="319" r:id="rId46"/>
    <p:sldId id="325" r:id="rId47"/>
    <p:sldId id="349" r:id="rId48"/>
    <p:sldId id="321" r:id="rId49"/>
    <p:sldId id="322" r:id="rId50"/>
    <p:sldId id="324" r:id="rId51"/>
    <p:sldId id="326" r:id="rId52"/>
    <p:sldId id="327" r:id="rId53"/>
    <p:sldId id="379" r:id="rId54"/>
    <p:sldId id="335" r:id="rId55"/>
    <p:sldId id="329" r:id="rId56"/>
    <p:sldId id="331" r:id="rId57"/>
    <p:sldId id="330" r:id="rId58"/>
    <p:sldId id="336" r:id="rId59"/>
    <p:sldId id="339" r:id="rId60"/>
    <p:sldId id="337" r:id="rId61"/>
    <p:sldId id="338" r:id="rId62"/>
    <p:sldId id="340" r:id="rId63"/>
    <p:sldId id="341" r:id="rId64"/>
    <p:sldId id="342" r:id="rId65"/>
    <p:sldId id="345" r:id="rId66"/>
    <p:sldId id="344" r:id="rId67"/>
    <p:sldId id="347" r:id="rId68"/>
    <p:sldId id="350" r:id="rId69"/>
    <p:sldId id="355" r:id="rId70"/>
    <p:sldId id="351" r:id="rId71"/>
    <p:sldId id="508" r:id="rId72"/>
    <p:sldId id="356" r:id="rId73"/>
    <p:sldId id="352" r:id="rId74"/>
    <p:sldId id="511" r:id="rId75"/>
    <p:sldId id="359" r:id="rId76"/>
    <p:sldId id="354" r:id="rId77"/>
    <p:sldId id="512" r:id="rId78"/>
    <p:sldId id="358" r:id="rId79"/>
    <p:sldId id="357" r:id="rId80"/>
    <p:sldId id="260" r:id="rId81"/>
  </p:sldIdLst>
  <p:sldSz cx="10031095" cy="6858000"/>
  <p:notesSz cx="6858000" cy="9144000"/>
  <p:custDataLst>
    <p:tags r:id="rId85"/>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CDCDCD"/>
    <a:srgbClr val="FF9B05"/>
    <a:srgbClr val="FCE5C4"/>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44" autoAdjust="0"/>
  </p:normalViewPr>
  <p:slideViewPr>
    <p:cSldViewPr snapToGrid="0">
      <p:cViewPr varScale="1">
        <p:scale>
          <a:sx n="86" d="100"/>
          <a:sy n="86" d="100"/>
        </p:scale>
        <p:origin x="1114" y="62"/>
      </p:cViewPr>
      <p:guideLst>
        <p:guide orient="horz" pos="2160"/>
        <p:guide pos="3159"/>
      </p:guideLst>
    </p:cSldViewPr>
  </p:slideViewPr>
  <p:notesTextViewPr>
    <p:cViewPr>
      <p:scale>
        <a:sx n="100" d="100"/>
        <a:sy n="100" d="100"/>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tags" Target="tags/tag4.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Rot="1" noChangeAspect="1" noChangeArrowheads="1"/>
          </p:cNvSpPr>
          <p:nvPr>
            <p:ph type="sldImg" idx="2"/>
          </p:nvPr>
        </p:nvSpPr>
        <p:spPr bwMode="auto">
          <a:xfrm>
            <a:off x="928688" y="754063"/>
            <a:ext cx="4816475" cy="3294062"/>
          </a:xfrm>
          <a:prstGeom prst="rect">
            <a:avLst/>
          </a:prstGeom>
          <a:noFill/>
          <a:ln w="9525">
            <a:noFill/>
            <a:miter lim="800000"/>
          </a:ln>
        </p:spPr>
      </p:sp>
      <p:sp>
        <p:nvSpPr>
          <p:cNvPr id="4099" name="Rectangle 3"/>
          <p:cNvSpPr>
            <a:spLocks noGrp="1" noChangeArrowheads="1"/>
          </p:cNvSpPr>
          <p:nvPr>
            <p:ph type="body" sz="quarter" idx="3"/>
          </p:nvPr>
        </p:nvSpPr>
        <p:spPr bwMode="auto">
          <a:xfrm>
            <a:off x="538163" y="4387850"/>
            <a:ext cx="578008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noProof="0"/>
              <a:t>单击此处编辑母版文本样式</a:t>
            </a:r>
            <a:endParaRPr lang="zh-CN" altLang="zh-CN" noProof="0"/>
          </a:p>
          <a:p>
            <a:pPr lvl="1"/>
            <a:r>
              <a:rPr lang="zh-CN" altLang="zh-CN" noProof="0"/>
              <a:t>第二级</a:t>
            </a:r>
            <a:endParaRPr lang="zh-CN" altLang="zh-CN" noProof="0"/>
          </a:p>
          <a:p>
            <a:pPr lvl="2"/>
            <a:r>
              <a:rPr lang="zh-CN" altLang="zh-CN" noProof="0"/>
              <a:t>第三级</a:t>
            </a:r>
            <a:endParaRPr lang="zh-CN" altLang="zh-CN" noProof="0"/>
          </a:p>
          <a:p>
            <a:pPr lvl="3"/>
            <a:r>
              <a:rPr lang="zh-CN" altLang="zh-CN" noProof="0"/>
              <a:t>第四级</a:t>
            </a:r>
            <a:endParaRPr lang="zh-CN" altLang="zh-CN" noProof="0"/>
          </a:p>
          <a:p>
            <a:pPr lvl="4"/>
            <a:r>
              <a:rPr lang="zh-CN" altLang="zh-CN" noProof="0"/>
              <a:t>第五级</a:t>
            </a:r>
            <a:endParaRPr lang="zh-CN" altLang="zh-CN" noProof="0"/>
          </a:p>
        </p:txBody>
      </p:sp>
      <p:sp>
        <p:nvSpPr>
          <p:cNvPr id="4100" name="Rectangle 4"/>
          <p:cNvSpPr>
            <a:spLocks noGrp="1" noChangeArrowheads="1"/>
          </p:cNvSpPr>
          <p:nvPr>
            <p:ph type="hdr" sz="quarter"/>
          </p:nvPr>
        </p:nvSpPr>
        <p:spPr bwMode="auto">
          <a:xfrm>
            <a:off x="0" y="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ea typeface="宋体" panose="02010600030101010101" pitchFamily="2" charset="-122"/>
              </a:defRPr>
            </a:lvl1pPr>
          </a:lstStyle>
          <a:p>
            <a:pPr>
              <a:defRPr/>
            </a:pPr>
            <a:endParaRPr lang="zh-CN" altLang="en-US"/>
          </a:p>
        </p:txBody>
      </p:sp>
      <p:sp>
        <p:nvSpPr>
          <p:cNvPr id="4101" name="Rectangle 5"/>
          <p:cNvSpPr>
            <a:spLocks noGrp="1" noChangeArrowheads="1"/>
          </p:cNvSpPr>
          <p:nvPr>
            <p:ph type="dt" idx="1"/>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ea typeface="宋体" panose="02010600030101010101" pitchFamily="2" charset="-122"/>
              </a:defRPr>
            </a:lvl1pPr>
          </a:lstStyle>
          <a:p>
            <a:pPr>
              <a:defRPr/>
            </a:pPr>
            <a:fld id="{360BA55F-39AC-40F7-9769-1DE084D88763}" type="datetimeFigureOut">
              <a:rPr lang="zh-CN" altLang="en-US"/>
            </a:fld>
            <a:endParaRPr lang="zh-CN" altLang="en-US"/>
          </a:p>
        </p:txBody>
      </p:sp>
      <p:sp>
        <p:nvSpPr>
          <p:cNvPr id="4102" name="Rectangle 6"/>
          <p:cNvSpPr>
            <a:spLocks noGrp="1" noChangeArrowheads="1"/>
          </p:cNvSpPr>
          <p:nvPr>
            <p:ph type="ftr" sz="quarter" idx="4"/>
          </p:nvPr>
        </p:nvSpPr>
        <p:spPr bwMode="auto">
          <a:xfrm>
            <a:off x="0" y="868680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ea typeface="宋体" panose="02010600030101010101" pitchFamily="2" charset="-122"/>
              </a:defRPr>
            </a:lvl1pPr>
          </a:lstStyle>
          <a:p>
            <a:pPr>
              <a:defRPr/>
            </a:pPr>
            <a:endParaRPr lang="zh-CN" altLang="en-US"/>
          </a:p>
        </p:txBody>
      </p:sp>
      <p:sp>
        <p:nvSpPr>
          <p:cNvPr id="4103" name="Rectangle 7"/>
          <p:cNvSpPr>
            <a:spLocks noGrp="1" noChangeArrowheads="1"/>
          </p:cNvSpPr>
          <p:nvPr>
            <p:ph type="sldNum" sz="quarter" idx="5"/>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ea typeface="宋体" panose="02010600030101010101" pitchFamily="2" charset="-122"/>
              </a:defRPr>
            </a:lvl1pPr>
          </a:lstStyle>
          <a:p>
            <a:pPr>
              <a:defRPr/>
            </a:pPr>
            <a:fld id="{646BCEA9-26AB-4B91-A876-E633D3E888F9}"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r>
              <a:rPr lang="zh-CN" altLang="en-US" dirty="0"/>
              <a:t>如何选择？没有最好的，只有最适合的，根据各自的特点灵活选择。</a:t>
            </a:r>
            <a:endParaRPr lang="en-US" altLang="zh-CN" dirty="0"/>
          </a:p>
          <a:p>
            <a:pPr eaLnBrk="1" hangingPunct="1">
              <a:lnSpc>
                <a:spcPct val="80000"/>
              </a:lnSpc>
            </a:pPr>
            <a:r>
              <a:rPr lang="zh-CN" altLang="en-US" dirty="0"/>
              <a:t>能同时使用，重启时先按照</a:t>
            </a:r>
            <a:r>
              <a:rPr lang="en-US" altLang="zh-CN" dirty="0"/>
              <a:t>AOF</a:t>
            </a:r>
            <a:r>
              <a:rPr lang="zh-CN" altLang="en-US" dirty="0"/>
              <a:t>文件的内容回复数据</a:t>
            </a:r>
            <a:endParaRPr lang="en-US" altLang="zh-CN" dirty="0"/>
          </a:p>
          <a:p>
            <a:pPr eaLnBrk="1" hangingPunct="1">
              <a:lnSpc>
                <a:spcPct val="80000"/>
              </a:lnSpc>
            </a:pPr>
            <a:r>
              <a:rPr lang="zh-CN" altLang="en-US" dirty="0"/>
              <a:t>如果</a:t>
            </a:r>
            <a:r>
              <a:rPr lang="en-US" altLang="zh-CN" dirty="0"/>
              <a:t>AOF</a:t>
            </a:r>
            <a:r>
              <a:rPr lang="zh-CN" altLang="en-US" dirty="0"/>
              <a:t>文件损坏</a:t>
            </a:r>
            <a:r>
              <a:rPr lang="en-US" altLang="zh-CN" dirty="0" err="1"/>
              <a:t>redis</a:t>
            </a:r>
            <a:r>
              <a:rPr lang="zh-CN" altLang="en-US" dirty="0"/>
              <a:t>服务程序会启动失败。</a:t>
            </a:r>
            <a:endParaRPr lang="en-US" altLang="zh-CN" dirty="0"/>
          </a:p>
          <a:p>
            <a:pPr eaLnBrk="1" hangingPunct="1">
              <a:lnSpc>
                <a:spcPct val="80000"/>
              </a:lnSpc>
            </a:pPr>
            <a:r>
              <a:rPr lang="en-US" altLang="zh-CN" dirty="0"/>
              <a:t>AOF</a:t>
            </a:r>
            <a:r>
              <a:rPr lang="zh-CN" altLang="en-US" dirty="0"/>
              <a:t>文件损坏，可以用</a:t>
            </a:r>
            <a:r>
              <a:rPr lang="en-US" altLang="zh-CN" dirty="0" err="1"/>
              <a:t>redis</a:t>
            </a:r>
            <a:r>
              <a:rPr lang="en-US" altLang="zh-CN" dirty="0"/>
              <a:t>-check-</a:t>
            </a:r>
            <a:r>
              <a:rPr lang="en-US" altLang="zh-CN" dirty="0" err="1"/>
              <a:t>aof</a:t>
            </a:r>
            <a:r>
              <a:rPr lang="zh-CN" altLang="en-US" dirty="0"/>
              <a:t>修复</a:t>
            </a: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r>
              <a:rPr lang="zh-CN" altLang="en-US" dirty="0"/>
              <a:t>如何选择？没有最好的，只有最适合的，根据各自的特点灵活选择。</a:t>
            </a:r>
            <a:endParaRPr lang="en-US" altLang="zh-CN" dirty="0"/>
          </a:p>
          <a:p>
            <a:pPr eaLnBrk="1" hangingPunct="1">
              <a:lnSpc>
                <a:spcPct val="80000"/>
              </a:lnSpc>
            </a:pPr>
            <a:r>
              <a:rPr lang="zh-CN" altLang="en-US" dirty="0"/>
              <a:t>能同时使用，重启时先按照</a:t>
            </a:r>
            <a:r>
              <a:rPr lang="en-US" altLang="zh-CN" dirty="0"/>
              <a:t>AOF</a:t>
            </a:r>
            <a:r>
              <a:rPr lang="zh-CN" altLang="en-US" dirty="0"/>
              <a:t>文件的内容回复数据</a:t>
            </a:r>
            <a:endParaRPr lang="en-US" altLang="zh-CN" dirty="0"/>
          </a:p>
          <a:p>
            <a:pPr eaLnBrk="1" hangingPunct="1">
              <a:lnSpc>
                <a:spcPct val="80000"/>
              </a:lnSpc>
            </a:pPr>
            <a:r>
              <a:rPr lang="zh-CN" altLang="en-US" dirty="0"/>
              <a:t>如果</a:t>
            </a:r>
            <a:r>
              <a:rPr lang="en-US" altLang="zh-CN" dirty="0"/>
              <a:t>AOF</a:t>
            </a:r>
            <a:r>
              <a:rPr lang="zh-CN" altLang="en-US" dirty="0"/>
              <a:t>文件损坏</a:t>
            </a:r>
            <a:r>
              <a:rPr lang="en-US" altLang="zh-CN" dirty="0" err="1"/>
              <a:t>redis</a:t>
            </a:r>
            <a:r>
              <a:rPr lang="zh-CN" altLang="en-US" dirty="0"/>
              <a:t>服务程序会启动失败。</a:t>
            </a:r>
            <a:endParaRPr lang="en-US" altLang="zh-CN" dirty="0"/>
          </a:p>
          <a:p>
            <a:pPr eaLnBrk="1" hangingPunct="1">
              <a:lnSpc>
                <a:spcPct val="80000"/>
              </a:lnSpc>
            </a:pPr>
            <a:r>
              <a:rPr lang="en-US" altLang="zh-CN" dirty="0"/>
              <a:t>AOF</a:t>
            </a:r>
            <a:r>
              <a:rPr lang="zh-CN" altLang="en-US" dirty="0"/>
              <a:t>文件损坏，可以用</a:t>
            </a:r>
            <a:r>
              <a:rPr lang="en-US" altLang="zh-CN" dirty="0" err="1"/>
              <a:t>redis</a:t>
            </a:r>
            <a:r>
              <a:rPr lang="en-US" altLang="zh-CN" dirty="0"/>
              <a:t>-check-</a:t>
            </a:r>
            <a:r>
              <a:rPr lang="en-US" altLang="zh-CN" dirty="0" err="1"/>
              <a:t>aof</a:t>
            </a:r>
            <a:r>
              <a:rPr lang="zh-CN" altLang="en-US" dirty="0"/>
              <a:t>修复</a:t>
            </a: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920750" y="684213"/>
            <a:ext cx="5013325" cy="3429000"/>
          </a:xfrm>
        </p:spPr>
      </p:sp>
      <p:sp>
        <p:nvSpPr>
          <p:cNvPr id="16387" name="Rectangle 3"/>
          <p:cNvSpPr>
            <a:spLocks noGrp="1" noRot="1" noChangeAspect="1" noChangeArrowheads="1"/>
          </p:cNvSpPr>
          <p:nvPr>
            <p:ph type="body" idx="1"/>
          </p:nvPr>
        </p:nvSpPr>
        <p:spPr bwMode="auto">
          <a:xfrm>
            <a:off x="912813" y="4341813"/>
            <a:ext cx="5029200" cy="4114800"/>
          </a:xfrm>
          <a:prstGeom prst="rect">
            <a:avLst/>
          </a:prstGeom>
          <a:noFill/>
          <a:ln>
            <a:miter lim="800000"/>
          </a:ln>
        </p:spPr>
        <p:txBody>
          <a:bodyPr/>
          <a:lstStyle/>
          <a:p>
            <a:pPr eaLnBrk="1" hangingPunct="1">
              <a:lnSpc>
                <a:spcPct val="80000"/>
              </a:lnSpc>
            </a:pP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26262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xfrm>
            <a:off x="689660" y="6356351"/>
            <a:ext cx="2695942" cy="365125"/>
          </a:xfrm>
          <a:prstGeom prst="rect">
            <a:avLst/>
          </a:prstGeom>
        </p:spPr>
        <p:txBody>
          <a:bodyPr/>
          <a:lstStyle>
            <a:lvl1pPr>
              <a:defRPr>
                <a:ea typeface="宋体" panose="02010600030101010101" pitchFamily="2" charset="-122"/>
              </a:defRPr>
            </a:lvl1pPr>
          </a:lstStyle>
          <a:p>
            <a:pPr>
              <a:defRPr/>
            </a:pPr>
            <a:fld id="{83E662F2-C863-455C-A64A-AE0988EA079C}" type="datetimeFigureOut">
              <a:rPr lang="zh-CN" altLang="en-US"/>
            </a:fld>
            <a:endParaRPr lang="zh-CN" altLang="en-US"/>
          </a:p>
        </p:txBody>
      </p:sp>
      <p:sp>
        <p:nvSpPr>
          <p:cNvPr id="3" name="Footer Placeholder 4"/>
          <p:cNvSpPr>
            <a:spLocks noGrp="1" noChangeArrowheads="1"/>
          </p:cNvSpPr>
          <p:nvPr>
            <p:ph type="ftr" sz="quarter" idx="11"/>
          </p:nvPr>
        </p:nvSpPr>
        <p:spPr>
          <a:xfrm>
            <a:off x="3824476" y="6356351"/>
            <a:ext cx="2382461" cy="365125"/>
          </a:xfrm>
          <a:prstGeom prst="rect">
            <a:avLst/>
          </a:prstGeom>
        </p:spPr>
        <p:txBody>
          <a:bodyPr/>
          <a:lstStyle>
            <a:lvl1pPr>
              <a:defRPr>
                <a:ea typeface="宋体" panose="02010600030101010101" pitchFamily="2" charset="-122"/>
              </a:defRPr>
            </a:lvl1pPr>
          </a:lstStyle>
          <a:p>
            <a:pPr>
              <a:defRPr/>
            </a:pPr>
            <a:endParaRPr lang="zh-CN" altLang="en-US"/>
          </a:p>
        </p:txBody>
      </p:sp>
      <p:sp>
        <p:nvSpPr>
          <p:cNvPr id="4" name="Slide Number Placeholder 5"/>
          <p:cNvSpPr>
            <a:spLocks noGrp="1" noChangeArrowheads="1"/>
          </p:cNvSpPr>
          <p:nvPr>
            <p:ph type="sldNum" sz="quarter" idx="12"/>
          </p:nvPr>
        </p:nvSpPr>
        <p:spPr>
          <a:xfrm>
            <a:off x="6645811" y="6356351"/>
            <a:ext cx="2695942" cy="365125"/>
          </a:xfrm>
          <a:prstGeom prst="rect">
            <a:avLst/>
          </a:prstGeom>
        </p:spPr>
        <p:txBody>
          <a:bodyPr/>
          <a:lstStyle>
            <a:lvl1pPr>
              <a:defRPr>
                <a:ea typeface="宋体" panose="02010600030101010101" pitchFamily="2" charset="-122"/>
              </a:defRPr>
            </a:lvl1pPr>
          </a:lstStyle>
          <a:p>
            <a:pPr>
              <a:defRPr/>
            </a:pPr>
            <a:fld id="{457C312F-A26C-470D-A5E9-C38871207CA1}" type="slidenum">
              <a:rPr lang="zh-CN" altLang="en-US"/>
            </a:fld>
            <a:endParaRPr lang="zh-CN" altLang="en-US"/>
          </a:p>
        </p:txBody>
      </p:sp>
      <p:pic>
        <p:nvPicPr>
          <p:cNvPr id="5" name="Picture 12" descr="PPT-4-11"/>
          <p:cNvPicPr>
            <a:picLocks noChangeAspect="1" noChangeArrowheads="1"/>
          </p:cNvPicPr>
          <p:nvPr userDrawn="1"/>
        </p:nvPicPr>
        <p:blipFill>
          <a:blip r:embed="rId2" cstate="print"/>
          <a:srcRect/>
          <a:stretch>
            <a:fillRect/>
          </a:stretch>
        </p:blipFill>
        <p:spPr bwMode="auto">
          <a:xfrm>
            <a:off x="1" y="6454776"/>
            <a:ext cx="10030107" cy="403225"/>
          </a:xfrm>
          <a:prstGeom prst="rect">
            <a:avLst/>
          </a:prstGeom>
          <a:noFill/>
          <a:ln w="9525">
            <a:noFill/>
            <a:miter lim="800000"/>
            <a:headEnd/>
            <a:tailEnd/>
          </a:ln>
        </p:spPr>
      </p:pic>
      <p:sp>
        <p:nvSpPr>
          <p:cNvPr id="6" name="矩形 5"/>
          <p:cNvSpPr/>
          <p:nvPr userDrawn="1"/>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7" name="Picture 3" descr="PPT-4-1"/>
          <p:cNvPicPr>
            <a:picLocks noChangeAspect="1" noChangeArrowheads="1"/>
          </p:cNvPicPr>
          <p:nvPr userDrawn="1"/>
        </p:nvPicPr>
        <p:blipFill>
          <a:blip r:embed="rId3" cstate="print"/>
          <a:srcRect/>
          <a:stretch>
            <a:fillRect/>
          </a:stretch>
        </p:blipFill>
        <p:spPr bwMode="auto">
          <a:xfrm>
            <a:off x="360504" y="955046"/>
            <a:ext cx="9314324" cy="250825"/>
          </a:xfrm>
          <a:prstGeom prst="rect">
            <a:avLst/>
          </a:prstGeom>
          <a:noFill/>
          <a:ln w="9525">
            <a:noFill/>
            <a:miter lim="800000"/>
            <a:headEnd/>
            <a:tailEnd/>
          </a:ln>
        </p:spPr>
      </p:pic>
      <p:sp>
        <p:nvSpPr>
          <p:cNvPr id="9" name="文本占位符 8"/>
          <p:cNvSpPr>
            <a:spLocks noGrp="1"/>
          </p:cNvSpPr>
          <p:nvPr>
            <p:ph type="body" sz="quarter" idx="13"/>
          </p:nvPr>
        </p:nvSpPr>
        <p:spPr>
          <a:xfrm>
            <a:off x="826226" y="1585817"/>
            <a:ext cx="6896597" cy="9144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内容占位符 10"/>
          <p:cNvSpPr>
            <a:spLocks noGrp="1"/>
          </p:cNvSpPr>
          <p:nvPr>
            <p:ph sz="quarter" idx="14"/>
          </p:nvPr>
        </p:nvSpPr>
        <p:spPr>
          <a:xfrm>
            <a:off x="1840449" y="363577"/>
            <a:ext cx="7083214" cy="914400"/>
          </a:xfrm>
          <a:prstGeom prst="rect">
            <a:avLst/>
          </a:prstGeom>
        </p:spPr>
        <p:txBody>
          <a:bodyPr/>
          <a:lstStyle>
            <a:lvl1pPr>
              <a:defRPr sz="4000"/>
            </a:lvl1pPr>
          </a:lstStyle>
          <a:p>
            <a:pPr lvl="0"/>
            <a:r>
              <a:rPr lang="zh-CN" altLang="en-US" dirty="0"/>
              <a:t>单击此处编辑母版文本样式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2356" y="2130426"/>
            <a:ext cx="852670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04712" y="3886200"/>
            <a:ext cx="7021989"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  </a:t>
            </a:r>
            <a:endParaRPr lang="zh-CN" altLang="en-US" sz="1800"/>
          </a:p>
        </p:txBody>
      </p:sp>
      <p:sp>
        <p:nvSpPr>
          <p:cNvPr id="6" name="Rectangle 6"/>
          <p:cNvSpPr>
            <a:spLocks noGrp="1" noChangeArrowheads="1"/>
          </p:cNvSpPr>
          <p:nvPr>
            <p:ph type="sldNum" sz="quarter" idx="12"/>
          </p:nvPr>
        </p:nvSpPr>
        <p:spPr/>
        <p:txBody>
          <a:bodyPr/>
          <a:lstStyle>
            <a:lvl1pPr>
              <a:defRPr/>
            </a:lvl1pPr>
          </a:lstStyle>
          <a:p>
            <a:pPr>
              <a:defRPr/>
            </a:pPr>
            <a:fld id="{8545FD59-0540-4E77-9BBE-250F9B23447D}" type="slidenum">
              <a:rPr lang="zh-CN" altLang="en-US"/>
            </a:fld>
            <a:endParaRPr lang="zh-CN" altLang="en-US" sz="180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D9D9D9"/>
        </a:solidFill>
        <a:effectLst/>
      </p:bgPr>
    </p:bg>
    <p:spTree>
      <p:nvGrpSpPr>
        <p:cNvPr id="1" name=""/>
        <p:cNvGrpSpPr/>
        <p:nvPr/>
      </p:nvGrpSpPr>
      <p:grpSpPr>
        <a:xfrm>
          <a:off x="0" y="0"/>
          <a:ext cx="0" cy="0"/>
          <a:chOff x="0" y="0"/>
          <a:chExt cx="0" cy="0"/>
        </a:xfrm>
      </p:grpSpPr>
      <p:sp>
        <p:nvSpPr>
          <p:cNvPr id="2" name="Date Placeholder 3"/>
          <p:cNvSpPr>
            <a:spLocks noGrp="1" noChangeArrowheads="1"/>
          </p:cNvSpPr>
          <p:nvPr>
            <p:ph type="dt" sz="half" idx="2"/>
          </p:nvPr>
        </p:nvSpPr>
        <p:spPr>
          <a:xfrm>
            <a:off x="689660" y="6356351"/>
            <a:ext cx="2695942" cy="365125"/>
          </a:xfrm>
          <a:prstGeom prst="rect">
            <a:avLst/>
          </a:prstGeom>
        </p:spPr>
        <p:txBody>
          <a:bodyPr/>
          <a:lstStyle>
            <a:lvl1pPr>
              <a:defRPr>
                <a:ea typeface="宋体" panose="02010600030101010101" pitchFamily="2" charset="-122"/>
              </a:defRPr>
            </a:lvl1pPr>
          </a:lstStyle>
          <a:p>
            <a:pPr>
              <a:defRPr/>
            </a:pPr>
            <a:fld id="{83E662F2-C863-455C-A64A-AE0988EA079C}" type="datetimeFigureOut">
              <a:rPr lang="zh-CN" altLang="en-US"/>
            </a:fld>
            <a:endParaRPr lang="zh-CN" altLang="en-US"/>
          </a:p>
        </p:txBody>
      </p:sp>
      <p:sp>
        <p:nvSpPr>
          <p:cNvPr id="3" name="Footer Placeholder 4"/>
          <p:cNvSpPr>
            <a:spLocks noGrp="1" noChangeArrowheads="1"/>
          </p:cNvSpPr>
          <p:nvPr>
            <p:ph type="ftr" sz="quarter" idx="3"/>
          </p:nvPr>
        </p:nvSpPr>
        <p:spPr>
          <a:xfrm>
            <a:off x="3824476" y="6356351"/>
            <a:ext cx="2382461" cy="365125"/>
          </a:xfrm>
          <a:prstGeom prst="rect">
            <a:avLst/>
          </a:prstGeom>
        </p:spPr>
        <p:txBody>
          <a:bodyPr/>
          <a:lstStyle>
            <a:lvl1pPr>
              <a:defRPr>
                <a:ea typeface="宋体" panose="02010600030101010101" pitchFamily="2" charset="-122"/>
              </a:defRPr>
            </a:lvl1pPr>
          </a:lstStyle>
          <a:p>
            <a:pPr>
              <a:defRPr/>
            </a:pPr>
            <a:endParaRPr lang="zh-CN" altLang="en-US"/>
          </a:p>
        </p:txBody>
      </p:sp>
      <p:sp>
        <p:nvSpPr>
          <p:cNvPr id="4" name="Slide Number Placeholder 5"/>
          <p:cNvSpPr>
            <a:spLocks noGrp="1" noChangeArrowheads="1"/>
          </p:cNvSpPr>
          <p:nvPr>
            <p:ph type="sldNum" sz="quarter" idx="4"/>
          </p:nvPr>
        </p:nvSpPr>
        <p:spPr>
          <a:xfrm>
            <a:off x="6645811" y="6356351"/>
            <a:ext cx="2695942" cy="365125"/>
          </a:xfrm>
          <a:prstGeom prst="rect">
            <a:avLst/>
          </a:prstGeom>
        </p:spPr>
        <p:txBody>
          <a:bodyPr/>
          <a:lstStyle>
            <a:lvl1pPr>
              <a:defRPr>
                <a:ea typeface="宋体" panose="02010600030101010101" pitchFamily="2" charset="-122"/>
              </a:defRPr>
            </a:lvl1pPr>
          </a:lstStyle>
          <a:p>
            <a:pPr>
              <a:defRPr/>
            </a:pPr>
            <a:fld id="{457C312F-A26C-470D-A5E9-C38871207CA1}"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ct val="30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hyperlink" Target="http://www.1ppt.com/word/" TargetMode="External"/><Relationship Id="rId8" Type="http://schemas.openxmlformats.org/officeDocument/2006/relationships/hyperlink" Target="http://www.1ppt.com/powerpoint/" TargetMode="External"/><Relationship Id="rId7" Type="http://schemas.openxmlformats.org/officeDocument/2006/relationships/hyperlink" Target="http://www.1ppt.com/xiazai/" TargetMode="External"/><Relationship Id="rId6" Type="http://schemas.openxmlformats.org/officeDocument/2006/relationships/hyperlink" Target="http://www.1ppt.com/tubiao/" TargetMode="External"/><Relationship Id="rId5" Type="http://schemas.openxmlformats.org/officeDocument/2006/relationships/hyperlink" Target="http://www.1ppt.com/beijing/" TargetMode="External"/><Relationship Id="rId4" Type="http://schemas.openxmlformats.org/officeDocument/2006/relationships/hyperlink" Target="http://www.1ppt.com/sucai/" TargetMode="External"/><Relationship Id="rId3" Type="http://schemas.openxmlformats.org/officeDocument/2006/relationships/hyperlink" Target="http://www.1ppt.com/jieri/" TargetMode="External"/><Relationship Id="rId21" Type="http://schemas.openxmlformats.org/officeDocument/2006/relationships/notesSlide" Target="../notesSlides/notesSlide1.xml"/><Relationship Id="rId20" Type="http://schemas.openxmlformats.org/officeDocument/2006/relationships/slideLayout" Target="../slideLayouts/slideLayout1.xml"/><Relationship Id="rId2" Type="http://schemas.openxmlformats.org/officeDocument/2006/relationships/hyperlink" Target="http://www.1ppt.com/hangye/" TargetMode="External"/><Relationship Id="rId19" Type="http://schemas.openxmlformats.org/officeDocument/2006/relationships/audio" Target="../media/audio1.wav"/><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hyperlink" Target="http://www.1ppt.com/jiaoan/" TargetMode="External"/><Relationship Id="rId14" Type="http://schemas.openxmlformats.org/officeDocument/2006/relationships/hyperlink" Target="http://www.1ppt.com/shiti/" TargetMode="External"/><Relationship Id="rId13" Type="http://schemas.openxmlformats.org/officeDocument/2006/relationships/hyperlink" Target="http://www.1ppt.com/fanwen/" TargetMode="External"/><Relationship Id="rId12" Type="http://schemas.openxmlformats.org/officeDocument/2006/relationships/hyperlink" Target="http://www.1ppt.com/kejian/" TargetMode="External"/><Relationship Id="rId11" Type="http://schemas.openxmlformats.org/officeDocument/2006/relationships/hyperlink" Target="http://www.1ppt.com/ziliao/" TargetMode="External"/><Relationship Id="rId10" Type="http://schemas.openxmlformats.org/officeDocument/2006/relationships/hyperlink" Target="http://www.1ppt.com/excel/" TargetMode="External"/><Relationship Id="rId1" Type="http://schemas.openxmlformats.org/officeDocument/2006/relationships/hyperlink" Target="http://www.1ppt.com/moban/" TargetMode="Externa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hyperlink" Target="https://redis.io/" TargetMode="External"/><Relationship Id="rId1" Type="http://schemas.openxmlformats.org/officeDocument/2006/relationships/hyperlink" Target="http://www.redis.cn/"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tags" Target="../tags/tag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71.xml"/><Relationship Id="rId5" Type="http://schemas.openxmlformats.org/officeDocument/2006/relationships/slideLayout" Target="../slideLayouts/slideLayout2.xml"/><Relationship Id="rId4" Type="http://schemas.openxmlformats.org/officeDocument/2006/relationships/audio" Target="../media/audio2.wav"/><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矩形 13"/>
          <p:cNvSpPr/>
          <p:nvPr/>
        </p:nvSpPr>
        <p:spPr>
          <a:xfrm>
            <a:off x="9431880" y="71439"/>
            <a:ext cx="532919" cy="142875"/>
          </a:xfrm>
          <a:prstGeom prst="rect">
            <a:avLst/>
          </a:prstGeom>
          <a:noFill/>
          <a:ln w="25400" cap="flat" cmpd="sng" algn="ctr">
            <a:noFill/>
            <a:prstDash val="solid"/>
          </a:ln>
          <a:effectLst/>
        </p:spPr>
        <p:txBody>
          <a:bodyPr anchor="ctr"/>
          <a:lstStyle/>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模板下载：</a:t>
            </a:r>
            <a:r>
              <a:rPr lang="en-US" altLang="zh-CN" sz="100" kern="0" dirty="0">
                <a:solidFill>
                  <a:srgbClr val="EEECE1">
                    <a:lumMod val="25000"/>
                  </a:srgbClr>
                </a:solidFill>
                <a:latin typeface="Calibri" panose="020F0502020204030204"/>
                <a:ea typeface="宋体" panose="02010600030101010101" pitchFamily="2" charset="-122"/>
                <a:hlinkClick r:id="rId1"/>
              </a:rPr>
              <a:t>www.1ppt.com/moban/</a:t>
            </a:r>
            <a:r>
              <a:rPr lang="en-US" altLang="zh-CN" sz="100" kern="0" dirty="0">
                <a:solidFill>
                  <a:srgbClr val="EEECE1">
                    <a:lumMod val="25000"/>
                  </a:srgbClr>
                </a:solidFill>
                <a:latin typeface="Calibri" panose="020F0502020204030204"/>
                <a:ea typeface="宋体" panose="02010600030101010101" pitchFamily="2" charset="-122"/>
              </a:rPr>
              <a:t>     </a:t>
            </a:r>
            <a:r>
              <a:rPr lang="zh-CN" altLang="en-US" sz="100" kern="0" dirty="0">
                <a:solidFill>
                  <a:srgbClr val="EEECE1">
                    <a:lumMod val="25000"/>
                  </a:srgbClr>
                </a:solidFill>
                <a:latin typeface="Calibri" panose="020F0502020204030204"/>
                <a:ea typeface="宋体" panose="02010600030101010101" pitchFamily="2" charset="-122"/>
              </a:rPr>
              <a:t>行业</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a:t>
            </a:r>
            <a:r>
              <a:rPr lang="en-US" altLang="zh-CN" sz="100" kern="0" dirty="0">
                <a:solidFill>
                  <a:srgbClr val="EEECE1">
                    <a:lumMod val="25000"/>
                  </a:srgbClr>
                </a:solidFill>
                <a:latin typeface="Calibri" panose="020F0502020204030204"/>
                <a:ea typeface="宋体" panose="02010600030101010101" pitchFamily="2" charset="-122"/>
                <a:hlinkClick r:id="rId2"/>
              </a:rPr>
              <a:t>www.1ppt.com/hangye/</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节日</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a:t>
            </a:r>
            <a:r>
              <a:rPr lang="en-US" altLang="zh-CN" sz="100" kern="0" dirty="0">
                <a:solidFill>
                  <a:srgbClr val="EEECE1">
                    <a:lumMod val="25000"/>
                  </a:srgbClr>
                </a:solidFill>
                <a:latin typeface="Calibri" panose="020F0502020204030204"/>
                <a:ea typeface="宋体" panose="02010600030101010101" pitchFamily="2" charset="-122"/>
                <a:hlinkClick r:id="rId3"/>
              </a:rPr>
              <a:t>www.1ppt.com/jieri/</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素材下载：</a:t>
            </a:r>
            <a:r>
              <a:rPr lang="en-US" altLang="zh-CN" sz="100" kern="0" dirty="0">
                <a:solidFill>
                  <a:srgbClr val="EEECE1">
                    <a:lumMod val="25000"/>
                  </a:srgbClr>
                </a:solidFill>
                <a:latin typeface="Calibri" panose="020F0502020204030204"/>
                <a:ea typeface="宋体" panose="02010600030101010101" pitchFamily="2" charset="-122"/>
                <a:hlinkClick r:id="rId4"/>
              </a:rPr>
              <a:t>www.1ppt.com/sucai/</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背景图片：</a:t>
            </a:r>
            <a:r>
              <a:rPr lang="en-US" altLang="zh-CN" sz="100" kern="0" dirty="0">
                <a:solidFill>
                  <a:srgbClr val="EEECE1">
                    <a:lumMod val="25000"/>
                  </a:srgbClr>
                </a:solidFill>
                <a:latin typeface="Calibri" panose="020F0502020204030204"/>
                <a:ea typeface="宋体" panose="02010600030101010101" pitchFamily="2" charset="-122"/>
                <a:hlinkClick r:id="rId5"/>
              </a:rPr>
              <a:t>www.1ppt.com/beijing/</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图表下载：</a:t>
            </a:r>
            <a:r>
              <a:rPr lang="en-US" altLang="zh-CN" sz="100" kern="0" dirty="0">
                <a:solidFill>
                  <a:srgbClr val="EEECE1">
                    <a:lumMod val="25000"/>
                  </a:srgbClr>
                </a:solidFill>
                <a:latin typeface="Calibri" panose="020F0502020204030204"/>
                <a:ea typeface="宋体" panose="02010600030101010101" pitchFamily="2" charset="-122"/>
                <a:hlinkClick r:id="rId6"/>
              </a:rPr>
              <a:t>www.1ppt.com/tubiao/</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优秀</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下载：</a:t>
            </a:r>
            <a:r>
              <a:rPr lang="en-US" altLang="zh-CN" sz="100" kern="0" dirty="0">
                <a:solidFill>
                  <a:srgbClr val="EEECE1">
                    <a:lumMod val="25000"/>
                  </a:srgbClr>
                </a:solidFill>
                <a:latin typeface="Calibri" panose="020F0502020204030204"/>
                <a:ea typeface="宋体" panose="02010600030101010101" pitchFamily="2" charset="-122"/>
                <a:hlinkClick r:id="rId7"/>
              </a:rPr>
              <a:t>www.1ppt.com/xiazai/</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教程： </a:t>
            </a:r>
            <a:r>
              <a:rPr lang="en-US" altLang="zh-CN" sz="100" kern="0" dirty="0">
                <a:solidFill>
                  <a:srgbClr val="EEECE1">
                    <a:lumMod val="25000"/>
                  </a:srgbClr>
                </a:solidFill>
                <a:latin typeface="Calibri" panose="020F0502020204030204"/>
                <a:ea typeface="宋体" panose="02010600030101010101" pitchFamily="2" charset="-122"/>
                <a:hlinkClick r:id="rId8"/>
              </a:rPr>
              <a:t>www.1ppt.com/powerpoint/</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Word</a:t>
            </a:r>
            <a:r>
              <a:rPr lang="zh-CN" altLang="en-US" sz="100" kern="0" dirty="0">
                <a:solidFill>
                  <a:srgbClr val="EEECE1">
                    <a:lumMod val="25000"/>
                  </a:srgbClr>
                </a:solidFill>
                <a:latin typeface="Calibri" panose="020F0502020204030204"/>
                <a:ea typeface="宋体" panose="02010600030101010101" pitchFamily="2" charset="-122"/>
              </a:rPr>
              <a:t>教程： </a:t>
            </a:r>
            <a:r>
              <a:rPr lang="en-US" altLang="zh-CN" sz="100" kern="0" dirty="0">
                <a:solidFill>
                  <a:srgbClr val="EEECE1">
                    <a:lumMod val="25000"/>
                  </a:srgbClr>
                </a:solidFill>
                <a:latin typeface="Calibri" panose="020F0502020204030204"/>
                <a:ea typeface="宋体" panose="02010600030101010101" pitchFamily="2" charset="-122"/>
                <a:hlinkClick r:id="rId9"/>
              </a:rPr>
              <a:t>www.1ppt.com/word/</a:t>
            </a:r>
            <a:r>
              <a:rPr lang="en-US" altLang="zh-CN" sz="100" kern="0" dirty="0">
                <a:solidFill>
                  <a:srgbClr val="EEECE1">
                    <a:lumMod val="25000"/>
                  </a:srgbClr>
                </a:solidFill>
                <a:latin typeface="Calibri" panose="020F0502020204030204"/>
                <a:ea typeface="宋体" panose="02010600030101010101" pitchFamily="2" charset="-122"/>
              </a:rPr>
              <a:t>              Excel</a:t>
            </a:r>
            <a:r>
              <a:rPr lang="zh-CN" altLang="en-US" sz="100" kern="0" dirty="0">
                <a:solidFill>
                  <a:srgbClr val="EEECE1">
                    <a:lumMod val="25000"/>
                  </a:srgbClr>
                </a:solidFill>
                <a:latin typeface="Calibri" panose="020F0502020204030204"/>
                <a:ea typeface="宋体" panose="02010600030101010101" pitchFamily="2" charset="-122"/>
              </a:rPr>
              <a:t>教程：</a:t>
            </a:r>
            <a:r>
              <a:rPr lang="en-US" altLang="zh-CN" sz="100" kern="0" dirty="0">
                <a:solidFill>
                  <a:srgbClr val="EEECE1">
                    <a:lumMod val="25000"/>
                  </a:srgbClr>
                </a:solidFill>
                <a:latin typeface="Calibri" panose="020F0502020204030204"/>
                <a:ea typeface="宋体" panose="02010600030101010101" pitchFamily="2" charset="-122"/>
                <a:hlinkClick r:id="rId10"/>
              </a:rPr>
              <a:t>www.1ppt.com/excel/</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资料下载：</a:t>
            </a:r>
            <a:r>
              <a:rPr lang="en-US" altLang="zh-CN" sz="100" kern="0" dirty="0">
                <a:solidFill>
                  <a:srgbClr val="EEECE1">
                    <a:lumMod val="25000"/>
                  </a:srgbClr>
                </a:solidFill>
                <a:latin typeface="Calibri" panose="020F0502020204030204"/>
                <a:ea typeface="宋体" panose="02010600030101010101" pitchFamily="2" charset="-122"/>
                <a:hlinkClick r:id="rId11"/>
              </a:rPr>
              <a:t>www.1ppt.com/ziliao/</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课件下载：</a:t>
            </a:r>
            <a:r>
              <a:rPr lang="en-US" altLang="zh-CN" sz="100" kern="0" dirty="0">
                <a:solidFill>
                  <a:srgbClr val="EEECE1">
                    <a:lumMod val="25000"/>
                  </a:srgbClr>
                </a:solidFill>
                <a:latin typeface="Calibri" panose="020F0502020204030204"/>
                <a:ea typeface="宋体" panose="02010600030101010101" pitchFamily="2" charset="-122"/>
                <a:hlinkClick r:id="rId12"/>
              </a:rPr>
              <a:t>www.1ppt.com/kejian/</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范文下载：</a:t>
            </a:r>
            <a:r>
              <a:rPr lang="en-US" altLang="zh-CN" sz="100" kern="0" dirty="0">
                <a:solidFill>
                  <a:srgbClr val="EEECE1">
                    <a:lumMod val="25000"/>
                  </a:srgbClr>
                </a:solidFill>
                <a:latin typeface="Calibri" panose="020F0502020204030204"/>
                <a:ea typeface="宋体" panose="02010600030101010101" pitchFamily="2" charset="-122"/>
                <a:hlinkClick r:id="rId13"/>
              </a:rPr>
              <a:t>www.1ppt.com/fanwen/</a:t>
            </a:r>
            <a:r>
              <a:rPr lang="en-US" altLang="zh-CN" sz="100" kern="0" dirty="0">
                <a:solidFill>
                  <a:srgbClr val="EEECE1">
                    <a:lumMod val="25000"/>
                  </a:srgbClr>
                </a:solidFill>
                <a:latin typeface="Calibri" panose="020F0502020204030204"/>
                <a:ea typeface="宋体" panose="02010600030101010101" pitchFamily="2" charset="-122"/>
              </a:rPr>
              <a:t>             </a:t>
            </a:r>
            <a:r>
              <a:rPr lang="zh-CN" altLang="en-US" sz="100" kern="0" dirty="0">
                <a:solidFill>
                  <a:srgbClr val="EEECE1">
                    <a:lumMod val="25000"/>
                  </a:srgbClr>
                </a:solidFill>
                <a:latin typeface="Calibri" panose="020F0502020204030204"/>
                <a:ea typeface="宋体" panose="02010600030101010101" pitchFamily="2" charset="-122"/>
              </a:rPr>
              <a:t>试卷下载：</a:t>
            </a:r>
            <a:r>
              <a:rPr lang="en-US" altLang="zh-CN" sz="100" kern="0" dirty="0">
                <a:solidFill>
                  <a:srgbClr val="EEECE1">
                    <a:lumMod val="25000"/>
                  </a:srgbClr>
                </a:solidFill>
                <a:latin typeface="Calibri" panose="020F0502020204030204"/>
                <a:ea typeface="宋体" panose="02010600030101010101" pitchFamily="2" charset="-122"/>
                <a:hlinkClick r:id="rId14"/>
              </a:rPr>
              <a:t>www.1ppt.com/shiti/</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教案下载：</a:t>
            </a:r>
            <a:r>
              <a:rPr lang="en-US" altLang="zh-CN" sz="100" kern="0" dirty="0">
                <a:solidFill>
                  <a:srgbClr val="EEECE1">
                    <a:lumMod val="25000"/>
                  </a:srgbClr>
                </a:solidFill>
                <a:latin typeface="Calibri" panose="020F0502020204030204"/>
                <a:ea typeface="宋体" panose="02010600030101010101" pitchFamily="2" charset="-122"/>
                <a:hlinkClick r:id="rId15"/>
              </a:rPr>
              <a:t>www.1ppt.com/jiaoan/</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  </a:t>
            </a:r>
            <a:endParaRPr lang="zh-CN" altLang="en-US" sz="100" kern="0" dirty="0">
              <a:solidFill>
                <a:srgbClr val="EEECE1">
                  <a:lumMod val="25000"/>
                </a:srgbClr>
              </a:solidFill>
              <a:latin typeface="Calibri" panose="020F0502020204030204"/>
              <a:ea typeface="宋体" panose="02010600030101010101" pitchFamily="2" charset="-122"/>
            </a:endParaRPr>
          </a:p>
        </p:txBody>
      </p:sp>
      <p:pic>
        <p:nvPicPr>
          <p:cNvPr id="14339" name="Picture 3" descr="PPT-2"/>
          <p:cNvPicPr>
            <a:picLocks noChangeAspect="1" noChangeArrowheads="1"/>
          </p:cNvPicPr>
          <p:nvPr/>
        </p:nvPicPr>
        <p:blipFill>
          <a:blip r:embed="rId16" cstate="print"/>
          <a:srcRect/>
          <a:stretch>
            <a:fillRect/>
          </a:stretch>
        </p:blipFill>
        <p:spPr bwMode="auto">
          <a:xfrm>
            <a:off x="0" y="0"/>
            <a:ext cx="10026188" cy="2578100"/>
          </a:xfrm>
          <a:prstGeom prst="rect">
            <a:avLst/>
          </a:prstGeom>
          <a:noFill/>
          <a:ln w="9525">
            <a:noFill/>
            <a:miter lim="800000"/>
            <a:headEnd/>
            <a:tailEnd/>
          </a:ln>
        </p:spPr>
      </p:pic>
      <p:pic>
        <p:nvPicPr>
          <p:cNvPr id="7173" name="Picture 5" descr="PPT-4"/>
          <p:cNvPicPr>
            <a:picLocks noChangeAspect="1" noChangeArrowheads="1"/>
          </p:cNvPicPr>
          <p:nvPr/>
        </p:nvPicPr>
        <p:blipFill>
          <a:blip r:embed="rId17" cstate="print"/>
          <a:srcRect/>
          <a:stretch>
            <a:fillRect/>
          </a:stretch>
        </p:blipFill>
        <p:spPr bwMode="auto">
          <a:xfrm>
            <a:off x="-227274" y="3863976"/>
            <a:ext cx="10019658" cy="2949575"/>
          </a:xfrm>
          <a:prstGeom prst="rect">
            <a:avLst/>
          </a:prstGeom>
          <a:noFill/>
          <a:ln w="9525">
            <a:noFill/>
            <a:miter lim="800000"/>
            <a:headEnd/>
            <a:tailEnd/>
          </a:ln>
        </p:spPr>
      </p:pic>
      <p:pic>
        <p:nvPicPr>
          <p:cNvPr id="7175" name="Picture 7" descr="PPT-6"/>
          <p:cNvPicPr>
            <a:picLocks noChangeAspect="1" noChangeArrowheads="1"/>
          </p:cNvPicPr>
          <p:nvPr/>
        </p:nvPicPr>
        <p:blipFill>
          <a:blip r:embed="rId18" cstate="print"/>
          <a:srcRect/>
          <a:stretch>
            <a:fillRect/>
          </a:stretch>
        </p:blipFill>
        <p:spPr bwMode="auto">
          <a:xfrm>
            <a:off x="1347942" y="2578100"/>
            <a:ext cx="7654412" cy="2408237"/>
          </a:xfrm>
          <a:prstGeom prst="rect">
            <a:avLst/>
          </a:prstGeom>
          <a:noFill/>
          <a:ln w="9525">
            <a:noFill/>
            <a:miter lim="800000"/>
            <a:headEnd/>
            <a:tailEnd/>
          </a:ln>
        </p:spPr>
      </p:pic>
      <p:sp>
        <p:nvSpPr>
          <p:cNvPr id="11" name="矩形 10"/>
          <p:cNvSpPr/>
          <p:nvPr/>
        </p:nvSpPr>
        <p:spPr>
          <a:xfrm>
            <a:off x="1858296" y="4004809"/>
            <a:ext cx="5367139" cy="430887"/>
          </a:xfrm>
          <a:prstGeom prst="rect">
            <a:avLst/>
          </a:prstGeom>
        </p:spPr>
        <p:txBody>
          <a:bodyPr wrap="square">
            <a:spAutoFit/>
          </a:bodyPr>
          <a:lstStyle/>
          <a:p>
            <a:pPr marL="342900" indent="-342900" eaLnBrk="1" hangingPunct="1">
              <a:lnSpc>
                <a:spcPct val="110000"/>
              </a:lnSpc>
              <a:defRPr/>
            </a:pPr>
            <a:r>
              <a:rPr lang="zh-CN" altLang="en-US"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p:cNvSpPr/>
          <p:nvPr/>
        </p:nvSpPr>
        <p:spPr>
          <a:xfrm>
            <a:off x="1858296" y="3044826"/>
            <a:ext cx="6386051" cy="840230"/>
          </a:xfrm>
          <a:prstGeom prst="rect">
            <a:avLst/>
          </a:prstGeom>
        </p:spPr>
        <p:txBody>
          <a:bodyPr wrap="square">
            <a:spAutoFit/>
          </a:bodyPr>
          <a:lstStyle/>
          <a:p>
            <a:pPr marL="342900" indent="-342900" algn="ctr">
              <a:lnSpc>
                <a:spcPct val="90000"/>
              </a:lnSpc>
              <a:spcBef>
                <a:spcPct val="50000"/>
              </a:spcBef>
              <a:buClr>
                <a:schemeClr val="tx1"/>
              </a:buClr>
              <a:buSzPct val="70000"/>
              <a:buFont typeface="Wingdings" panose="05000000000000000000" pitchFamily="2" charset="2"/>
              <a:buNone/>
            </a:pPr>
            <a:r>
              <a:rPr lang="en-US" altLang="zh-CN" sz="5400" dirty="0">
                <a:solidFill>
                  <a:srgbClr val="000000"/>
                </a:solidFill>
                <a:sym typeface="Arial" panose="020B0604020202020204" pitchFamily="34" charset="0"/>
              </a:rPr>
              <a:t>Redis</a:t>
            </a:r>
            <a:r>
              <a:rPr lang="zh-CN" altLang="en-US" sz="5400" dirty="0">
                <a:solidFill>
                  <a:srgbClr val="000000"/>
                </a:solidFill>
                <a:sym typeface="Arial" panose="020B0604020202020204" pitchFamily="34" charset="0"/>
              </a:rPr>
              <a:t>数据库</a:t>
            </a:r>
            <a:endParaRPr lang="en-US" altLang="zh-CN" sz="5400" dirty="0">
              <a:solidFill>
                <a:srgbClr val="000000"/>
              </a:solidFill>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wipe(down)">
                                      <p:cBhvr>
                                        <p:cTn id="7" dur="580">
                                          <p:stCondLst>
                                            <p:cond delay="0"/>
                                          </p:stCondLst>
                                        </p:cTn>
                                        <p:tgtEl>
                                          <p:spTgt spid="7175"/>
                                        </p:tgtEl>
                                      </p:cBhvr>
                                    </p:animEffect>
                                    <p:anim calcmode="lin" valueType="num">
                                      <p:cBhvr>
                                        <p:cTn id="8" dur="1822">
                                          <p:stCondLst>
                                            <p:cond delay="0"/>
                                          </p:stCondLst>
                                        </p:cTn>
                                        <p:tgtEl>
                                          <p:spTgt spid="7175"/>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7175"/>
                                        </p:tgtEl>
                                        <p:attrNameLst>
                                          <p:attrName>ppt_y</p:attrName>
                                        </p:attrNameLst>
                                      </p:cBhvr>
                                      <p:tavLst>
                                        <p:tav tm="0" fmla="#ppt_y-sin(pi*$)/3">
                                          <p:val>
                                            <p:fltVal val="0.5"/>
                                          </p:val>
                                        </p:tav>
                                        <p:tav tm="100000">
                                          <p:val>
                                            <p:fltVal val="1"/>
                                          </p:val>
                                        </p:tav>
                                      </p:tavLst>
                                    </p:anim>
                                    <p:anim calcmode="lin" valueType="num">
                                      <p:cBhvr>
                                        <p:cTn id="10" dur="664">
                                          <p:stCondLst>
                                            <p:cond delay="664"/>
                                          </p:stCondLst>
                                        </p:cTn>
                                        <p:tgtEl>
                                          <p:spTgt spid="7175"/>
                                        </p:tgtEl>
                                        <p:attrNameLst>
                                          <p:attrName>ppt_y</p:attrName>
                                        </p:attrNameLst>
                                      </p:cBhvr>
                                      <p:tavLst>
                                        <p:tav tm="0" fmla="#ppt_y-sin(pi*$)/9">
                                          <p:val>
                                            <p:fltVal val="0"/>
                                          </p:val>
                                        </p:tav>
                                        <p:tav tm="100000">
                                          <p:val>
                                            <p:fltVal val="1"/>
                                          </p:val>
                                        </p:tav>
                                      </p:tavLst>
                                    </p:anim>
                                    <p:anim calcmode="lin" valueType="num">
                                      <p:cBhvr>
                                        <p:cTn id="11" dur="332">
                                          <p:stCondLst>
                                            <p:cond delay="1324"/>
                                          </p:stCondLst>
                                        </p:cTn>
                                        <p:tgtEl>
                                          <p:spTgt spid="7175"/>
                                        </p:tgtEl>
                                        <p:attrNameLst>
                                          <p:attrName>ppt_y</p:attrName>
                                        </p:attrNameLst>
                                      </p:cBhvr>
                                      <p:tavLst>
                                        <p:tav tm="0" fmla="#ppt_y-sin(pi*$)/27">
                                          <p:val>
                                            <p:fltVal val="0"/>
                                          </p:val>
                                        </p:tav>
                                        <p:tav tm="100000">
                                          <p:val>
                                            <p:fltVal val="1"/>
                                          </p:val>
                                        </p:tav>
                                      </p:tavLst>
                                    </p:anim>
                                    <p:anim calcmode="lin" valueType="num">
                                      <p:cBhvr>
                                        <p:cTn id="12" dur="164">
                                          <p:stCondLst>
                                            <p:cond delay="1656"/>
                                          </p:stCondLst>
                                        </p:cTn>
                                        <p:tgtEl>
                                          <p:spTgt spid="7175"/>
                                        </p:tgtEl>
                                        <p:attrNameLst>
                                          <p:attrName>ppt_y</p:attrName>
                                        </p:attrNameLst>
                                      </p:cBhvr>
                                      <p:tavLst>
                                        <p:tav tm="0" fmla="#ppt_y-sin(pi*$)/81">
                                          <p:val>
                                            <p:fltVal val="0"/>
                                          </p:val>
                                        </p:tav>
                                        <p:tav tm="100000">
                                          <p:val>
                                            <p:fltVal val="1"/>
                                          </p:val>
                                        </p:tav>
                                      </p:tavLst>
                                    </p:anim>
                                    <p:animScale>
                                      <p:cBhvr>
                                        <p:cTn id="13" dur="26">
                                          <p:stCondLst>
                                            <p:cond delay="650"/>
                                          </p:stCondLst>
                                        </p:cTn>
                                        <p:tgtEl>
                                          <p:spTgt spid="7175"/>
                                        </p:tgtEl>
                                      </p:cBhvr>
                                      <p:to x="100000" y="60000"/>
                                    </p:animScale>
                                    <p:animScale>
                                      <p:cBhvr>
                                        <p:cTn id="14" dur="166" decel="50000">
                                          <p:stCondLst>
                                            <p:cond delay="676"/>
                                          </p:stCondLst>
                                        </p:cTn>
                                        <p:tgtEl>
                                          <p:spTgt spid="7175"/>
                                        </p:tgtEl>
                                      </p:cBhvr>
                                      <p:to x="100000" y="100000"/>
                                    </p:animScale>
                                    <p:animScale>
                                      <p:cBhvr>
                                        <p:cTn id="15" dur="26">
                                          <p:stCondLst>
                                            <p:cond delay="1312"/>
                                          </p:stCondLst>
                                        </p:cTn>
                                        <p:tgtEl>
                                          <p:spTgt spid="7175"/>
                                        </p:tgtEl>
                                      </p:cBhvr>
                                      <p:to x="100000" y="80000"/>
                                    </p:animScale>
                                    <p:animScale>
                                      <p:cBhvr>
                                        <p:cTn id="16" dur="166" decel="50000">
                                          <p:stCondLst>
                                            <p:cond delay="1338"/>
                                          </p:stCondLst>
                                        </p:cTn>
                                        <p:tgtEl>
                                          <p:spTgt spid="7175"/>
                                        </p:tgtEl>
                                      </p:cBhvr>
                                      <p:to x="100000" y="100000"/>
                                    </p:animScale>
                                    <p:animScale>
                                      <p:cBhvr>
                                        <p:cTn id="17" dur="26">
                                          <p:stCondLst>
                                            <p:cond delay="1642"/>
                                          </p:stCondLst>
                                        </p:cTn>
                                        <p:tgtEl>
                                          <p:spTgt spid="7175"/>
                                        </p:tgtEl>
                                      </p:cBhvr>
                                      <p:to x="100000" y="90000"/>
                                    </p:animScale>
                                    <p:animScale>
                                      <p:cBhvr>
                                        <p:cTn id="18" dur="166" decel="50000">
                                          <p:stCondLst>
                                            <p:cond delay="1668"/>
                                          </p:stCondLst>
                                        </p:cTn>
                                        <p:tgtEl>
                                          <p:spTgt spid="7175"/>
                                        </p:tgtEl>
                                      </p:cBhvr>
                                      <p:to x="100000" y="100000"/>
                                    </p:animScale>
                                    <p:animScale>
                                      <p:cBhvr>
                                        <p:cTn id="19" dur="26">
                                          <p:stCondLst>
                                            <p:cond delay="1808"/>
                                          </p:stCondLst>
                                        </p:cTn>
                                        <p:tgtEl>
                                          <p:spTgt spid="7175"/>
                                        </p:tgtEl>
                                      </p:cBhvr>
                                      <p:to x="100000" y="95000"/>
                                    </p:animScale>
                                    <p:animScale>
                                      <p:cBhvr>
                                        <p:cTn id="20" dur="166" decel="50000">
                                          <p:stCondLst>
                                            <p:cond delay="1834"/>
                                          </p:stCondLst>
                                        </p:cTn>
                                        <p:tgtEl>
                                          <p:spTgt spid="7175"/>
                                        </p:tgtEl>
                                      </p:cBhvr>
                                      <p:to x="100000" y="100000"/>
                                    </p:animScale>
                                  </p:childTnLst>
                                  <p:subTnLst>
                                    <p:audio>
                                      <p:cMediaNode vol="19000">
                                        <p:cTn display="0" masterRel="sameClick">
                                          <p:stCondLst>
                                            <p:cond evt="begin" delay="0">
                                              <p:tn val="5"/>
                                            </p:cond>
                                          </p:stCondLst>
                                          <p:endCondLst>
                                            <p:cond evt="onStopAudio" delay="0">
                                              <p:tgtEl>
                                                <p:sldTgt/>
                                              </p:tgtEl>
                                            </p:cond>
                                          </p:endCondLst>
                                        </p:cTn>
                                        <p:tgtEl>
                                          <p:sndTgt r:embed="rId19" name="push.wav"/>
                                        </p:tgtEl>
                                      </p:cMediaNode>
                                    </p:audio>
                                  </p:subTnLst>
                                </p:cTn>
                              </p:par>
                              <p:par>
                                <p:cTn id="21" presetID="26" presetClass="entr" presetSubtype="0" fill="hold" nodeType="withEffect">
                                  <p:stCondLst>
                                    <p:cond delay="0"/>
                                  </p:stCondLst>
                                  <p:childTnLst>
                                    <p:set>
                                      <p:cBhvr>
                                        <p:cTn id="22" dur="1" fill="hold">
                                          <p:stCondLst>
                                            <p:cond delay="0"/>
                                          </p:stCondLst>
                                        </p:cTn>
                                        <p:tgtEl>
                                          <p:spTgt spid="7173"/>
                                        </p:tgtEl>
                                        <p:attrNameLst>
                                          <p:attrName>style.visibility</p:attrName>
                                        </p:attrNameLst>
                                      </p:cBhvr>
                                      <p:to>
                                        <p:strVal val="visible"/>
                                      </p:to>
                                    </p:set>
                                    <p:animEffect transition="in" filter="wipe(down)">
                                      <p:cBhvr>
                                        <p:cTn id="23" dur="580">
                                          <p:stCondLst>
                                            <p:cond delay="0"/>
                                          </p:stCondLst>
                                        </p:cTn>
                                        <p:tgtEl>
                                          <p:spTgt spid="7173"/>
                                        </p:tgtEl>
                                      </p:cBhvr>
                                    </p:animEffect>
                                    <p:anim calcmode="lin" valueType="num">
                                      <p:cBhvr>
                                        <p:cTn id="24" dur="1822" tmFilter="0,0; 0.14,0.36; 0.43,0.73; 0.71,0.91; 1.0,1.0">
                                          <p:stCondLst>
                                            <p:cond delay="0"/>
                                          </p:stCondLst>
                                        </p:cTn>
                                        <p:tgtEl>
                                          <p:spTgt spid="717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17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17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17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173"/>
                                        </p:tgtEl>
                                        <p:attrNameLst>
                                          <p:attrName>ppt_y</p:attrName>
                                        </p:attrNameLst>
                                      </p:cBhvr>
                                      <p:tavLst>
                                        <p:tav tm="0" fmla="#ppt_y-sin(pi*$)/81">
                                          <p:val>
                                            <p:fltVal val="0"/>
                                          </p:val>
                                        </p:tav>
                                        <p:tav tm="100000">
                                          <p:val>
                                            <p:fltVal val="1"/>
                                          </p:val>
                                        </p:tav>
                                      </p:tavLst>
                                    </p:anim>
                                    <p:animScale>
                                      <p:cBhvr>
                                        <p:cTn id="29" dur="26">
                                          <p:stCondLst>
                                            <p:cond delay="650"/>
                                          </p:stCondLst>
                                        </p:cTn>
                                        <p:tgtEl>
                                          <p:spTgt spid="7173"/>
                                        </p:tgtEl>
                                      </p:cBhvr>
                                      <p:to x="100000" y="60000"/>
                                    </p:animScale>
                                    <p:animScale>
                                      <p:cBhvr>
                                        <p:cTn id="30" dur="166" decel="50000">
                                          <p:stCondLst>
                                            <p:cond delay="676"/>
                                          </p:stCondLst>
                                        </p:cTn>
                                        <p:tgtEl>
                                          <p:spTgt spid="7173"/>
                                        </p:tgtEl>
                                      </p:cBhvr>
                                      <p:to x="100000" y="100000"/>
                                    </p:animScale>
                                    <p:animScale>
                                      <p:cBhvr>
                                        <p:cTn id="31" dur="26">
                                          <p:stCondLst>
                                            <p:cond delay="1312"/>
                                          </p:stCondLst>
                                        </p:cTn>
                                        <p:tgtEl>
                                          <p:spTgt spid="7173"/>
                                        </p:tgtEl>
                                      </p:cBhvr>
                                      <p:to x="100000" y="80000"/>
                                    </p:animScale>
                                    <p:animScale>
                                      <p:cBhvr>
                                        <p:cTn id="32" dur="166" decel="50000">
                                          <p:stCondLst>
                                            <p:cond delay="1338"/>
                                          </p:stCondLst>
                                        </p:cTn>
                                        <p:tgtEl>
                                          <p:spTgt spid="7173"/>
                                        </p:tgtEl>
                                      </p:cBhvr>
                                      <p:to x="100000" y="100000"/>
                                    </p:animScale>
                                    <p:animScale>
                                      <p:cBhvr>
                                        <p:cTn id="33" dur="26">
                                          <p:stCondLst>
                                            <p:cond delay="1642"/>
                                          </p:stCondLst>
                                        </p:cTn>
                                        <p:tgtEl>
                                          <p:spTgt spid="7173"/>
                                        </p:tgtEl>
                                      </p:cBhvr>
                                      <p:to x="100000" y="90000"/>
                                    </p:animScale>
                                    <p:animScale>
                                      <p:cBhvr>
                                        <p:cTn id="34" dur="166" decel="50000">
                                          <p:stCondLst>
                                            <p:cond delay="1668"/>
                                          </p:stCondLst>
                                        </p:cTn>
                                        <p:tgtEl>
                                          <p:spTgt spid="7173"/>
                                        </p:tgtEl>
                                      </p:cBhvr>
                                      <p:to x="100000" y="100000"/>
                                    </p:animScale>
                                    <p:animScale>
                                      <p:cBhvr>
                                        <p:cTn id="35" dur="26">
                                          <p:stCondLst>
                                            <p:cond delay="1808"/>
                                          </p:stCondLst>
                                        </p:cTn>
                                        <p:tgtEl>
                                          <p:spTgt spid="7173"/>
                                        </p:tgtEl>
                                      </p:cBhvr>
                                      <p:to x="100000" y="95000"/>
                                    </p:animScale>
                                    <p:animScale>
                                      <p:cBhvr>
                                        <p:cTn id="36" dur="166" decel="50000">
                                          <p:stCondLst>
                                            <p:cond delay="1834"/>
                                          </p:stCondLst>
                                        </p:cTn>
                                        <p:tgtEl>
                                          <p:spTgt spid="717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8195" name="Picture 3" descr="PPT-2-1"/>
          <p:cNvPicPr>
            <a:picLocks noChangeAspect="1" noChangeArrowheads="1"/>
          </p:cNvPicPr>
          <p:nvPr/>
        </p:nvPicPr>
        <p:blipFill>
          <a:blip r:embed="rId1" cstate="print"/>
          <a:srcRect/>
          <a:stretch>
            <a:fillRect/>
          </a:stretch>
        </p:blipFill>
        <p:spPr bwMode="auto">
          <a:xfrm>
            <a:off x="1" y="0"/>
            <a:ext cx="10030107" cy="1878013"/>
          </a:xfrm>
          <a:prstGeom prst="rect">
            <a:avLst/>
          </a:prstGeom>
          <a:noFill/>
          <a:ln w="9525">
            <a:noFill/>
            <a:miter lim="800000"/>
            <a:headEnd/>
            <a:tailEnd/>
          </a:ln>
        </p:spPr>
      </p:pic>
      <p:grpSp>
        <p:nvGrpSpPr>
          <p:cNvPr id="2" name="组合 1"/>
          <p:cNvGrpSpPr/>
          <p:nvPr/>
        </p:nvGrpSpPr>
        <p:grpSpPr>
          <a:xfrm>
            <a:off x="1016000" y="2843691"/>
            <a:ext cx="249480" cy="1904386"/>
            <a:chOff x="1037627" y="2208213"/>
            <a:chExt cx="249480" cy="1904386"/>
          </a:xfrm>
        </p:grpSpPr>
        <p:pic>
          <p:nvPicPr>
            <p:cNvPr id="8201" name="Picture 9" descr="PPT-2-5"/>
            <p:cNvPicPr>
              <a:picLocks noChangeAspect="1" noChangeArrowheads="1"/>
            </p:cNvPicPr>
            <p:nvPr/>
          </p:nvPicPr>
          <p:blipFill>
            <a:blip r:embed="rId2" cstate="print"/>
            <a:srcRect/>
            <a:stretch>
              <a:fillRect/>
            </a:stretch>
          </p:blipFill>
          <p:spPr bwMode="auto">
            <a:xfrm>
              <a:off x="1037627" y="2208213"/>
              <a:ext cx="245561" cy="311150"/>
            </a:xfrm>
            <a:prstGeom prst="rect">
              <a:avLst/>
            </a:prstGeom>
            <a:noFill/>
            <a:ln w="9525">
              <a:noFill/>
              <a:miter lim="800000"/>
              <a:headEnd/>
              <a:tailEnd/>
            </a:ln>
          </p:spPr>
        </p:pic>
        <p:pic>
          <p:nvPicPr>
            <p:cNvPr id="8202" name="Picture 10" descr="PPT-2-5"/>
            <p:cNvPicPr>
              <a:picLocks noChangeAspect="1" noChangeArrowheads="1"/>
            </p:cNvPicPr>
            <p:nvPr/>
          </p:nvPicPr>
          <p:blipFill>
            <a:blip r:embed="rId2" cstate="print"/>
            <a:srcRect/>
            <a:stretch>
              <a:fillRect/>
            </a:stretch>
          </p:blipFill>
          <p:spPr bwMode="auto">
            <a:xfrm>
              <a:off x="1041546" y="2738438"/>
              <a:ext cx="245561" cy="311150"/>
            </a:xfrm>
            <a:prstGeom prst="rect">
              <a:avLst/>
            </a:prstGeom>
            <a:noFill/>
            <a:ln w="9525">
              <a:noFill/>
              <a:miter lim="800000"/>
              <a:headEnd/>
              <a:tailEnd/>
            </a:ln>
          </p:spPr>
        </p:pic>
        <p:pic>
          <p:nvPicPr>
            <p:cNvPr id="8203" name="Picture 11" descr="PPT-2-5"/>
            <p:cNvPicPr>
              <a:picLocks noChangeAspect="1" noChangeArrowheads="1"/>
            </p:cNvPicPr>
            <p:nvPr/>
          </p:nvPicPr>
          <p:blipFill>
            <a:blip r:embed="rId2" cstate="print"/>
            <a:srcRect/>
            <a:stretch>
              <a:fillRect/>
            </a:stretch>
          </p:blipFill>
          <p:spPr bwMode="auto">
            <a:xfrm>
              <a:off x="1038648" y="3261699"/>
              <a:ext cx="245561" cy="311150"/>
            </a:xfrm>
            <a:prstGeom prst="rect">
              <a:avLst/>
            </a:prstGeom>
            <a:noFill/>
            <a:ln w="9525">
              <a:noFill/>
              <a:miter lim="800000"/>
              <a:headEnd/>
              <a:tailEnd/>
            </a:ln>
          </p:spPr>
        </p:pic>
        <p:pic>
          <p:nvPicPr>
            <p:cNvPr id="8204" name="Picture 12" descr="PPT-2-5"/>
            <p:cNvPicPr>
              <a:picLocks noChangeAspect="1" noChangeArrowheads="1"/>
            </p:cNvPicPr>
            <p:nvPr/>
          </p:nvPicPr>
          <p:blipFill>
            <a:blip r:embed="rId2" cstate="print"/>
            <a:srcRect/>
            <a:stretch>
              <a:fillRect/>
            </a:stretch>
          </p:blipFill>
          <p:spPr bwMode="auto">
            <a:xfrm>
              <a:off x="1038648" y="3801449"/>
              <a:ext cx="245561" cy="311150"/>
            </a:xfrm>
            <a:prstGeom prst="rect">
              <a:avLst/>
            </a:prstGeom>
            <a:noFill/>
            <a:ln w="9525">
              <a:noFill/>
              <a:miter lim="800000"/>
              <a:headEnd/>
              <a:tailEnd/>
            </a:ln>
          </p:spPr>
        </p:pic>
      </p:grpSp>
      <p:pic>
        <p:nvPicPr>
          <p:cNvPr id="15370" name="Picture 19" descr="PPT-2-12"/>
          <p:cNvPicPr>
            <a:picLocks noChangeAspect="1" noChangeArrowheads="1"/>
          </p:cNvPicPr>
          <p:nvPr/>
        </p:nvPicPr>
        <p:blipFill>
          <a:blip r:embed="rId3" cstate="print"/>
          <a:srcRect/>
          <a:stretch>
            <a:fillRect/>
          </a:stretch>
        </p:blipFill>
        <p:spPr bwMode="auto">
          <a:xfrm>
            <a:off x="1" y="6454776"/>
            <a:ext cx="10030107" cy="403225"/>
          </a:xfrm>
          <a:prstGeom prst="rect">
            <a:avLst/>
          </a:prstGeom>
          <a:noFill/>
          <a:ln w="9525">
            <a:noFill/>
            <a:miter lim="800000"/>
            <a:headEnd/>
            <a:tailEnd/>
          </a:ln>
        </p:spPr>
      </p:pic>
      <p:sp>
        <p:nvSpPr>
          <p:cNvPr id="11" name="内容占位符 2"/>
          <p:cNvSpPr txBox="1"/>
          <p:nvPr/>
        </p:nvSpPr>
        <p:spPr>
          <a:xfrm>
            <a:off x="1409794" y="2772252"/>
            <a:ext cx="6771204" cy="3882101"/>
          </a:xfrm>
          <a:prstGeom prst="rect">
            <a:avLst/>
          </a:prstGeom>
        </p:spPr>
        <p:txBody>
          <a:bodyPr/>
          <a:lstStyle/>
          <a:p>
            <a:pPr marL="228600" marR="0" lvl="0" indent="-228600" algn="l" defTabSz="914400" rtl="0" eaLnBrk="1" fontAlgn="base" latinLnBrk="0" hangingPunct="1">
              <a:lnSpc>
                <a:spcPct val="120000"/>
              </a:lnSpc>
              <a:spcBef>
                <a:spcPct val="30000"/>
              </a:spcBef>
              <a:spcAft>
                <a:spcPct val="0"/>
              </a:spcAft>
              <a:buClrTx/>
              <a:buSzTx/>
              <a:defRPr/>
            </a:pPr>
            <a:r>
              <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NoSQL</a:t>
            </a:r>
            <a:r>
              <a:rPr kumimoji="0" lang="zh-CN" altLang="en-US"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和</a:t>
            </a:r>
            <a:r>
              <a:rPr kumimoji="0" lang="en-US" altLang="zh-CN" sz="2350" b="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rPr>
              <a:t>redis</a:t>
            </a:r>
            <a:r>
              <a:rPr kumimoji="0" lang="zh-CN" altLang="en-US"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概述</a:t>
            </a:r>
            <a:endPar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zh-CN" altLang="en-US" sz="2350" kern="0" dirty="0">
                <a:latin typeface="微软雅黑" panose="020B0503020204020204" pitchFamily="34" charset="-122"/>
                <a:ea typeface="微软雅黑" panose="020B0503020204020204" pitchFamily="34" charset="-122"/>
              </a:rPr>
              <a:t>安装</a:t>
            </a:r>
            <a:endParaRPr lang="en-US" altLang="zh-CN" sz="2350" kern="0" dirty="0">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en-US" altLang="zh-CN" sz="2350" kern="0" dirty="0">
                <a:latin typeface="微软雅黑" panose="020B0503020204020204" pitchFamily="34" charset="-122"/>
                <a:ea typeface="微软雅黑" panose="020B0503020204020204" pitchFamily="34" charset="-122"/>
              </a:rPr>
              <a:t>Redis</a:t>
            </a:r>
            <a:r>
              <a:rPr lang="zh-CN" altLang="en-US" sz="2350" kern="0" dirty="0">
                <a:latin typeface="微软雅黑" panose="020B0503020204020204" pitchFamily="34" charset="-122"/>
                <a:ea typeface="微软雅黑" panose="020B0503020204020204" pitchFamily="34" charset="-122"/>
              </a:rPr>
              <a:t>持久化</a:t>
            </a:r>
            <a:endParaRPr lang="en-US" altLang="zh-CN" sz="2350" kern="0" dirty="0">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en-US" altLang="zh-CN" sz="2350" kern="0" dirty="0">
                <a:latin typeface="微软雅黑" panose="020B0503020204020204" pitchFamily="34" charset="-122"/>
                <a:ea typeface="微软雅黑" panose="020B0503020204020204" pitchFamily="34" charset="-122"/>
              </a:rPr>
              <a:t>Redis</a:t>
            </a:r>
            <a:r>
              <a:rPr lang="zh-CN" altLang="en-US" sz="2350" kern="0" dirty="0">
                <a:latin typeface="微软雅黑" panose="020B0503020204020204" pitchFamily="34" charset="-122"/>
                <a:ea typeface="微软雅黑" panose="020B0503020204020204" pitchFamily="34" charset="-122"/>
              </a:rPr>
              <a:t>事务</a:t>
            </a:r>
            <a:endParaRPr lang="en-US" altLang="zh-CN" sz="2350" kern="0" dirty="0">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en-US" altLang="zh-CN" sz="2350" kern="0" dirty="0">
                <a:latin typeface="微软雅黑" panose="020B0503020204020204" pitchFamily="34" charset="-122"/>
                <a:ea typeface="微软雅黑" panose="020B0503020204020204" pitchFamily="34" charset="-122"/>
              </a:rPr>
              <a:t>Redis</a:t>
            </a:r>
            <a:r>
              <a:rPr lang="zh-CN" altLang="en-US" sz="2350" kern="0" dirty="0">
                <a:latin typeface="微软雅黑" panose="020B0503020204020204" pitchFamily="34" charset="-122"/>
                <a:ea typeface="微软雅黑" panose="020B0503020204020204" pitchFamily="34" charset="-122"/>
              </a:rPr>
              <a:t>主从复制</a:t>
            </a:r>
            <a:endParaRPr lang="en-US" altLang="zh-CN" sz="2350" kern="0" dirty="0">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zh-CN" altLang="en-US" sz="2350" kern="0" dirty="0">
                <a:latin typeface="微软雅黑" panose="020B0503020204020204" pitchFamily="34" charset="-122"/>
                <a:ea typeface="微软雅黑" panose="020B0503020204020204" pitchFamily="34" charset="-122"/>
              </a:rPr>
              <a:t>常见问题</a:t>
            </a:r>
            <a:endParaRPr lang="en-US" altLang="zh-CN" sz="2350" kern="0" dirty="0">
              <a:latin typeface="微软雅黑" panose="020B0503020204020204" pitchFamily="34" charset="-122"/>
              <a:ea typeface="微软雅黑" panose="020B0503020204020204" pitchFamily="34" charset="-122"/>
            </a:endParaRPr>
          </a:p>
        </p:txBody>
      </p:sp>
      <p:sp>
        <p:nvSpPr>
          <p:cNvPr id="12" name="矩形 11"/>
          <p:cNvSpPr/>
          <p:nvPr/>
        </p:nvSpPr>
        <p:spPr>
          <a:xfrm>
            <a:off x="1016000" y="962026"/>
            <a:ext cx="5221747" cy="643509"/>
          </a:xfrm>
          <a:prstGeom prst="rect">
            <a:avLst/>
          </a:prstGeom>
        </p:spPr>
        <p:txBody>
          <a:bodyPr wrap="square">
            <a:spAutoFit/>
          </a:bodyPr>
          <a:lstStyle/>
          <a:p>
            <a:pPr marL="342900" indent="-342900" eaLnBrk="1" hangingPunct="1">
              <a:lnSpc>
                <a:spcPct val="110000"/>
              </a:lnSpc>
              <a:defRPr/>
            </a:pPr>
            <a:r>
              <a:rPr lang="en-US" altLang="zh-CN" sz="3500" kern="0" dirty="0">
                <a:solidFill>
                  <a:schemeClr val="bg1"/>
                </a:solidFill>
                <a:latin typeface="微软雅黑" panose="020B0503020204020204" pitchFamily="34" charset="-122"/>
                <a:ea typeface="微软雅黑" panose="020B0503020204020204" pitchFamily="34" charset="-122"/>
              </a:rPr>
              <a:t>Outline </a:t>
            </a:r>
            <a:endParaRPr lang="en-US" altLang="zh-CN" sz="3500" kern="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3" name="Picture 12" descr="PPT-2-5"/>
          <p:cNvPicPr>
            <a:picLocks noChangeAspect="1" noChangeArrowheads="1"/>
          </p:cNvPicPr>
          <p:nvPr/>
        </p:nvPicPr>
        <p:blipFill>
          <a:blip r:embed="rId2" cstate="print"/>
          <a:srcRect/>
          <a:stretch>
            <a:fillRect/>
          </a:stretch>
        </p:blipFill>
        <p:spPr bwMode="auto">
          <a:xfrm>
            <a:off x="1015999" y="4976909"/>
            <a:ext cx="245561" cy="311150"/>
          </a:xfrm>
          <a:prstGeom prst="rect">
            <a:avLst/>
          </a:prstGeom>
          <a:noFill/>
          <a:ln w="9525">
            <a:noFill/>
            <a:miter lim="800000"/>
            <a:headEnd/>
            <a:tailEnd/>
          </a:ln>
        </p:spPr>
      </p:pic>
      <p:pic>
        <p:nvPicPr>
          <p:cNvPr id="4" name="Picture 12" descr="PPT-2-5"/>
          <p:cNvPicPr>
            <a:picLocks noChangeAspect="1" noChangeArrowheads="1"/>
          </p:cNvPicPr>
          <p:nvPr/>
        </p:nvPicPr>
        <p:blipFill>
          <a:blip r:embed="rId2" cstate="print"/>
          <a:srcRect/>
          <a:stretch>
            <a:fillRect/>
          </a:stretch>
        </p:blipFill>
        <p:spPr bwMode="auto">
          <a:xfrm>
            <a:off x="1015998" y="5560267"/>
            <a:ext cx="245561" cy="311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fade">
                                      <p:cBhvr>
                                        <p:cTn id="7" dur="20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4368800" y="2721114"/>
            <a:ext cx="1346200" cy="707886"/>
          </a:xfrm>
          <a:prstGeom prst="rect">
            <a:avLst/>
          </a:prstGeom>
          <a:noFill/>
        </p:spPr>
        <p:txBody>
          <a:bodyPr wrap="square" rtlCol="0">
            <a:spAutoFit/>
          </a:bodyPr>
          <a:lstStyle/>
          <a:p>
            <a:r>
              <a:rPr lang="zh-CN" altLang="en-US" sz="4000" dirty="0"/>
              <a:t>概述</a:t>
            </a:r>
            <a:endParaRPr lang="zh-CN" alt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80140" y="1739207"/>
            <a:ext cx="8443106" cy="409892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zh-CN" altLang="en-US" sz="1800" dirty="0">
                <a:solidFill>
                  <a:srgbClr val="333333"/>
                </a:solidFill>
                <a:latin typeface="Helvetica Neue"/>
              </a:rPr>
              <a:t>在我们日常的开发中，无不都是使用数据库来进行数据的存储，由于一般的系统任务中通常不会存在</a:t>
            </a:r>
            <a:r>
              <a:rPr lang="zh-CN" altLang="en-US" sz="1800" b="1" dirty="0">
                <a:solidFill>
                  <a:srgbClr val="FF0000"/>
                </a:solidFill>
                <a:latin typeface="Helvetica Neue"/>
              </a:rPr>
              <a:t>高并发</a:t>
            </a:r>
            <a:r>
              <a:rPr lang="zh-CN" altLang="en-US" sz="1800" dirty="0">
                <a:solidFill>
                  <a:srgbClr val="333333"/>
                </a:solidFill>
                <a:latin typeface="Helvetica Neue"/>
              </a:rPr>
              <a:t>的情况，所以这样看起来并没有什么问题，可是一旦涉及大数据量的需求，比如一些商品抢购的情景，或者是主页访问量瞬间较大的时候，单一使用数据库来保存数据的系统会因为面向磁盘，</a:t>
            </a:r>
            <a:r>
              <a:rPr lang="zh-CN" altLang="en-US" sz="1800" b="1" dirty="0">
                <a:solidFill>
                  <a:srgbClr val="FF0000"/>
                </a:solidFill>
                <a:latin typeface="Helvetica Neue"/>
              </a:rPr>
              <a:t>磁盘读</a:t>
            </a:r>
            <a:r>
              <a:rPr lang="en-US" altLang="zh-CN" sz="1800" b="1" dirty="0">
                <a:solidFill>
                  <a:srgbClr val="FF0000"/>
                </a:solidFill>
                <a:latin typeface="Helvetica Neue"/>
              </a:rPr>
              <a:t>/</a:t>
            </a:r>
            <a:r>
              <a:rPr lang="zh-CN" altLang="en-US" sz="1800" b="1" dirty="0">
                <a:solidFill>
                  <a:srgbClr val="FF0000"/>
                </a:solidFill>
                <a:latin typeface="Helvetica Neue"/>
              </a:rPr>
              <a:t>写速度比较慢的问题</a:t>
            </a:r>
            <a:r>
              <a:rPr lang="zh-CN" altLang="en-US" sz="1800" dirty="0">
                <a:solidFill>
                  <a:srgbClr val="333333"/>
                </a:solidFill>
                <a:latin typeface="Helvetica Neue"/>
              </a:rPr>
              <a:t>而存在严重的性能弊端，一瞬间成千上万的请求到来，需要系统在极短的时间内完成成</a:t>
            </a:r>
            <a:r>
              <a:rPr lang="zh-CN" altLang="en-US" sz="1800" b="1" dirty="0">
                <a:solidFill>
                  <a:srgbClr val="FF0000"/>
                </a:solidFill>
                <a:latin typeface="Helvetica Neue"/>
              </a:rPr>
              <a:t>千上万次的读</a:t>
            </a:r>
            <a:r>
              <a:rPr lang="en-US" altLang="zh-CN" sz="1800" b="1" dirty="0">
                <a:solidFill>
                  <a:srgbClr val="FF0000"/>
                </a:solidFill>
                <a:latin typeface="Helvetica Neue"/>
              </a:rPr>
              <a:t>/</a:t>
            </a:r>
            <a:r>
              <a:rPr lang="zh-CN" altLang="en-US" sz="1800" b="1" dirty="0">
                <a:solidFill>
                  <a:srgbClr val="FF0000"/>
                </a:solidFill>
                <a:latin typeface="Helvetica Neue"/>
              </a:rPr>
              <a:t>写操作</a:t>
            </a:r>
            <a:r>
              <a:rPr lang="zh-CN" altLang="en-US" sz="1800" dirty="0">
                <a:solidFill>
                  <a:srgbClr val="333333"/>
                </a:solidFill>
                <a:latin typeface="Helvetica Neue"/>
              </a:rPr>
              <a:t>，这个时候往往不是数据库能够承受的，极其容易造成数据库系统瘫痪，最终导致服务宕机的严重生产问题。</a:t>
            </a:r>
            <a:endParaRPr lang="en-US" altLang="zh-CN" sz="1800" dirty="0">
              <a:solidFill>
                <a:srgbClr val="333333"/>
              </a:solidFill>
              <a:latin typeface="Helvetica Neue"/>
            </a:endParaRPr>
          </a:p>
          <a:p>
            <a:pPr algn="l" latinLnBrk="1">
              <a:lnSpc>
                <a:spcPct val="120000"/>
              </a:lnSpc>
            </a:pPr>
            <a:endParaRPr lang="zh-CN" altLang="en-US"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为了克服上述的问题，项目通常会引入</a:t>
            </a:r>
            <a:r>
              <a:rPr lang="en-US" altLang="zh-CN" sz="1800" dirty="0">
                <a:solidFill>
                  <a:srgbClr val="333333"/>
                </a:solidFill>
                <a:latin typeface="Helvetica Neue"/>
              </a:rPr>
              <a:t>NoSQL</a:t>
            </a:r>
            <a:r>
              <a:rPr lang="zh-CN" altLang="en-US" sz="1800" dirty="0">
                <a:solidFill>
                  <a:srgbClr val="333333"/>
                </a:solidFill>
                <a:latin typeface="Helvetica Neue"/>
              </a:rPr>
              <a:t>技术，这是一种基于内存的数据库，并且提供一定的持久化功能。</a:t>
            </a:r>
            <a:endParaRPr lang="zh-CN" altLang="en-US" sz="1800" dirty="0">
              <a:solidFill>
                <a:srgbClr val="333333"/>
              </a:solidFill>
              <a:latin typeface="Helvetica Neue"/>
            </a:endParaRPr>
          </a:p>
          <a:p>
            <a:pPr marL="342900" indent="-342900" algn="l" eaLnBrk="1" hangingPunct="1">
              <a:buFont typeface="Arial" panose="020B0604020202020204" pitchFamily="34" charset="0"/>
              <a:buChar char="•"/>
            </a:pPr>
            <a:endParaRPr lang="zh-CN" altLang="zh-CN" sz="2400" kern="0" dirty="0"/>
          </a:p>
        </p:txBody>
      </p:sp>
      <p:sp>
        <p:nvSpPr>
          <p:cNvPr id="6" name="Rectangle 2"/>
          <p:cNvSpPr txBox="1">
            <a:spLocks noChangeArrowheads="1"/>
          </p:cNvSpPr>
          <p:nvPr/>
        </p:nvSpPr>
        <p:spPr>
          <a:xfrm>
            <a:off x="509270" y="450215"/>
            <a:ext cx="8442960" cy="972185"/>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zh-CN" altLang="en-US" kern="0" dirty="0"/>
              <a:t>什么是</a:t>
            </a:r>
            <a:r>
              <a:rPr lang="en-US" altLang="zh-CN" kern="0" dirty="0"/>
              <a:t>NoSQL</a:t>
            </a:r>
            <a:r>
              <a:rPr lang="zh-CN" altLang="en-US" kern="0" dirty="0"/>
              <a:t>？</a:t>
            </a:r>
            <a:endParaRPr lang="zh-CN" altLang="en-US" kern="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801351"/>
            <a:ext cx="8443106" cy="409892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en-US" altLang="zh-CN" sz="1800" b="0" i="0" dirty="0">
                <a:solidFill>
                  <a:srgbClr val="333333"/>
                </a:solidFill>
                <a:effectLst/>
                <a:latin typeface="Helvetica Neue"/>
              </a:rPr>
              <a:t>NoSQL</a:t>
            </a:r>
            <a:r>
              <a:rPr lang="zh-CN" altLang="en-US" sz="1800" b="0" i="0" dirty="0">
                <a:solidFill>
                  <a:srgbClr val="333333"/>
                </a:solidFill>
                <a:effectLst/>
                <a:latin typeface="Helvetica Neue"/>
              </a:rPr>
              <a:t>，指的是</a:t>
            </a:r>
            <a:r>
              <a:rPr lang="zh-CN" altLang="en-US" sz="1800" b="1" i="0" dirty="0">
                <a:solidFill>
                  <a:srgbClr val="FF0000"/>
                </a:solidFill>
                <a:effectLst/>
                <a:latin typeface="Helvetica Neue"/>
              </a:rPr>
              <a:t>非关系型</a:t>
            </a:r>
            <a:r>
              <a:rPr lang="zh-CN" altLang="en-US" sz="1800" b="0" i="0" dirty="0">
                <a:solidFill>
                  <a:srgbClr val="333333"/>
                </a:solidFill>
                <a:effectLst/>
                <a:latin typeface="Helvetica Neue"/>
              </a:rPr>
              <a:t>的数据库。</a:t>
            </a:r>
            <a:r>
              <a:rPr lang="en-US" altLang="zh-CN" sz="1800" b="0" i="0" dirty="0">
                <a:solidFill>
                  <a:srgbClr val="333333"/>
                </a:solidFill>
                <a:effectLst/>
                <a:latin typeface="Helvetica Neue"/>
              </a:rPr>
              <a:t>NoSQL</a:t>
            </a:r>
            <a:r>
              <a:rPr lang="zh-CN" altLang="en-US" sz="1800" b="0" i="0" dirty="0">
                <a:solidFill>
                  <a:srgbClr val="333333"/>
                </a:solidFill>
                <a:effectLst/>
                <a:latin typeface="Helvetica Neue"/>
              </a:rPr>
              <a:t>有时也称作</a:t>
            </a:r>
            <a:r>
              <a:rPr lang="en-US" altLang="zh-CN" sz="1800" b="0" i="0" dirty="0">
                <a:solidFill>
                  <a:srgbClr val="333333"/>
                </a:solidFill>
                <a:effectLst/>
                <a:latin typeface="Helvetica Neue"/>
              </a:rPr>
              <a:t>Not Only SQL</a:t>
            </a:r>
            <a:r>
              <a:rPr lang="zh-CN" altLang="en-US" sz="1800" b="0" i="0" dirty="0">
                <a:solidFill>
                  <a:srgbClr val="333333"/>
                </a:solidFill>
                <a:effectLst/>
                <a:latin typeface="Helvetica Neue"/>
              </a:rPr>
              <a:t>的缩写，是对不同于传统的关系型数据库的数据库管理系统的统称。</a:t>
            </a:r>
            <a:r>
              <a:rPr lang="zh-CN" altLang="en-US" sz="1800" dirty="0">
                <a:solidFill>
                  <a:srgbClr val="333333"/>
                </a:solidFill>
                <a:latin typeface="Helvetica Neue"/>
              </a:rPr>
              <a:t>对</a:t>
            </a:r>
            <a:r>
              <a:rPr lang="en-US" altLang="zh-CN" sz="1800" dirty="0">
                <a:solidFill>
                  <a:srgbClr val="333333"/>
                </a:solidFill>
                <a:latin typeface="Helvetica Neue"/>
              </a:rPr>
              <a:t>NoSQL</a:t>
            </a:r>
            <a:r>
              <a:rPr lang="zh-CN" altLang="en-US" sz="1800" dirty="0">
                <a:solidFill>
                  <a:srgbClr val="333333"/>
                </a:solidFill>
                <a:latin typeface="Helvetica Neue"/>
              </a:rPr>
              <a:t>最普遍的解释是</a:t>
            </a:r>
            <a:r>
              <a:rPr lang="en-US" altLang="zh-CN" sz="1800" dirty="0">
                <a:solidFill>
                  <a:srgbClr val="333333"/>
                </a:solidFill>
                <a:latin typeface="Helvetica Neue"/>
              </a:rPr>
              <a:t>"</a:t>
            </a:r>
            <a:r>
              <a:rPr lang="zh-CN" altLang="en-US" sz="1800" dirty="0">
                <a:solidFill>
                  <a:srgbClr val="333333"/>
                </a:solidFill>
                <a:latin typeface="Helvetica Neue"/>
              </a:rPr>
              <a:t>非关联型的</a:t>
            </a:r>
            <a:r>
              <a:rPr lang="en-US" altLang="zh-CN" sz="1800" dirty="0">
                <a:solidFill>
                  <a:srgbClr val="333333"/>
                </a:solidFill>
                <a:latin typeface="Helvetica Neue"/>
              </a:rPr>
              <a:t>"</a:t>
            </a:r>
            <a:r>
              <a:rPr lang="zh-CN" altLang="en-US" sz="1800" dirty="0">
                <a:solidFill>
                  <a:srgbClr val="333333"/>
                </a:solidFill>
                <a:latin typeface="Helvetica Neue"/>
              </a:rPr>
              <a:t>，强调</a:t>
            </a:r>
            <a:r>
              <a:rPr lang="en-US" altLang="zh-CN" sz="1800" dirty="0">
                <a:solidFill>
                  <a:srgbClr val="333333"/>
                </a:solidFill>
                <a:latin typeface="Helvetica Neue"/>
              </a:rPr>
              <a:t>Key-Value Stores</a:t>
            </a:r>
            <a:r>
              <a:rPr lang="zh-CN" altLang="en-US" sz="1800" dirty="0">
                <a:solidFill>
                  <a:srgbClr val="333333"/>
                </a:solidFill>
                <a:latin typeface="Helvetica Neue"/>
              </a:rPr>
              <a:t>和文档数据库的优点，而不是单纯的反对</a:t>
            </a:r>
            <a:r>
              <a:rPr lang="en-US" altLang="zh-CN" sz="1800" dirty="0">
                <a:solidFill>
                  <a:srgbClr val="333333"/>
                </a:solidFill>
                <a:latin typeface="Helvetica Neue"/>
              </a:rPr>
              <a:t>RDBMS</a:t>
            </a:r>
            <a:r>
              <a:rPr lang="zh-CN" altLang="en-US" sz="1800" dirty="0">
                <a:solidFill>
                  <a:srgbClr val="333333"/>
                </a:solidFill>
                <a:latin typeface="Helvetica Neue"/>
              </a:rPr>
              <a:t>。</a:t>
            </a:r>
            <a:endParaRPr lang="en-US" altLang="zh-CN" sz="1800" dirty="0">
              <a:solidFill>
                <a:srgbClr val="333333"/>
              </a:solidFill>
              <a:latin typeface="Helvetica Neue"/>
            </a:endParaRPr>
          </a:p>
          <a:p>
            <a:pPr algn="l" latinLnBrk="1">
              <a:lnSpc>
                <a:spcPct val="120000"/>
              </a:lnSpc>
            </a:pPr>
            <a:endParaRPr lang="zh-CN" altLang="en-US" sz="1800" b="0" i="0" dirty="0">
              <a:solidFill>
                <a:srgbClr val="333333"/>
              </a:solidFill>
              <a:effectLst/>
              <a:latin typeface="Helvetica Neue"/>
            </a:endParaRPr>
          </a:p>
          <a:p>
            <a:pPr algn="l" latinLnBrk="1">
              <a:lnSpc>
                <a:spcPct val="120000"/>
              </a:lnSpc>
            </a:pPr>
            <a:r>
              <a:rPr lang="en-US" altLang="zh-CN" sz="1800" b="1" i="0" dirty="0">
                <a:solidFill>
                  <a:srgbClr val="FF0000"/>
                </a:solidFill>
                <a:effectLst/>
                <a:latin typeface="Helvetica Neue"/>
              </a:rPr>
              <a:t>NoSQL</a:t>
            </a:r>
            <a:r>
              <a:rPr lang="zh-CN" altLang="en-US" sz="1800" b="1" i="0" dirty="0">
                <a:solidFill>
                  <a:srgbClr val="FF0000"/>
                </a:solidFill>
                <a:effectLst/>
                <a:latin typeface="Helvetica Neue"/>
              </a:rPr>
              <a:t>用于超大规模数据的存储</a:t>
            </a:r>
            <a:r>
              <a:rPr lang="zh-CN" altLang="en-US" sz="1800" b="0" i="0" dirty="0">
                <a:solidFill>
                  <a:srgbClr val="333333"/>
                </a:solidFill>
                <a:effectLst/>
                <a:latin typeface="Helvetica Neue"/>
              </a:rPr>
              <a:t>。（例如谷歌或</a:t>
            </a:r>
            <a:r>
              <a:rPr lang="en-US" altLang="zh-CN" sz="1800" b="0" i="0" dirty="0">
                <a:solidFill>
                  <a:srgbClr val="333333"/>
                </a:solidFill>
                <a:effectLst/>
                <a:latin typeface="Helvetica Neue"/>
              </a:rPr>
              <a:t>Facebook</a:t>
            </a:r>
            <a:r>
              <a:rPr lang="zh-CN" altLang="en-US" sz="1800" b="0" i="0" dirty="0">
                <a:solidFill>
                  <a:srgbClr val="333333"/>
                </a:solidFill>
                <a:effectLst/>
                <a:latin typeface="Helvetica Neue"/>
              </a:rPr>
              <a:t>每天为他们的用户收集万亿比特的数据）。这些类型的数据存储不需要固定的模式，无需多余操作就可以横向扩展。</a:t>
            </a:r>
            <a:endParaRPr lang="zh-CN" altLang="en-US" sz="1800" b="0" i="0" dirty="0">
              <a:solidFill>
                <a:srgbClr val="333333"/>
              </a:solidFill>
              <a:effectLst/>
              <a:latin typeface="Helvetica Neue"/>
            </a:endParaRPr>
          </a:p>
          <a:p>
            <a:pPr marL="342900" indent="-342900" algn="l" eaLnBrk="1" hangingPunct="1">
              <a:buFont typeface="Arial" panose="020B0604020202020204" pitchFamily="34" charset="0"/>
              <a:buChar char="•"/>
            </a:pPr>
            <a:endParaRPr lang="zh-CN" altLang="zh-CN" sz="2400" kern="0" dirty="0"/>
          </a:p>
        </p:txBody>
      </p:sp>
      <p:sp>
        <p:nvSpPr>
          <p:cNvPr id="6" name="Rectangle 2"/>
          <p:cNvSpPr txBox="1">
            <a:spLocks noChangeArrowheads="1"/>
          </p:cNvSpPr>
          <p:nvPr/>
        </p:nvSpPr>
        <p:spPr>
          <a:xfrm>
            <a:off x="509118" y="450265"/>
            <a:ext cx="8443106" cy="1439863"/>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zh-CN" altLang="en-US" kern="0" dirty="0"/>
              <a:t>什么是</a:t>
            </a:r>
            <a:r>
              <a:rPr lang="en-US" altLang="zh-CN" kern="0" dirty="0"/>
              <a:t>NoSQL</a:t>
            </a:r>
            <a:r>
              <a:rPr lang="zh-CN" altLang="en-US" kern="0" dirty="0"/>
              <a:t>？</a:t>
            </a:r>
            <a:endParaRPr lang="zh-CN" altLang="en-US"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290830" y="1264285"/>
            <a:ext cx="8661400" cy="463613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hangingPunct="1"/>
            <a:r>
              <a:rPr lang="en-US" altLang="zh-CN" sz="1800" dirty="0">
                <a:solidFill>
                  <a:srgbClr val="333333"/>
                </a:solidFill>
                <a:latin typeface="Helvetica Neue"/>
              </a:rPr>
              <a:t>NoSQL</a:t>
            </a:r>
            <a:r>
              <a:rPr lang="zh-CN" altLang="en-US" sz="1800" dirty="0">
                <a:solidFill>
                  <a:srgbClr val="333333"/>
                </a:solidFill>
                <a:latin typeface="Helvetica Neue"/>
              </a:rPr>
              <a:t>数据库主要有以下四类。这些类别中的每一个都有其独特的属性和局限性。没有特定的数据库可以更好地解决所有问题。</a:t>
            </a:r>
            <a:endParaRPr lang="en-US" altLang="zh-CN" sz="1800" dirty="0">
              <a:solidFill>
                <a:srgbClr val="333333"/>
              </a:solidFill>
              <a:latin typeface="Helvetica Neue"/>
            </a:endParaRPr>
          </a:p>
          <a:p>
            <a:pPr algn="l" eaLnBrk="1" hangingPunct="1"/>
            <a:endParaRPr lang="en-US" altLang="zh-CN" sz="1800" dirty="0">
              <a:solidFill>
                <a:srgbClr val="333333"/>
              </a:solidFill>
              <a:latin typeface="Helvetica Neue"/>
            </a:endParaRPr>
          </a:p>
          <a:p>
            <a:pPr algn="l" eaLnBrk="1" hangingPunct="1">
              <a:lnSpc>
                <a:spcPct val="150000"/>
              </a:lnSpc>
            </a:pPr>
            <a:endParaRPr lang="en-US" altLang="zh-CN" sz="1800" dirty="0">
              <a:solidFill>
                <a:srgbClr val="333333"/>
              </a:solidFill>
              <a:latin typeface="Helvetica Neue"/>
            </a:endParaRPr>
          </a:p>
          <a:p>
            <a:pPr marL="285750" indent="-285750" algn="l">
              <a:lnSpc>
                <a:spcPct val="150000"/>
              </a:lnSpc>
              <a:buFont typeface="Arial" panose="020B0604020202020204" pitchFamily="34" charset="0"/>
              <a:buChar char="•"/>
            </a:pPr>
            <a:r>
              <a:rPr lang="zh-CN" altLang="en-US" sz="1800" dirty="0">
                <a:solidFill>
                  <a:srgbClr val="333333"/>
                </a:solidFill>
                <a:latin typeface="Helvetica Neue"/>
              </a:rPr>
              <a:t>基于键值对 </a:t>
            </a:r>
            <a:r>
              <a:rPr lang="en-US" altLang="zh-CN" sz="1800" dirty="0">
                <a:solidFill>
                  <a:srgbClr val="333333"/>
                </a:solidFill>
                <a:latin typeface="Helvetica Neue"/>
              </a:rPr>
              <a:t>key-value</a:t>
            </a:r>
            <a:r>
              <a:rPr lang="zh-CN" altLang="en-US" sz="1800" dirty="0">
                <a:solidFill>
                  <a:srgbClr val="333333"/>
                </a:solidFill>
                <a:latin typeface="Helvetica Neue"/>
              </a:rPr>
              <a:t>类型：</a:t>
            </a:r>
            <a:r>
              <a:rPr lang="en-US" altLang="zh-CN" sz="1800" dirty="0">
                <a:solidFill>
                  <a:srgbClr val="FF0000"/>
                </a:solidFill>
                <a:latin typeface="Helvetica Neue"/>
              </a:rPr>
              <a:t>Redis</a:t>
            </a:r>
            <a:r>
              <a:rPr lang="zh-CN" altLang="en-US" sz="1800" dirty="0">
                <a:solidFill>
                  <a:srgbClr val="FF0000"/>
                </a:solidFill>
                <a:latin typeface="Helvetica Neue"/>
              </a:rPr>
              <a:t>，</a:t>
            </a:r>
            <a:r>
              <a:rPr lang="en-US" altLang="zh-CN" sz="1800" dirty="0" err="1">
                <a:solidFill>
                  <a:srgbClr val="333333"/>
                </a:solidFill>
                <a:latin typeface="Helvetica Neue"/>
              </a:rPr>
              <a:t>memcached</a:t>
            </a:r>
            <a:endParaRPr lang="zh-CN" altLang="en-US" sz="1800" dirty="0">
              <a:solidFill>
                <a:srgbClr val="333333"/>
              </a:solidFill>
              <a:latin typeface="Helvetica Neue"/>
            </a:endParaRPr>
          </a:p>
          <a:p>
            <a:pPr marL="285750" indent="-285750" algn="l">
              <a:lnSpc>
                <a:spcPct val="150000"/>
              </a:lnSpc>
              <a:buFont typeface="Arial" panose="020B0604020202020204" pitchFamily="34" charset="0"/>
              <a:buChar char="•"/>
            </a:pPr>
            <a:r>
              <a:rPr lang="zh-CN" altLang="en-US" sz="1800" dirty="0">
                <a:solidFill>
                  <a:srgbClr val="333333"/>
                </a:solidFill>
                <a:latin typeface="Helvetica Neue"/>
              </a:rPr>
              <a:t>列存储数据库 </a:t>
            </a:r>
            <a:r>
              <a:rPr lang="en-US" altLang="zh-CN" sz="1800" dirty="0">
                <a:solidFill>
                  <a:srgbClr val="333333"/>
                </a:solidFill>
                <a:latin typeface="Helvetica Neue"/>
              </a:rPr>
              <a:t>Column-oriented Graph</a:t>
            </a:r>
            <a:r>
              <a:rPr lang="zh-CN" altLang="en-US" sz="1800" dirty="0">
                <a:solidFill>
                  <a:srgbClr val="333333"/>
                </a:solidFill>
                <a:latin typeface="Helvetica Neue"/>
              </a:rPr>
              <a:t>：</a:t>
            </a:r>
            <a:r>
              <a:rPr lang="en-US" altLang="zh-CN" sz="1800" dirty="0">
                <a:solidFill>
                  <a:srgbClr val="333333"/>
                </a:solidFill>
                <a:latin typeface="Helvetica Neue"/>
              </a:rPr>
              <a:t>HBase</a:t>
            </a:r>
            <a:endParaRPr lang="en-US" altLang="zh-CN" sz="1800" dirty="0">
              <a:solidFill>
                <a:srgbClr val="333333"/>
              </a:solidFill>
              <a:latin typeface="Helvetica Neue"/>
            </a:endParaRPr>
          </a:p>
          <a:p>
            <a:pPr marL="285750" indent="-285750" algn="l">
              <a:lnSpc>
                <a:spcPct val="150000"/>
              </a:lnSpc>
              <a:buFont typeface="Arial" panose="020B0604020202020204" pitchFamily="34" charset="0"/>
              <a:buChar char="•"/>
            </a:pPr>
            <a:r>
              <a:rPr lang="zh-CN" altLang="en-US" sz="1800" dirty="0">
                <a:solidFill>
                  <a:srgbClr val="333333"/>
                </a:solidFill>
                <a:latin typeface="Helvetica Neue"/>
              </a:rPr>
              <a:t>图形数据库 </a:t>
            </a:r>
            <a:r>
              <a:rPr lang="en-US" altLang="zh-CN" sz="1800" dirty="0">
                <a:solidFill>
                  <a:srgbClr val="333333"/>
                </a:solidFill>
                <a:latin typeface="Helvetica Neue"/>
              </a:rPr>
              <a:t>Graphs based</a:t>
            </a:r>
            <a:r>
              <a:rPr lang="zh-CN" altLang="en-US" sz="1800" dirty="0">
                <a:solidFill>
                  <a:srgbClr val="333333"/>
                </a:solidFill>
                <a:latin typeface="Helvetica Neue"/>
              </a:rPr>
              <a:t>：</a:t>
            </a:r>
            <a:r>
              <a:rPr lang="en-US" altLang="zh-CN" sz="1800" dirty="0">
                <a:solidFill>
                  <a:srgbClr val="333333"/>
                </a:solidFill>
                <a:latin typeface="Helvetica Neue"/>
              </a:rPr>
              <a:t>Neo4j</a:t>
            </a:r>
            <a:endParaRPr lang="en-US" altLang="zh-CN" sz="1800" dirty="0">
              <a:solidFill>
                <a:srgbClr val="333333"/>
              </a:solidFill>
              <a:latin typeface="Helvetica Neue"/>
            </a:endParaRPr>
          </a:p>
          <a:p>
            <a:pPr marL="285750" indent="-285750" algn="l">
              <a:lnSpc>
                <a:spcPct val="150000"/>
              </a:lnSpc>
              <a:buFont typeface="Arial" panose="020B0604020202020204" pitchFamily="34" charset="0"/>
              <a:buChar char="•"/>
            </a:pPr>
            <a:r>
              <a:rPr lang="zh-CN" altLang="en-US" sz="1800" dirty="0">
                <a:solidFill>
                  <a:srgbClr val="333333"/>
                </a:solidFill>
                <a:latin typeface="Helvetica Neue"/>
              </a:rPr>
              <a:t>文档型数据库： </a:t>
            </a:r>
            <a:r>
              <a:rPr lang="en-US" altLang="zh-CN" sz="1800" dirty="0">
                <a:solidFill>
                  <a:srgbClr val="333333"/>
                </a:solidFill>
                <a:latin typeface="Helvetica Neue"/>
              </a:rPr>
              <a:t>MongoDB</a:t>
            </a:r>
            <a:endParaRPr lang="en-US" altLang="zh-CN" sz="1800" dirty="0">
              <a:solidFill>
                <a:srgbClr val="333333"/>
              </a:solidFill>
              <a:latin typeface="Helvetica Neue"/>
            </a:endParaRPr>
          </a:p>
          <a:p>
            <a:pPr marL="742950" lvl="1" indent="-285750" algn="l">
              <a:lnSpc>
                <a:spcPct val="150000"/>
              </a:lnSpc>
              <a:buFont typeface="Arial" panose="020B0604020202020204" pitchFamily="34" charset="0"/>
              <a:buChar char="•"/>
            </a:pPr>
            <a:r>
              <a:rPr lang="en-US" altLang="zh-CN" sz="1400" dirty="0">
                <a:solidFill>
                  <a:srgbClr val="333333"/>
                </a:solidFill>
                <a:latin typeface="Helvetica Neue"/>
              </a:rPr>
              <a:t>MongoDB</a:t>
            </a:r>
            <a:r>
              <a:rPr lang="zh-CN" altLang="en-US" sz="1400" dirty="0">
                <a:solidFill>
                  <a:srgbClr val="333333"/>
                </a:solidFill>
                <a:latin typeface="Helvetica Neue"/>
              </a:rPr>
              <a:t>是一个基于分布式文件存储的数据库，主要用来处理大量的文档。</a:t>
            </a:r>
            <a:r>
              <a:rPr lang="en-US" altLang="zh-CN" sz="1400" dirty="0">
                <a:solidFill>
                  <a:srgbClr val="333333"/>
                </a:solidFill>
                <a:latin typeface="Helvetica Neue"/>
              </a:rPr>
              <a:t>	</a:t>
            </a:r>
            <a:endParaRPr lang="zh-CN" altLang="en-US" sz="1400" dirty="0">
              <a:solidFill>
                <a:srgbClr val="333333"/>
              </a:solidFill>
              <a:latin typeface="Helvetica Neue"/>
            </a:endParaRPr>
          </a:p>
          <a:p>
            <a:pPr algn="l" eaLnBrk="1" hangingPunct="1"/>
            <a:endParaRPr lang="zh-CN"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1439863"/>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NoSQL</a:t>
            </a:r>
            <a:r>
              <a:rPr lang="zh-CN" altLang="en-US" kern="0" dirty="0"/>
              <a:t>的分类</a:t>
            </a:r>
            <a:endParaRPr lang="zh-CN" altLang="en-US"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91826"/>
            <a:ext cx="8443106" cy="409892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hangingPunct="1"/>
            <a:r>
              <a:rPr lang="en-US" altLang="zh-CN" sz="2000" b="0" i="0" dirty="0">
                <a:solidFill>
                  <a:srgbClr val="333333"/>
                </a:solidFill>
                <a:effectLst/>
                <a:latin typeface="Open Sans"/>
              </a:rPr>
              <a:t>Redis </a:t>
            </a:r>
            <a:r>
              <a:rPr lang="zh-CN" altLang="en-US" sz="2000" b="0" i="0" dirty="0">
                <a:solidFill>
                  <a:srgbClr val="333333"/>
                </a:solidFill>
                <a:effectLst/>
                <a:latin typeface="Open Sans"/>
              </a:rPr>
              <a:t>是一个</a:t>
            </a:r>
            <a:r>
              <a:rPr lang="zh-CN" altLang="en-US" sz="2000" b="1" i="0" dirty="0">
                <a:solidFill>
                  <a:srgbClr val="FF0000"/>
                </a:solidFill>
                <a:effectLst/>
                <a:latin typeface="Open Sans"/>
              </a:rPr>
              <a:t>开源</a:t>
            </a:r>
            <a:r>
              <a:rPr lang="zh-CN" altLang="en-US" sz="2000" b="0" i="0" dirty="0">
                <a:solidFill>
                  <a:srgbClr val="333333"/>
                </a:solidFill>
                <a:effectLst/>
                <a:latin typeface="Open Sans"/>
              </a:rPr>
              <a:t>（</a:t>
            </a:r>
            <a:r>
              <a:rPr lang="en-US" altLang="zh-CN" sz="2000" b="0" i="0" dirty="0">
                <a:solidFill>
                  <a:srgbClr val="333333"/>
                </a:solidFill>
                <a:effectLst/>
                <a:latin typeface="Open Sans"/>
              </a:rPr>
              <a:t>BSD</a:t>
            </a:r>
            <a:r>
              <a:rPr lang="zh-CN" altLang="en-US" sz="2000" b="0" i="0" dirty="0">
                <a:solidFill>
                  <a:srgbClr val="333333"/>
                </a:solidFill>
                <a:effectLst/>
                <a:latin typeface="Open Sans"/>
              </a:rPr>
              <a:t>许可）的，</a:t>
            </a:r>
            <a:r>
              <a:rPr lang="en-US" altLang="zh-CN" sz="2000" b="1" i="0" dirty="0">
                <a:solidFill>
                  <a:srgbClr val="FF0000"/>
                </a:solidFill>
                <a:effectLst/>
                <a:latin typeface="Open Sans"/>
              </a:rPr>
              <a:t>C</a:t>
            </a:r>
            <a:r>
              <a:rPr lang="zh-CN" altLang="en-US" sz="2000" b="1" i="0" dirty="0">
                <a:solidFill>
                  <a:srgbClr val="FF0000"/>
                </a:solidFill>
                <a:effectLst/>
                <a:latin typeface="Open Sans"/>
              </a:rPr>
              <a:t>语言</a:t>
            </a:r>
            <a:r>
              <a:rPr lang="zh-CN" altLang="en-US" sz="2000" b="0" i="0" dirty="0">
                <a:solidFill>
                  <a:srgbClr val="333333"/>
                </a:solidFill>
                <a:effectLst/>
                <a:latin typeface="Open Sans"/>
              </a:rPr>
              <a:t>编写的，</a:t>
            </a:r>
            <a:r>
              <a:rPr lang="zh-CN" altLang="en-US" sz="2000" b="1" i="0" dirty="0">
                <a:solidFill>
                  <a:srgbClr val="FF0000"/>
                </a:solidFill>
                <a:effectLst/>
                <a:latin typeface="Open Sans"/>
              </a:rPr>
              <a:t>高性能</a:t>
            </a:r>
            <a:r>
              <a:rPr lang="zh-CN" altLang="en-US" sz="2000" b="0" i="0" dirty="0">
                <a:solidFill>
                  <a:srgbClr val="333333"/>
                </a:solidFill>
                <a:effectLst/>
                <a:latin typeface="Open Sans"/>
              </a:rPr>
              <a:t>的数据结构存储系统，它可以用作</a:t>
            </a:r>
            <a:r>
              <a:rPr lang="zh-CN" altLang="en-US" sz="2000" b="1" i="0" dirty="0">
                <a:solidFill>
                  <a:srgbClr val="333333"/>
                </a:solidFill>
                <a:effectLst/>
                <a:latin typeface="Open Sans"/>
              </a:rPr>
              <a:t>数据库、缓存和</a:t>
            </a:r>
            <a:r>
              <a:rPr lang="zh-CN" altLang="en-US" sz="2000" b="1" i="0" u="sng" dirty="0">
                <a:solidFill>
                  <a:srgbClr val="333333"/>
                </a:solidFill>
                <a:effectLst/>
                <a:latin typeface="Open Sans"/>
              </a:rPr>
              <a:t>消息中间件</a:t>
            </a:r>
            <a:r>
              <a:rPr lang="zh-CN" altLang="en-US" sz="2000" b="0" i="0" dirty="0">
                <a:solidFill>
                  <a:srgbClr val="333333"/>
                </a:solidFill>
                <a:effectLst/>
                <a:latin typeface="Open Sans"/>
              </a:rPr>
              <a:t>。 它</a:t>
            </a:r>
            <a:r>
              <a:rPr lang="zh-CN" altLang="en-US" sz="2000" b="1" i="0" dirty="0">
                <a:solidFill>
                  <a:srgbClr val="FF0000"/>
                </a:solidFill>
                <a:effectLst/>
                <a:latin typeface="Open Sans"/>
              </a:rPr>
              <a:t>基于内存</a:t>
            </a:r>
            <a:r>
              <a:rPr lang="zh-CN" altLang="en-US" sz="2000" b="0" i="0" dirty="0">
                <a:solidFill>
                  <a:srgbClr val="333333"/>
                </a:solidFill>
                <a:effectLst/>
                <a:latin typeface="Open Sans"/>
              </a:rPr>
              <a:t>运行并支持</a:t>
            </a:r>
            <a:r>
              <a:rPr lang="zh-CN" altLang="en-US" sz="2000" b="1" i="0" dirty="0">
                <a:solidFill>
                  <a:srgbClr val="FF0000"/>
                </a:solidFill>
                <a:effectLst/>
                <a:latin typeface="Open Sans"/>
              </a:rPr>
              <a:t>持久化</a:t>
            </a:r>
            <a:r>
              <a:rPr lang="zh-CN" altLang="en-US" sz="2000" b="0" i="0" dirty="0">
                <a:solidFill>
                  <a:srgbClr val="333333"/>
                </a:solidFill>
                <a:effectLst/>
                <a:latin typeface="Open Sans"/>
              </a:rPr>
              <a:t>的</a:t>
            </a:r>
            <a:r>
              <a:rPr lang="en-US" altLang="zh-CN" sz="2000" b="0" i="0" dirty="0">
                <a:solidFill>
                  <a:srgbClr val="333333"/>
                </a:solidFill>
                <a:effectLst/>
                <a:latin typeface="Open Sans"/>
              </a:rPr>
              <a:t>NoSQL</a:t>
            </a:r>
            <a:r>
              <a:rPr lang="zh-CN" altLang="en-US" sz="2000" b="0" i="0" dirty="0">
                <a:solidFill>
                  <a:srgbClr val="333333"/>
                </a:solidFill>
                <a:effectLst/>
                <a:latin typeface="Open Sans"/>
              </a:rPr>
              <a:t>数据库，是当前最热门的</a:t>
            </a:r>
            <a:r>
              <a:rPr lang="en-US" altLang="zh-CN" sz="2000" b="0" i="0" dirty="0">
                <a:solidFill>
                  <a:srgbClr val="333333"/>
                </a:solidFill>
                <a:effectLst/>
                <a:latin typeface="Open Sans"/>
              </a:rPr>
              <a:t>NoSQL</a:t>
            </a:r>
            <a:r>
              <a:rPr lang="zh-CN" altLang="en-US" sz="2000" b="0" i="0" dirty="0">
                <a:solidFill>
                  <a:srgbClr val="333333"/>
                </a:solidFill>
                <a:effectLst/>
                <a:latin typeface="Open Sans"/>
              </a:rPr>
              <a:t>数据库之一。</a:t>
            </a:r>
            <a:r>
              <a:rPr lang="en-US" altLang="zh-CN" sz="1400" dirty="0">
                <a:solidFill>
                  <a:srgbClr val="333333"/>
                </a:solidFill>
                <a:latin typeface="Helvetica Neue"/>
              </a:rPr>
              <a:t>	</a:t>
            </a:r>
            <a:endParaRPr lang="zh-CN" altLang="en-US" sz="1400" dirty="0">
              <a:solidFill>
                <a:srgbClr val="333333"/>
              </a:solidFill>
              <a:latin typeface="Helvetica Neue"/>
            </a:endParaRPr>
          </a:p>
          <a:p>
            <a:pPr algn="l" eaLnBrk="1" hangingPunct="1"/>
            <a:endParaRPr lang="en-US" altLang="zh-CN" sz="1800" dirty="0">
              <a:solidFill>
                <a:srgbClr val="333333"/>
              </a:solidFill>
              <a:latin typeface="Helvetica Neue"/>
            </a:endParaRPr>
          </a:p>
          <a:p>
            <a:pPr algn="l" eaLnBrk="1" hangingPunct="1"/>
            <a:r>
              <a:rPr lang="zh-CN" altLang="en-US" sz="1800" dirty="0">
                <a:solidFill>
                  <a:srgbClr val="333333"/>
                </a:solidFill>
                <a:latin typeface="Helvetica Neue"/>
              </a:rPr>
              <a:t>相关网站：</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	</a:t>
            </a:r>
            <a:r>
              <a:rPr lang="en-US" altLang="zh-CN" sz="1800" dirty="0" err="1">
                <a:solidFill>
                  <a:srgbClr val="333333"/>
                </a:solidFill>
                <a:latin typeface="Helvetica Neue"/>
              </a:rPr>
              <a:t>redis</a:t>
            </a:r>
            <a:r>
              <a:rPr lang="zh-CN" altLang="en-US" sz="1800" dirty="0">
                <a:solidFill>
                  <a:srgbClr val="333333"/>
                </a:solidFill>
                <a:latin typeface="Helvetica Neue"/>
              </a:rPr>
              <a:t>中文官网：</a:t>
            </a:r>
            <a:r>
              <a:rPr lang="en-US" altLang="zh-CN" sz="1800" dirty="0">
                <a:solidFill>
                  <a:srgbClr val="333333"/>
                </a:solidFill>
                <a:latin typeface="Helvetica Neue"/>
                <a:hlinkClick r:id="rId1"/>
              </a:rPr>
              <a:t>http://www.redis.cn/</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	</a:t>
            </a:r>
            <a:r>
              <a:rPr lang="en-US" altLang="zh-CN" sz="1800" dirty="0" err="1">
                <a:solidFill>
                  <a:srgbClr val="333333"/>
                </a:solidFill>
                <a:latin typeface="Helvetica Neue"/>
              </a:rPr>
              <a:t>redis</a:t>
            </a:r>
            <a:r>
              <a:rPr lang="zh-CN" altLang="en-US" sz="1800" dirty="0">
                <a:solidFill>
                  <a:srgbClr val="333333"/>
                </a:solidFill>
                <a:latin typeface="Helvetica Neue"/>
              </a:rPr>
              <a:t>英文官网：</a:t>
            </a:r>
            <a:r>
              <a:rPr lang="en-US" altLang="zh-CN" sz="1800" dirty="0">
                <a:solidFill>
                  <a:srgbClr val="333333"/>
                </a:solidFill>
                <a:latin typeface="Helvetica Neue"/>
                <a:hlinkClick r:id="rId2"/>
              </a:rPr>
              <a:t>https://redis.io/</a:t>
            </a:r>
            <a:endParaRPr lang="zh-CN" altLang="zh-CN" sz="1800" dirty="0">
              <a:solidFill>
                <a:srgbClr val="333333"/>
              </a:solidFill>
              <a:latin typeface="Helvetica Neue"/>
            </a:endParaRPr>
          </a:p>
        </p:txBody>
      </p:sp>
      <p:sp>
        <p:nvSpPr>
          <p:cNvPr id="6" name="Rectangle 2"/>
          <p:cNvSpPr txBox="1">
            <a:spLocks noChangeArrowheads="1"/>
          </p:cNvSpPr>
          <p:nvPr/>
        </p:nvSpPr>
        <p:spPr>
          <a:xfrm>
            <a:off x="509270" y="450215"/>
            <a:ext cx="8442960" cy="1181735"/>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是什么？</a:t>
            </a:r>
            <a:endParaRPr lang="en-US" altLang="zh-CN" kern="0" dirty="0"/>
          </a:p>
          <a:p>
            <a:pPr eaLnBrk="1" hangingPunct="1"/>
            <a:r>
              <a:rPr lang="en-US" altLang="zh-CN" sz="2800" kern="0" dirty="0">
                <a:solidFill>
                  <a:srgbClr val="FF0000"/>
                </a:solidFill>
              </a:rPr>
              <a:t>Re</a:t>
            </a:r>
            <a:r>
              <a:rPr lang="en-US" altLang="zh-CN" sz="2800" kern="0" dirty="0"/>
              <a:t>mote </a:t>
            </a:r>
            <a:r>
              <a:rPr lang="en-US" altLang="zh-CN" sz="2800" kern="0" dirty="0">
                <a:solidFill>
                  <a:srgbClr val="FF0000"/>
                </a:solidFill>
              </a:rPr>
              <a:t>Di</a:t>
            </a:r>
            <a:r>
              <a:rPr lang="en-US" altLang="zh-CN" sz="2800" kern="0" dirty="0"/>
              <a:t>ctionary </a:t>
            </a:r>
            <a:r>
              <a:rPr lang="en-US" altLang="zh-CN" sz="2800" kern="0" dirty="0">
                <a:solidFill>
                  <a:srgbClr val="FF0000"/>
                </a:solidFill>
              </a:rPr>
              <a:t>S</a:t>
            </a:r>
            <a:r>
              <a:rPr lang="en-US" altLang="zh-CN" sz="2800" kern="0" dirty="0"/>
              <a:t>ervice(</a:t>
            </a:r>
            <a:r>
              <a:rPr lang="zh-CN" altLang="en-US" sz="2800" kern="0" dirty="0"/>
              <a:t>远程字典服务器</a:t>
            </a:r>
            <a:r>
              <a:rPr lang="en-US" altLang="zh-CN" sz="2800" kern="0" dirty="0"/>
              <a:t>)</a:t>
            </a:r>
            <a:endParaRPr lang="zh-CN" altLang="en-US" sz="2800" kern="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801351"/>
            <a:ext cx="8443106" cy="409892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en-US" altLang="zh-CN" sz="2000" b="0" i="0" dirty="0">
                <a:solidFill>
                  <a:srgbClr val="333333"/>
                </a:solidFill>
                <a:effectLst/>
                <a:latin typeface="Helvetica Neue"/>
              </a:rPr>
              <a:t>Redis</a:t>
            </a:r>
            <a:r>
              <a:rPr lang="zh-CN" altLang="en-US" sz="2000" b="0" i="0" dirty="0">
                <a:solidFill>
                  <a:srgbClr val="333333"/>
                </a:solidFill>
                <a:effectLst/>
                <a:latin typeface="Helvetica Neue"/>
              </a:rPr>
              <a:t>与其他</a:t>
            </a:r>
            <a:r>
              <a:rPr lang="en-US" altLang="zh-CN" sz="2000" b="0" i="0" dirty="0">
                <a:solidFill>
                  <a:srgbClr val="333333"/>
                </a:solidFill>
                <a:effectLst/>
                <a:latin typeface="Helvetica Neue"/>
              </a:rPr>
              <a:t>key-value </a:t>
            </a:r>
            <a:r>
              <a:rPr lang="zh-CN" altLang="en-US" sz="2000" b="0" i="0" dirty="0">
                <a:solidFill>
                  <a:srgbClr val="333333"/>
                </a:solidFill>
                <a:effectLst/>
                <a:latin typeface="Helvetica Neue"/>
              </a:rPr>
              <a:t>缓存产品有以下三个特点：</a:t>
            </a:r>
            <a:endParaRPr lang="zh-CN" altLang="en-US" sz="2000" b="0" i="0" dirty="0">
              <a:solidFill>
                <a:srgbClr val="333333"/>
              </a:solidFill>
              <a:effectLst/>
              <a:latin typeface="Helvetica Neue"/>
            </a:endParaRPr>
          </a:p>
          <a:p>
            <a:pPr algn="l" latinLnBrk="1">
              <a:lnSpc>
                <a:spcPct val="150000"/>
              </a:lnSpc>
              <a:buFont typeface="Arial" panose="020B0604020202020204" pitchFamily="34" charset="0"/>
              <a:buChar char="•"/>
            </a:pPr>
            <a:r>
              <a:rPr lang="en-US" altLang="zh-CN" sz="2000" b="0" i="0" dirty="0">
                <a:solidFill>
                  <a:srgbClr val="333333"/>
                </a:solidFill>
                <a:effectLst/>
                <a:latin typeface="Helvetica Neue"/>
              </a:rPr>
              <a:t> Redis</a:t>
            </a:r>
            <a:r>
              <a:rPr lang="zh-CN" altLang="en-US" sz="2000" b="0" i="0" dirty="0">
                <a:solidFill>
                  <a:srgbClr val="333333"/>
                </a:solidFill>
                <a:effectLst/>
                <a:latin typeface="Helvetica Neue"/>
              </a:rPr>
              <a:t>支持数据的</a:t>
            </a:r>
            <a:r>
              <a:rPr lang="zh-CN" altLang="en-US" sz="2000" b="1" i="0" dirty="0">
                <a:solidFill>
                  <a:srgbClr val="FF0000"/>
                </a:solidFill>
                <a:effectLst/>
                <a:latin typeface="Helvetica Neue"/>
              </a:rPr>
              <a:t>持久化</a:t>
            </a:r>
            <a:r>
              <a:rPr lang="zh-CN" altLang="en-US" sz="2000" b="0" i="0" dirty="0">
                <a:solidFill>
                  <a:srgbClr val="333333"/>
                </a:solidFill>
                <a:effectLst/>
                <a:latin typeface="Helvetica Neue"/>
              </a:rPr>
              <a:t>，可以将内存中的数据保存在磁盘中，重启的时候可以再次加载进行使用。</a:t>
            </a:r>
            <a:endParaRPr lang="zh-CN" altLang="en-US" sz="2000" b="0" i="0" dirty="0">
              <a:solidFill>
                <a:srgbClr val="333333"/>
              </a:solidFill>
              <a:effectLst/>
              <a:latin typeface="Helvetica Neue"/>
            </a:endParaRPr>
          </a:p>
          <a:p>
            <a:pPr algn="l" latinLnBrk="1">
              <a:lnSpc>
                <a:spcPct val="150000"/>
              </a:lnSpc>
              <a:buFont typeface="Arial" panose="020B0604020202020204" pitchFamily="34" charset="0"/>
              <a:buChar char="•"/>
            </a:pPr>
            <a:r>
              <a:rPr lang="en-US" altLang="zh-CN" sz="2000" b="0" i="0" dirty="0">
                <a:solidFill>
                  <a:srgbClr val="333333"/>
                </a:solidFill>
                <a:effectLst/>
                <a:latin typeface="Helvetica Neue"/>
              </a:rPr>
              <a:t> Redis</a:t>
            </a:r>
            <a:r>
              <a:rPr lang="zh-CN" altLang="en-US" sz="2000" b="0" i="0" dirty="0">
                <a:solidFill>
                  <a:srgbClr val="333333"/>
                </a:solidFill>
                <a:effectLst/>
                <a:latin typeface="Helvetica Neue"/>
              </a:rPr>
              <a:t>不仅仅支持简单的</a:t>
            </a:r>
            <a:r>
              <a:rPr lang="en-US" altLang="zh-CN" sz="2000" b="0" i="0" dirty="0">
                <a:solidFill>
                  <a:srgbClr val="333333"/>
                </a:solidFill>
                <a:effectLst/>
                <a:latin typeface="Helvetica Neue"/>
              </a:rPr>
              <a:t>key-value</a:t>
            </a:r>
            <a:r>
              <a:rPr lang="zh-CN" altLang="en-US" sz="2000" b="1" i="0" dirty="0">
                <a:solidFill>
                  <a:srgbClr val="FF0000"/>
                </a:solidFill>
                <a:effectLst/>
                <a:latin typeface="Helvetica Neue"/>
              </a:rPr>
              <a:t>类型</a:t>
            </a:r>
            <a:r>
              <a:rPr lang="zh-CN" altLang="en-US" sz="2000" b="0" i="0" dirty="0">
                <a:solidFill>
                  <a:srgbClr val="333333"/>
                </a:solidFill>
                <a:effectLst/>
                <a:latin typeface="Helvetica Neue"/>
              </a:rPr>
              <a:t>的数据，同时还提供</a:t>
            </a:r>
            <a:r>
              <a:rPr lang="en-US" altLang="zh-CN" sz="2000" b="0" i="0" dirty="0">
                <a:solidFill>
                  <a:srgbClr val="333333"/>
                </a:solidFill>
                <a:effectLst/>
                <a:latin typeface="Helvetica Neue"/>
              </a:rPr>
              <a:t>list</a:t>
            </a:r>
            <a:r>
              <a:rPr lang="zh-CN" altLang="en-US" sz="2000" b="0" i="0" dirty="0">
                <a:solidFill>
                  <a:srgbClr val="333333"/>
                </a:solidFill>
                <a:effectLst/>
                <a:latin typeface="Helvetica Neue"/>
              </a:rPr>
              <a:t>，</a:t>
            </a:r>
            <a:r>
              <a:rPr lang="en-US" altLang="zh-CN" sz="2000" b="0" i="0" dirty="0">
                <a:solidFill>
                  <a:srgbClr val="333333"/>
                </a:solidFill>
                <a:effectLst/>
                <a:latin typeface="Helvetica Neue"/>
              </a:rPr>
              <a:t>set</a:t>
            </a:r>
            <a:r>
              <a:rPr lang="zh-CN" altLang="en-US" sz="2000" b="0" i="0" dirty="0">
                <a:solidFill>
                  <a:srgbClr val="333333"/>
                </a:solidFill>
                <a:effectLst/>
                <a:latin typeface="Helvetica Neue"/>
              </a:rPr>
              <a:t>，</a:t>
            </a:r>
            <a:r>
              <a:rPr lang="en-US" altLang="zh-CN" sz="2000" b="0" i="0" dirty="0" err="1">
                <a:solidFill>
                  <a:srgbClr val="333333"/>
                </a:solidFill>
                <a:effectLst/>
                <a:latin typeface="Helvetica Neue"/>
              </a:rPr>
              <a:t>zset</a:t>
            </a:r>
            <a:r>
              <a:rPr lang="zh-CN" altLang="en-US" sz="2000" b="0" i="0" dirty="0">
                <a:solidFill>
                  <a:srgbClr val="333333"/>
                </a:solidFill>
                <a:effectLst/>
                <a:latin typeface="Helvetica Neue"/>
              </a:rPr>
              <a:t>，</a:t>
            </a:r>
            <a:r>
              <a:rPr lang="en-US" altLang="zh-CN" sz="2000" b="0" i="0" dirty="0">
                <a:solidFill>
                  <a:srgbClr val="333333"/>
                </a:solidFill>
                <a:effectLst/>
                <a:latin typeface="Helvetica Neue"/>
              </a:rPr>
              <a:t>hash</a:t>
            </a:r>
            <a:r>
              <a:rPr lang="zh-CN" altLang="en-US" sz="2000" b="0" i="0" dirty="0">
                <a:solidFill>
                  <a:srgbClr val="333333"/>
                </a:solidFill>
                <a:effectLst/>
                <a:latin typeface="Helvetica Neue"/>
              </a:rPr>
              <a:t>等数据结构的存储。</a:t>
            </a:r>
            <a:endParaRPr lang="zh-CN" altLang="en-US" sz="2000" b="0" i="0" dirty="0">
              <a:solidFill>
                <a:srgbClr val="333333"/>
              </a:solidFill>
              <a:effectLst/>
              <a:latin typeface="Helvetica Neue"/>
            </a:endParaRPr>
          </a:p>
          <a:p>
            <a:pPr algn="l" latinLnBrk="1">
              <a:lnSpc>
                <a:spcPct val="150000"/>
              </a:lnSpc>
              <a:buFont typeface="Arial" panose="020B0604020202020204" pitchFamily="34" charset="0"/>
              <a:buChar char="•"/>
            </a:pPr>
            <a:r>
              <a:rPr lang="en-US" altLang="zh-CN" sz="2000" b="0" i="0" dirty="0">
                <a:solidFill>
                  <a:srgbClr val="333333"/>
                </a:solidFill>
                <a:effectLst/>
                <a:latin typeface="Helvetica Neue"/>
              </a:rPr>
              <a:t> Redis</a:t>
            </a:r>
            <a:r>
              <a:rPr lang="zh-CN" altLang="en-US" sz="2000" b="0" i="0" dirty="0">
                <a:solidFill>
                  <a:srgbClr val="333333"/>
                </a:solidFill>
                <a:effectLst/>
                <a:latin typeface="Helvetica Neue"/>
              </a:rPr>
              <a:t>支持</a:t>
            </a:r>
            <a:r>
              <a:rPr lang="zh-CN" altLang="en-US" sz="2000" b="1" i="0" dirty="0">
                <a:solidFill>
                  <a:srgbClr val="FF0000"/>
                </a:solidFill>
                <a:effectLst/>
                <a:latin typeface="Helvetica Neue"/>
              </a:rPr>
              <a:t>数据的备份</a:t>
            </a:r>
            <a:r>
              <a:rPr lang="zh-CN" altLang="en-US" sz="2000" b="0" i="0" dirty="0">
                <a:solidFill>
                  <a:srgbClr val="333333"/>
                </a:solidFill>
                <a:effectLst/>
                <a:latin typeface="Helvetica Neue"/>
              </a:rPr>
              <a:t>，即</a:t>
            </a:r>
            <a:r>
              <a:rPr lang="en-US" altLang="zh-CN" sz="2000" b="0" i="0" dirty="0">
                <a:solidFill>
                  <a:srgbClr val="333333"/>
                </a:solidFill>
                <a:effectLst/>
                <a:latin typeface="Helvetica Neue"/>
              </a:rPr>
              <a:t>master-slave</a:t>
            </a:r>
            <a:r>
              <a:rPr lang="zh-CN" altLang="en-US" sz="2000" b="0" i="0" dirty="0">
                <a:solidFill>
                  <a:srgbClr val="333333"/>
                </a:solidFill>
                <a:effectLst/>
                <a:latin typeface="Helvetica Neue"/>
              </a:rPr>
              <a:t>模式的数据备份。</a:t>
            </a:r>
            <a:endParaRPr lang="zh-CN" altLang="en-US" sz="2000" b="0" i="0" dirty="0">
              <a:solidFill>
                <a:srgbClr val="333333"/>
              </a:solidFill>
              <a:effectLst/>
              <a:latin typeface="Helvetica Neue"/>
            </a:endParaRPr>
          </a:p>
          <a:p>
            <a:pPr algn="l" latinLnBrk="1">
              <a:lnSpc>
                <a:spcPct val="150000"/>
              </a:lnSpc>
            </a:pPr>
            <a:r>
              <a:rPr lang="en-US" altLang="zh-CN" sz="1400" dirty="0">
                <a:solidFill>
                  <a:srgbClr val="333333"/>
                </a:solidFill>
                <a:latin typeface="Helvetica Neue"/>
              </a:rPr>
              <a:t>	</a:t>
            </a:r>
            <a:endParaRPr lang="zh-CN" altLang="en-US" sz="1400" dirty="0">
              <a:solidFill>
                <a:srgbClr val="333333"/>
              </a:solidFill>
              <a:latin typeface="Helvetica Neue"/>
            </a:endParaRPr>
          </a:p>
          <a:p>
            <a:pPr algn="l" eaLnBrk="1" hangingPunct="1"/>
            <a:endParaRPr lang="zh-CN"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1439863"/>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的特性</a:t>
            </a:r>
            <a:endParaRPr lang="zh-CN" altLang="en-US" kern="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252095" y="858520"/>
            <a:ext cx="9528175" cy="593153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50000"/>
              </a:lnSpc>
            </a:pPr>
            <a:r>
              <a:rPr lang="en-US" altLang="zh-CN" sz="1800" dirty="0">
                <a:solidFill>
                  <a:srgbClr val="333333"/>
                </a:solidFill>
                <a:latin typeface="Helvetica Neue"/>
              </a:rPr>
              <a:t>Redis</a:t>
            </a:r>
            <a:r>
              <a:rPr lang="zh-CN" altLang="en-US" sz="1800" dirty="0">
                <a:solidFill>
                  <a:srgbClr val="333333"/>
                </a:solidFill>
                <a:latin typeface="Helvetica Neue"/>
              </a:rPr>
              <a:t>是一个字典结构的存储服务器，而实际上一个</a:t>
            </a:r>
            <a:r>
              <a:rPr lang="en-US" altLang="zh-CN" sz="1800" dirty="0">
                <a:solidFill>
                  <a:srgbClr val="333333"/>
                </a:solidFill>
                <a:latin typeface="Helvetica Neue"/>
              </a:rPr>
              <a:t>Redis</a:t>
            </a:r>
            <a:r>
              <a:rPr lang="zh-CN" altLang="en-US" sz="1800" dirty="0">
                <a:solidFill>
                  <a:srgbClr val="333333"/>
                </a:solidFill>
                <a:latin typeface="Helvetica Neue"/>
              </a:rPr>
              <a:t>实例提供了多个用来存储数据的字典，客户端可以指定将数据存储在哪个字典中。这与我们熟知的在一个关系数据库实例中可以创建多个数据库类似，所以可以将其中的每个字典都理解成一个独立的数据库。</a:t>
            </a:r>
            <a:endParaRPr lang="zh-CN" altLang="en-US" sz="1800" dirty="0">
              <a:solidFill>
                <a:srgbClr val="333333"/>
              </a:solidFill>
              <a:latin typeface="Helvetica Neue"/>
            </a:endParaRPr>
          </a:p>
          <a:p>
            <a:pPr algn="l">
              <a:lnSpc>
                <a:spcPct val="150000"/>
              </a:lnSpc>
            </a:pPr>
            <a:r>
              <a:rPr lang="zh-CN" altLang="en-US" sz="1800" dirty="0">
                <a:solidFill>
                  <a:srgbClr val="333333"/>
                </a:solidFill>
                <a:latin typeface="Helvetica Neue"/>
              </a:rPr>
              <a:t>每个数据库对外都是一个从</a:t>
            </a:r>
            <a:r>
              <a:rPr lang="en-US" altLang="zh-CN" sz="1800" dirty="0">
                <a:solidFill>
                  <a:srgbClr val="333333"/>
                </a:solidFill>
                <a:latin typeface="Helvetica Neue"/>
              </a:rPr>
              <a:t>0</a:t>
            </a:r>
            <a:r>
              <a:rPr lang="zh-CN" altLang="en-US" sz="1800" dirty="0">
                <a:solidFill>
                  <a:srgbClr val="333333"/>
                </a:solidFill>
                <a:latin typeface="Helvetica Neue"/>
              </a:rPr>
              <a:t>开始的递增数字命名，</a:t>
            </a:r>
            <a:r>
              <a:rPr lang="en-US" altLang="zh-CN" sz="1800" dirty="0">
                <a:solidFill>
                  <a:srgbClr val="333333"/>
                </a:solidFill>
                <a:latin typeface="Helvetica Neue"/>
              </a:rPr>
              <a:t>Redis</a:t>
            </a:r>
            <a:r>
              <a:rPr lang="zh-CN" altLang="en-US" sz="1800" dirty="0">
                <a:solidFill>
                  <a:srgbClr val="333333"/>
                </a:solidFill>
                <a:latin typeface="Helvetica Neue"/>
              </a:rPr>
              <a:t>默认支持</a:t>
            </a:r>
            <a:r>
              <a:rPr lang="en-US" altLang="zh-CN" sz="1800" b="1" dirty="0">
                <a:solidFill>
                  <a:srgbClr val="FF0000"/>
                </a:solidFill>
                <a:latin typeface="Helvetica Neue"/>
              </a:rPr>
              <a:t>16</a:t>
            </a:r>
            <a:r>
              <a:rPr lang="zh-CN" altLang="en-US" sz="1800" b="1" dirty="0">
                <a:solidFill>
                  <a:srgbClr val="FF0000"/>
                </a:solidFill>
                <a:latin typeface="Helvetica Neue"/>
              </a:rPr>
              <a:t>个数据库</a:t>
            </a:r>
            <a:r>
              <a:rPr lang="zh-CN" altLang="en-US" sz="1800" dirty="0">
                <a:solidFill>
                  <a:srgbClr val="333333"/>
                </a:solidFill>
                <a:latin typeface="Helvetica Neue"/>
              </a:rPr>
              <a:t>（可以通过配置文件支持更多，无上限），可以通过配置</a:t>
            </a:r>
            <a:r>
              <a:rPr lang="en-US" altLang="zh-CN" sz="1800" dirty="0">
                <a:solidFill>
                  <a:srgbClr val="333333"/>
                </a:solidFill>
                <a:latin typeface="Helvetica Neue"/>
              </a:rPr>
              <a:t>databases</a:t>
            </a:r>
            <a:r>
              <a:rPr lang="zh-CN" altLang="en-US" sz="1800" dirty="0">
                <a:solidFill>
                  <a:srgbClr val="333333"/>
                </a:solidFill>
                <a:latin typeface="Helvetica Neue"/>
              </a:rPr>
              <a:t>来修改这一数字。</a:t>
            </a:r>
            <a:endParaRPr lang="zh-CN" altLang="en-US" sz="1800" dirty="0">
              <a:solidFill>
                <a:srgbClr val="333333"/>
              </a:solidFill>
              <a:latin typeface="Helvetica Neue"/>
            </a:endParaRPr>
          </a:p>
          <a:p>
            <a:pPr algn="l">
              <a:lnSpc>
                <a:spcPct val="150000"/>
              </a:lnSpc>
            </a:pPr>
            <a:endParaRPr lang="en-US" altLang="zh-CN" sz="1600" b="1" i="0" dirty="0">
              <a:solidFill>
                <a:srgbClr val="333333"/>
              </a:solidFill>
              <a:effectLst/>
              <a:latin typeface="Helvetica Neue"/>
            </a:endParaRPr>
          </a:p>
          <a:p>
            <a:pPr algn="l">
              <a:lnSpc>
                <a:spcPct val="150000"/>
              </a:lnSpc>
            </a:pPr>
            <a:r>
              <a:rPr lang="en-US" altLang="zh-CN" sz="1800" b="1" i="0" dirty="0">
                <a:solidFill>
                  <a:srgbClr val="FF0000"/>
                </a:solidFill>
                <a:effectLst/>
                <a:latin typeface="Helvetica Neue"/>
              </a:rPr>
              <a:t>Redis</a:t>
            </a:r>
            <a:r>
              <a:rPr lang="zh-CN" altLang="en-US" sz="1800" b="1" i="0" dirty="0">
                <a:solidFill>
                  <a:srgbClr val="FF0000"/>
                </a:solidFill>
                <a:effectLst/>
                <a:latin typeface="Helvetica Neue"/>
              </a:rPr>
              <a:t>的优点</a:t>
            </a:r>
            <a:endParaRPr lang="en-US" altLang="zh-CN" sz="1800" b="1" i="0" dirty="0">
              <a:solidFill>
                <a:srgbClr val="FF0000"/>
              </a:solidFill>
              <a:effectLst/>
              <a:latin typeface="Helvetica Neue"/>
            </a:endParaRPr>
          </a:p>
          <a:p>
            <a:pPr algn="l" latinLnBrk="1">
              <a:lnSpc>
                <a:spcPct val="150000"/>
              </a:lnSpc>
              <a:buFont typeface="Arial" panose="020B0604020202020204" pitchFamily="34" charset="0"/>
              <a:buChar char="•"/>
            </a:pPr>
            <a:r>
              <a:rPr lang="zh-CN" altLang="en-US" sz="1800" b="1" i="0" dirty="0">
                <a:solidFill>
                  <a:srgbClr val="FF0000"/>
                </a:solidFill>
                <a:effectLst/>
                <a:latin typeface="Helvetica Neue"/>
              </a:rPr>
              <a:t>性能极高</a:t>
            </a:r>
            <a:r>
              <a:rPr lang="zh-CN" altLang="en-US" sz="1800" b="0" i="0" dirty="0">
                <a:solidFill>
                  <a:srgbClr val="333333"/>
                </a:solidFill>
                <a:effectLst/>
                <a:latin typeface="Helvetica Neue"/>
              </a:rPr>
              <a:t> </a:t>
            </a:r>
            <a:r>
              <a:rPr lang="en-US" altLang="zh-CN" sz="1800" b="0" i="0" dirty="0">
                <a:solidFill>
                  <a:srgbClr val="333333"/>
                </a:solidFill>
                <a:effectLst/>
                <a:latin typeface="Helvetica Neue"/>
              </a:rPr>
              <a:t>– Redis</a:t>
            </a:r>
            <a:r>
              <a:rPr lang="zh-CN" altLang="en-US" sz="1800" b="0" i="0" dirty="0">
                <a:solidFill>
                  <a:srgbClr val="333333"/>
                </a:solidFill>
                <a:effectLst/>
                <a:latin typeface="Helvetica Neue"/>
              </a:rPr>
              <a:t>能读的速度是</a:t>
            </a:r>
            <a:r>
              <a:rPr lang="en-US" altLang="zh-CN" sz="1800" b="0" i="0" dirty="0">
                <a:solidFill>
                  <a:srgbClr val="333333"/>
                </a:solidFill>
                <a:effectLst/>
                <a:latin typeface="Helvetica Neue"/>
              </a:rPr>
              <a:t>110000</a:t>
            </a:r>
            <a:r>
              <a:rPr lang="zh-CN" altLang="en-US" sz="1800" b="0" i="0" dirty="0">
                <a:solidFill>
                  <a:srgbClr val="333333"/>
                </a:solidFill>
                <a:effectLst/>
                <a:latin typeface="Helvetica Neue"/>
              </a:rPr>
              <a:t>次</a:t>
            </a:r>
            <a:r>
              <a:rPr lang="en-US" altLang="zh-CN" sz="1800" b="0" i="0" dirty="0">
                <a:solidFill>
                  <a:srgbClr val="333333"/>
                </a:solidFill>
                <a:effectLst/>
                <a:latin typeface="Helvetica Neue"/>
              </a:rPr>
              <a:t>/s,</a:t>
            </a:r>
            <a:r>
              <a:rPr lang="zh-CN" altLang="en-US" sz="1800" b="0" i="0" dirty="0">
                <a:solidFill>
                  <a:srgbClr val="333333"/>
                </a:solidFill>
                <a:effectLst/>
                <a:latin typeface="Helvetica Neue"/>
              </a:rPr>
              <a:t>写的速度是</a:t>
            </a:r>
            <a:r>
              <a:rPr lang="en-US" altLang="zh-CN" sz="1800" b="0" i="0" dirty="0">
                <a:solidFill>
                  <a:srgbClr val="333333"/>
                </a:solidFill>
                <a:effectLst/>
                <a:latin typeface="Helvetica Neue"/>
              </a:rPr>
              <a:t>81000</a:t>
            </a:r>
            <a:r>
              <a:rPr lang="zh-CN" altLang="en-US" sz="1800" b="0" i="0" dirty="0">
                <a:solidFill>
                  <a:srgbClr val="333333"/>
                </a:solidFill>
                <a:effectLst/>
                <a:latin typeface="Helvetica Neue"/>
              </a:rPr>
              <a:t>次</a:t>
            </a:r>
            <a:r>
              <a:rPr lang="en-US" altLang="zh-CN" sz="1800" b="0" i="0" dirty="0">
                <a:solidFill>
                  <a:srgbClr val="333333"/>
                </a:solidFill>
                <a:effectLst/>
                <a:latin typeface="Helvetica Neue"/>
              </a:rPr>
              <a:t>/s </a:t>
            </a:r>
            <a:r>
              <a:rPr lang="zh-CN" altLang="en-US" sz="1800" b="0" i="0" dirty="0">
                <a:solidFill>
                  <a:srgbClr val="333333"/>
                </a:solidFill>
                <a:effectLst/>
                <a:latin typeface="Helvetica Neue"/>
              </a:rPr>
              <a:t>。</a:t>
            </a:r>
            <a:endParaRPr lang="zh-CN" altLang="en-US" sz="1800" b="0" i="0" dirty="0">
              <a:solidFill>
                <a:srgbClr val="333333"/>
              </a:solidFill>
              <a:effectLst/>
              <a:latin typeface="Helvetica Neue"/>
            </a:endParaRPr>
          </a:p>
          <a:p>
            <a:pPr algn="l" latinLnBrk="1">
              <a:lnSpc>
                <a:spcPct val="150000"/>
              </a:lnSpc>
              <a:buFont typeface="Arial" panose="020B0604020202020204" pitchFamily="34" charset="0"/>
              <a:buChar char="•"/>
            </a:pPr>
            <a:r>
              <a:rPr lang="zh-CN" altLang="en-US" sz="1800" b="1" i="0" dirty="0">
                <a:solidFill>
                  <a:srgbClr val="FF0000"/>
                </a:solidFill>
                <a:effectLst/>
                <a:latin typeface="Helvetica Neue"/>
              </a:rPr>
              <a:t>丰富的数据类型</a:t>
            </a:r>
            <a:r>
              <a:rPr lang="zh-CN" altLang="en-US" sz="1800" b="0" i="0" dirty="0">
                <a:solidFill>
                  <a:srgbClr val="333333"/>
                </a:solidFill>
                <a:effectLst/>
                <a:latin typeface="Helvetica Neue"/>
              </a:rPr>
              <a:t> </a:t>
            </a:r>
            <a:r>
              <a:rPr lang="en-US" altLang="zh-CN" sz="1800" b="0" i="0" dirty="0">
                <a:solidFill>
                  <a:srgbClr val="333333"/>
                </a:solidFill>
                <a:effectLst/>
                <a:latin typeface="Helvetica Neue"/>
              </a:rPr>
              <a:t>– Redis</a:t>
            </a:r>
            <a:r>
              <a:rPr lang="zh-CN" altLang="en-US" sz="1800" b="0" i="0" dirty="0">
                <a:solidFill>
                  <a:srgbClr val="333333"/>
                </a:solidFill>
                <a:effectLst/>
                <a:latin typeface="Helvetica Neue"/>
              </a:rPr>
              <a:t>支持二进制案例的 </a:t>
            </a:r>
            <a:r>
              <a:rPr lang="en-US" altLang="zh-CN" sz="1800" b="0" i="0" dirty="0">
                <a:solidFill>
                  <a:srgbClr val="333333"/>
                </a:solidFill>
                <a:effectLst/>
                <a:latin typeface="Helvetica Neue"/>
              </a:rPr>
              <a:t>Strings, Lists, Hashes, Sets </a:t>
            </a:r>
            <a:r>
              <a:rPr lang="zh-CN" altLang="en-US" sz="1800" b="0" i="0" dirty="0">
                <a:solidFill>
                  <a:srgbClr val="333333"/>
                </a:solidFill>
                <a:effectLst/>
                <a:latin typeface="Helvetica Neue"/>
              </a:rPr>
              <a:t>及 </a:t>
            </a:r>
            <a:r>
              <a:rPr lang="en-US" altLang="zh-CN" sz="1800" b="0" i="0" dirty="0">
                <a:solidFill>
                  <a:srgbClr val="333333"/>
                </a:solidFill>
                <a:effectLst/>
                <a:latin typeface="Helvetica Neue"/>
              </a:rPr>
              <a:t>Ordered Sets </a:t>
            </a:r>
            <a:r>
              <a:rPr lang="zh-CN" altLang="en-US" sz="1800" b="0" i="0" dirty="0">
                <a:solidFill>
                  <a:srgbClr val="333333"/>
                </a:solidFill>
                <a:effectLst/>
                <a:latin typeface="Helvetica Neue"/>
              </a:rPr>
              <a:t>数据类型操作。</a:t>
            </a:r>
            <a:endParaRPr lang="zh-CN" altLang="en-US" sz="1800" b="0" i="0" dirty="0">
              <a:solidFill>
                <a:srgbClr val="333333"/>
              </a:solidFill>
              <a:effectLst/>
              <a:latin typeface="Helvetica Neue"/>
            </a:endParaRPr>
          </a:p>
          <a:p>
            <a:pPr algn="l" latinLnBrk="1">
              <a:lnSpc>
                <a:spcPct val="150000"/>
              </a:lnSpc>
              <a:buFont typeface="Arial" panose="020B0604020202020204" pitchFamily="34" charset="0"/>
              <a:buChar char="•"/>
            </a:pPr>
            <a:r>
              <a:rPr lang="zh-CN" altLang="en-US" sz="1800" b="1" i="0" dirty="0">
                <a:solidFill>
                  <a:srgbClr val="FF0000"/>
                </a:solidFill>
                <a:effectLst/>
                <a:latin typeface="Helvetica Neue"/>
              </a:rPr>
              <a:t>原子</a:t>
            </a:r>
            <a:r>
              <a:rPr lang="zh-CN" altLang="en-US" sz="1800" b="0" i="0" dirty="0">
                <a:solidFill>
                  <a:srgbClr val="333333"/>
                </a:solidFill>
                <a:effectLst/>
                <a:latin typeface="Helvetica Neue"/>
              </a:rPr>
              <a:t> </a:t>
            </a:r>
            <a:r>
              <a:rPr lang="en-US" altLang="zh-CN" sz="1800" b="0" i="0" dirty="0">
                <a:solidFill>
                  <a:srgbClr val="333333"/>
                </a:solidFill>
                <a:effectLst/>
                <a:latin typeface="Helvetica Neue"/>
              </a:rPr>
              <a:t>– Redis</a:t>
            </a:r>
            <a:r>
              <a:rPr lang="zh-CN" altLang="en-US" sz="1800" b="0" i="0" dirty="0">
                <a:solidFill>
                  <a:srgbClr val="333333"/>
                </a:solidFill>
                <a:effectLst/>
                <a:latin typeface="Helvetica Neue"/>
              </a:rPr>
              <a:t>的所有操作都是原子性的，意思就是要么成功执行要么失败完全不执行。单个操作是原子性的。多个操作也支持事务，即原子性，通过</a:t>
            </a:r>
            <a:r>
              <a:rPr lang="en-US" altLang="zh-CN" sz="1800" b="0" i="0" dirty="0">
                <a:solidFill>
                  <a:srgbClr val="333333"/>
                </a:solidFill>
                <a:effectLst/>
                <a:latin typeface="Helvetica Neue"/>
              </a:rPr>
              <a:t>MULTI</a:t>
            </a:r>
            <a:r>
              <a:rPr lang="zh-CN" altLang="en-US" sz="1800" b="0" i="0" dirty="0">
                <a:solidFill>
                  <a:srgbClr val="333333"/>
                </a:solidFill>
                <a:effectLst/>
                <a:latin typeface="Helvetica Neue"/>
              </a:rPr>
              <a:t>和</a:t>
            </a:r>
            <a:r>
              <a:rPr lang="en-US" altLang="zh-CN" sz="1800" b="0" i="0" dirty="0">
                <a:solidFill>
                  <a:srgbClr val="333333"/>
                </a:solidFill>
                <a:effectLst/>
                <a:latin typeface="Helvetica Neue"/>
              </a:rPr>
              <a:t>EXEC</a:t>
            </a:r>
            <a:r>
              <a:rPr lang="zh-CN" altLang="en-US" sz="1800" b="0" i="0" dirty="0">
                <a:solidFill>
                  <a:srgbClr val="333333"/>
                </a:solidFill>
                <a:effectLst/>
                <a:latin typeface="Helvetica Neue"/>
              </a:rPr>
              <a:t>指令包起来。</a:t>
            </a:r>
            <a:endParaRPr lang="zh-CN" altLang="en-US" sz="1800" b="0" i="0" dirty="0">
              <a:solidFill>
                <a:srgbClr val="333333"/>
              </a:solidFill>
              <a:effectLst/>
              <a:latin typeface="Helvetica Neue"/>
            </a:endParaRPr>
          </a:p>
          <a:p>
            <a:pPr algn="l" latinLnBrk="1">
              <a:lnSpc>
                <a:spcPct val="150000"/>
              </a:lnSpc>
              <a:buFont typeface="Arial" panose="020B0604020202020204" pitchFamily="34" charset="0"/>
              <a:buChar char="•"/>
            </a:pPr>
            <a:r>
              <a:rPr lang="zh-CN" altLang="en-US" sz="1800" b="1" i="0" dirty="0">
                <a:solidFill>
                  <a:srgbClr val="FF0000"/>
                </a:solidFill>
                <a:effectLst/>
                <a:latin typeface="Helvetica Neue"/>
              </a:rPr>
              <a:t>丰富的特性</a:t>
            </a:r>
            <a:r>
              <a:rPr lang="zh-CN" altLang="en-US" sz="1800" b="0" i="0" dirty="0">
                <a:solidFill>
                  <a:srgbClr val="333333"/>
                </a:solidFill>
                <a:effectLst/>
                <a:latin typeface="Helvetica Neue"/>
              </a:rPr>
              <a:t> </a:t>
            </a:r>
            <a:r>
              <a:rPr lang="en-US" altLang="zh-CN" sz="1800" b="0" i="0" dirty="0">
                <a:solidFill>
                  <a:srgbClr val="333333"/>
                </a:solidFill>
                <a:effectLst/>
                <a:latin typeface="Helvetica Neue"/>
              </a:rPr>
              <a:t>– Redis</a:t>
            </a:r>
            <a:r>
              <a:rPr lang="zh-CN" altLang="en-US" sz="1800" b="0" i="0" dirty="0">
                <a:solidFill>
                  <a:srgbClr val="333333"/>
                </a:solidFill>
                <a:effectLst/>
                <a:latin typeface="Helvetica Neue"/>
              </a:rPr>
              <a:t>还支持</a:t>
            </a:r>
            <a:r>
              <a:rPr lang="en-US" altLang="zh-CN" sz="1800" b="0" i="0" dirty="0">
                <a:solidFill>
                  <a:srgbClr val="333333"/>
                </a:solidFill>
                <a:effectLst/>
                <a:latin typeface="Helvetica Neue"/>
              </a:rPr>
              <a:t>publish/subscribe, </a:t>
            </a:r>
            <a:r>
              <a:rPr lang="zh-CN" altLang="en-US" sz="1800" b="0" i="0" dirty="0">
                <a:solidFill>
                  <a:srgbClr val="333333"/>
                </a:solidFill>
                <a:effectLst/>
                <a:latin typeface="Helvetica Neue"/>
              </a:rPr>
              <a:t>通知</a:t>
            </a:r>
            <a:r>
              <a:rPr lang="en-US" altLang="zh-CN" sz="1800" b="0" i="0" dirty="0">
                <a:solidFill>
                  <a:srgbClr val="333333"/>
                </a:solidFill>
                <a:effectLst/>
                <a:latin typeface="Helvetica Neue"/>
              </a:rPr>
              <a:t>, key</a:t>
            </a:r>
            <a:r>
              <a:rPr lang="zh-CN" altLang="en-US" sz="1800" b="0" i="0" dirty="0">
                <a:solidFill>
                  <a:srgbClr val="333333"/>
                </a:solidFill>
                <a:effectLst/>
                <a:latin typeface="Helvetica Neue"/>
              </a:rPr>
              <a:t>过期等等特性。</a:t>
            </a:r>
            <a:r>
              <a:rPr lang="en-US" altLang="zh-CN" sz="1400" dirty="0">
                <a:solidFill>
                  <a:srgbClr val="333333"/>
                </a:solidFill>
                <a:latin typeface="Helvetica Neue"/>
              </a:rPr>
              <a:t>	</a:t>
            </a:r>
            <a:endParaRPr lang="zh-CN" altLang="en-US" sz="1400" dirty="0">
              <a:solidFill>
                <a:srgbClr val="333333"/>
              </a:solidFill>
              <a:latin typeface="Helvetica Neue"/>
            </a:endParaRPr>
          </a:p>
          <a:p>
            <a:pPr algn="l" eaLnBrk="1" hangingPunct="1"/>
            <a:endParaRPr lang="zh-CN" altLang="zh-CN" sz="1800" dirty="0">
              <a:solidFill>
                <a:srgbClr val="333333"/>
              </a:solidFill>
              <a:latin typeface="Helvetica Neue"/>
            </a:endParaRPr>
          </a:p>
        </p:txBody>
      </p:sp>
      <p:sp>
        <p:nvSpPr>
          <p:cNvPr id="6" name="Rectangle 2"/>
          <p:cNvSpPr txBox="1">
            <a:spLocks noChangeArrowheads="1"/>
          </p:cNvSpPr>
          <p:nvPr/>
        </p:nvSpPr>
        <p:spPr>
          <a:xfrm>
            <a:off x="409575" y="121920"/>
            <a:ext cx="8442960" cy="84328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的特性</a:t>
            </a:r>
            <a:endParaRPr lang="zh-CN" altLang="en-US" kern="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3"/>
          <p:cNvSpPr/>
          <p:nvPr/>
        </p:nvSpPr>
        <p:spPr>
          <a:xfrm>
            <a:off x="4580890" y="1234440"/>
            <a:ext cx="2946400" cy="1622425"/>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  </a:t>
            </a:r>
            <a:r>
              <a:rPr kumimoji="0" lang="en-US" altLang="zh-CN" sz="4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    cskaoyan</a:t>
            </a:r>
            <a:endParaRPr kumimoji="0" lang="en-US" altLang="zh-CN" sz="40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a:xfrm>
            <a:off x="2023745" y="5026025"/>
            <a:ext cx="836295" cy="7264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6" name="矩形 5"/>
          <p:cNvSpPr/>
          <p:nvPr/>
        </p:nvSpPr>
        <p:spPr>
          <a:xfrm>
            <a:off x="3636010" y="5026025"/>
            <a:ext cx="836295" cy="7264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7" name="矩形 6"/>
          <p:cNvSpPr/>
          <p:nvPr/>
        </p:nvSpPr>
        <p:spPr>
          <a:xfrm>
            <a:off x="5228590" y="5026025"/>
            <a:ext cx="836295" cy="7264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8" name="矩形 7"/>
          <p:cNvSpPr/>
          <p:nvPr/>
        </p:nvSpPr>
        <p:spPr>
          <a:xfrm>
            <a:off x="6831330" y="5026025"/>
            <a:ext cx="836295" cy="7264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9" name="矩形 8"/>
          <p:cNvSpPr/>
          <p:nvPr/>
        </p:nvSpPr>
        <p:spPr>
          <a:xfrm>
            <a:off x="8503920" y="5026025"/>
            <a:ext cx="836295" cy="72644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cxnSp>
        <p:nvCxnSpPr>
          <p:cNvPr id="10" name="直接箭头连接符 9"/>
          <p:cNvCxnSpPr/>
          <p:nvPr/>
        </p:nvCxnSpPr>
        <p:spPr>
          <a:xfrm flipH="1">
            <a:off x="2522220" y="2856230"/>
            <a:ext cx="2269490" cy="215011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1" name="直接箭头连接符 10"/>
          <p:cNvCxnSpPr>
            <a:endCxn id="6" idx="0"/>
          </p:cNvCxnSpPr>
          <p:nvPr/>
        </p:nvCxnSpPr>
        <p:spPr>
          <a:xfrm flipH="1">
            <a:off x="4054475" y="2866390"/>
            <a:ext cx="1772285" cy="215963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2" name="直接箭头连接符 11"/>
          <p:cNvCxnSpPr>
            <a:endCxn id="9" idx="0"/>
          </p:cNvCxnSpPr>
          <p:nvPr/>
        </p:nvCxnSpPr>
        <p:spPr>
          <a:xfrm>
            <a:off x="7270115" y="2816225"/>
            <a:ext cx="1652270" cy="220980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3" name="直接箭头连接符 12"/>
          <p:cNvCxnSpPr>
            <a:endCxn id="8" idx="0"/>
          </p:cNvCxnSpPr>
          <p:nvPr/>
        </p:nvCxnSpPr>
        <p:spPr>
          <a:xfrm>
            <a:off x="6831965" y="2836545"/>
            <a:ext cx="417830" cy="218948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4" name="直接箭头连接符 13"/>
          <p:cNvCxnSpPr/>
          <p:nvPr/>
        </p:nvCxnSpPr>
        <p:spPr>
          <a:xfrm flipH="1">
            <a:off x="5588000" y="2826385"/>
            <a:ext cx="626745" cy="215011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5" name="矩形 14"/>
          <p:cNvSpPr/>
          <p:nvPr/>
        </p:nvSpPr>
        <p:spPr>
          <a:xfrm>
            <a:off x="811530" y="1234440"/>
            <a:ext cx="1064895" cy="1990725"/>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16" name="右箭头 15"/>
          <p:cNvSpPr/>
          <p:nvPr/>
        </p:nvSpPr>
        <p:spPr>
          <a:xfrm>
            <a:off x="1894840" y="1940560"/>
            <a:ext cx="2667635" cy="34861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1463998" y="2682034"/>
            <a:ext cx="7101150" cy="707886"/>
          </a:xfrm>
          <a:prstGeom prst="rect">
            <a:avLst/>
          </a:prstGeom>
          <a:noFill/>
        </p:spPr>
        <p:txBody>
          <a:bodyPr wrap="square" rtlCol="0">
            <a:spAutoFit/>
          </a:bodyPr>
          <a:lstStyle/>
          <a:p>
            <a:r>
              <a:rPr lang="en-US" altLang="zh-CN" sz="4000" dirty="0"/>
              <a:t>Redis</a:t>
            </a:r>
            <a:r>
              <a:rPr lang="zh-CN" altLang="en-US" sz="4000" dirty="0"/>
              <a:t>常用命令和基本数据类型</a:t>
            </a:r>
            <a:endParaRPr lang="zh-CN" alt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10058" y="1452736"/>
            <a:ext cx="8443106" cy="409892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hangingPunct="1"/>
            <a:r>
              <a:rPr lang="zh-CN" altLang="en-US" sz="1800" dirty="0">
                <a:solidFill>
                  <a:srgbClr val="333333"/>
                </a:solidFill>
                <a:latin typeface="Helvetica Neue"/>
              </a:rPr>
              <a:t>单进程模型来处理客户端的请求，对读写等事件的响应通过对</a:t>
            </a:r>
            <a:r>
              <a:rPr lang="en-US" altLang="zh-CN" sz="1800" dirty="0" err="1">
                <a:solidFill>
                  <a:srgbClr val="333333"/>
                </a:solidFill>
                <a:latin typeface="Helvetica Neue"/>
              </a:rPr>
              <a:t>epoll</a:t>
            </a:r>
            <a:r>
              <a:rPr lang="zh-CN" altLang="en-US" sz="1800" dirty="0">
                <a:solidFill>
                  <a:srgbClr val="333333"/>
                </a:solidFill>
                <a:latin typeface="Helvetica Neue"/>
              </a:rPr>
              <a:t>的包装来做到。</a:t>
            </a:r>
            <a:endParaRPr lang="en-US" altLang="zh-CN" sz="1800" dirty="0">
              <a:solidFill>
                <a:srgbClr val="333333"/>
              </a:solidFill>
              <a:latin typeface="Helvetica Neue"/>
            </a:endParaRPr>
          </a:p>
          <a:p>
            <a:pPr algn="l" eaLnBrk="1" hangingPunct="1"/>
            <a:r>
              <a:rPr lang="zh-CN" altLang="en-US" sz="1800" dirty="0">
                <a:solidFill>
                  <a:srgbClr val="333333"/>
                </a:solidFill>
                <a:latin typeface="Helvetica Neue"/>
              </a:rPr>
              <a:t>默认</a:t>
            </a:r>
            <a:r>
              <a:rPr lang="en-US" altLang="zh-CN" sz="1800" dirty="0">
                <a:solidFill>
                  <a:srgbClr val="333333"/>
                </a:solidFill>
                <a:latin typeface="Helvetica Neue"/>
              </a:rPr>
              <a:t>16</a:t>
            </a:r>
            <a:r>
              <a:rPr lang="zh-CN" altLang="en-US" sz="1800" dirty="0">
                <a:solidFill>
                  <a:srgbClr val="333333"/>
                </a:solidFill>
                <a:latin typeface="Helvetica Neue"/>
              </a:rPr>
              <a:t>个数据库，编号</a:t>
            </a:r>
            <a:r>
              <a:rPr lang="en-US" altLang="zh-CN" sz="1800" dirty="0">
                <a:solidFill>
                  <a:srgbClr val="333333"/>
                </a:solidFill>
                <a:latin typeface="Helvetica Neue"/>
              </a:rPr>
              <a:t>0-15</a:t>
            </a:r>
            <a:r>
              <a:rPr lang="zh-CN" altLang="en-US" sz="1800" dirty="0">
                <a:solidFill>
                  <a:srgbClr val="333333"/>
                </a:solidFill>
                <a:latin typeface="Helvetica Neue"/>
              </a:rPr>
              <a:t>，可以通过</a:t>
            </a:r>
            <a:r>
              <a:rPr lang="en-US" altLang="zh-CN" sz="1800" b="1" dirty="0">
                <a:solidFill>
                  <a:srgbClr val="FF0000"/>
                </a:solidFill>
                <a:latin typeface="Helvetica Neue"/>
              </a:rPr>
              <a:t>select + num</a:t>
            </a:r>
            <a:r>
              <a:rPr lang="zh-CN" altLang="en-US" sz="1800" b="1" dirty="0">
                <a:solidFill>
                  <a:srgbClr val="FF0000"/>
                </a:solidFill>
                <a:latin typeface="Helvetica Neue"/>
              </a:rPr>
              <a:t>切换数据库</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DEL key	</a:t>
            </a:r>
            <a:r>
              <a:rPr lang="zh-CN" altLang="en-US" sz="1800" dirty="0">
                <a:solidFill>
                  <a:srgbClr val="333333"/>
                </a:solidFill>
                <a:latin typeface="Helvetica Neue"/>
              </a:rPr>
              <a:t>删除</a:t>
            </a:r>
            <a:r>
              <a:rPr lang="en-US" altLang="zh-CN" sz="1800" dirty="0">
                <a:solidFill>
                  <a:srgbClr val="333333"/>
                </a:solidFill>
                <a:latin typeface="Helvetica Neue"/>
              </a:rPr>
              <a:t>key </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DBSIZE </a:t>
            </a:r>
            <a:r>
              <a:rPr lang="zh-CN" altLang="en-US" sz="1800" dirty="0">
                <a:solidFill>
                  <a:srgbClr val="333333"/>
                </a:solidFill>
                <a:latin typeface="Helvetica Neue"/>
              </a:rPr>
              <a:t>查看当前数据库的</a:t>
            </a:r>
            <a:r>
              <a:rPr lang="en-US" altLang="zh-CN" sz="1800" dirty="0">
                <a:solidFill>
                  <a:srgbClr val="333333"/>
                </a:solidFill>
                <a:latin typeface="Helvetica Neue"/>
              </a:rPr>
              <a:t>key</a:t>
            </a:r>
            <a:r>
              <a:rPr lang="zh-CN" altLang="en-US" sz="1800" dirty="0">
                <a:solidFill>
                  <a:srgbClr val="333333"/>
                </a:solidFill>
                <a:latin typeface="Helvetica Neue"/>
              </a:rPr>
              <a:t>的数量</a:t>
            </a:r>
            <a:endParaRPr lang="en-US" altLang="zh-CN" sz="1800" dirty="0">
              <a:solidFill>
                <a:srgbClr val="333333"/>
              </a:solidFill>
              <a:latin typeface="Helvetica Neue"/>
            </a:endParaRPr>
          </a:p>
          <a:p>
            <a:pPr algn="l" eaLnBrk="1" hangingPunct="1"/>
            <a:r>
              <a:rPr lang="en-US" altLang="zh-CN" sz="1800" dirty="0" err="1">
                <a:solidFill>
                  <a:srgbClr val="333333"/>
                </a:solidFill>
                <a:latin typeface="Helvetica Neue"/>
              </a:rPr>
              <a:t>Flushdb</a:t>
            </a:r>
            <a:r>
              <a:rPr lang="zh-CN" altLang="en-US" sz="1800" dirty="0">
                <a:solidFill>
                  <a:srgbClr val="333333"/>
                </a:solidFill>
                <a:latin typeface="Helvetica Neue"/>
              </a:rPr>
              <a:t>清空当前数据库，</a:t>
            </a:r>
            <a:r>
              <a:rPr lang="en-US" altLang="zh-CN" sz="1800" dirty="0" err="1">
                <a:solidFill>
                  <a:srgbClr val="333333"/>
                </a:solidFill>
                <a:latin typeface="Helvetica Neue"/>
              </a:rPr>
              <a:t>flushall</a:t>
            </a:r>
            <a:r>
              <a:rPr lang="zh-CN" altLang="en-US" sz="1800" dirty="0">
                <a:solidFill>
                  <a:srgbClr val="333333"/>
                </a:solidFill>
                <a:latin typeface="Helvetica Neue"/>
              </a:rPr>
              <a:t>清空所有数据库</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Keys *,keys k? </a:t>
            </a:r>
            <a:r>
              <a:rPr lang="zh-CN" altLang="en-US" sz="1800" dirty="0">
                <a:solidFill>
                  <a:srgbClr val="333333"/>
                </a:solidFill>
                <a:latin typeface="Helvetica Neue"/>
              </a:rPr>
              <a:t>问号表示占位符</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Move key [num]  </a:t>
            </a:r>
            <a:r>
              <a:rPr lang="zh-CN" altLang="en-US" sz="1800" dirty="0">
                <a:solidFill>
                  <a:srgbClr val="333333"/>
                </a:solidFill>
                <a:latin typeface="Helvetica Neue"/>
              </a:rPr>
              <a:t>把</a:t>
            </a:r>
            <a:r>
              <a:rPr lang="en-US" altLang="zh-CN" sz="1800" dirty="0">
                <a:solidFill>
                  <a:srgbClr val="333333"/>
                </a:solidFill>
                <a:latin typeface="Helvetica Neue"/>
              </a:rPr>
              <a:t>key</a:t>
            </a:r>
            <a:r>
              <a:rPr lang="zh-CN" altLang="en-US" sz="1800" dirty="0">
                <a:solidFill>
                  <a:srgbClr val="333333"/>
                </a:solidFill>
                <a:latin typeface="Helvetica Neue"/>
              </a:rPr>
              <a:t>从当前库移动到目标库</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Exists key </a:t>
            </a:r>
            <a:r>
              <a:rPr lang="zh-CN" altLang="en-US" sz="1800" dirty="0">
                <a:solidFill>
                  <a:srgbClr val="333333"/>
                </a:solidFill>
                <a:latin typeface="Helvetica Neue"/>
              </a:rPr>
              <a:t>判断</a:t>
            </a:r>
            <a:r>
              <a:rPr lang="en-US" altLang="zh-CN" sz="1800" dirty="0">
                <a:solidFill>
                  <a:srgbClr val="333333"/>
                </a:solidFill>
                <a:latin typeface="Helvetica Neue"/>
              </a:rPr>
              <a:t>key</a:t>
            </a:r>
            <a:r>
              <a:rPr lang="zh-CN" altLang="en-US" sz="1800" dirty="0">
                <a:solidFill>
                  <a:srgbClr val="333333"/>
                </a:solidFill>
                <a:latin typeface="Helvetica Neue"/>
              </a:rPr>
              <a:t>是否存在</a:t>
            </a:r>
            <a:endParaRPr lang="en-US" altLang="zh-CN" sz="1800" dirty="0">
              <a:solidFill>
                <a:srgbClr val="333333"/>
              </a:solidFill>
              <a:latin typeface="Helvetica Neue"/>
            </a:endParaRPr>
          </a:p>
          <a:p>
            <a:pPr algn="l" eaLnBrk="1" hangingPunct="1"/>
            <a:r>
              <a:rPr lang="en-US" altLang="zh-CN" sz="1800" dirty="0" err="1">
                <a:solidFill>
                  <a:srgbClr val="333333"/>
                </a:solidFill>
                <a:latin typeface="Helvetica Neue"/>
              </a:rPr>
              <a:t>Ttl</a:t>
            </a:r>
            <a:r>
              <a:rPr lang="en-US" altLang="zh-CN" sz="1800" dirty="0">
                <a:solidFill>
                  <a:srgbClr val="333333"/>
                </a:solidFill>
                <a:latin typeface="Helvetica Neue"/>
              </a:rPr>
              <a:t> key  </a:t>
            </a:r>
            <a:r>
              <a:rPr lang="zh-CN" altLang="en-US" sz="1800" dirty="0">
                <a:solidFill>
                  <a:srgbClr val="333333"/>
                </a:solidFill>
                <a:latin typeface="Helvetica Neue"/>
              </a:rPr>
              <a:t>查看</a:t>
            </a:r>
            <a:r>
              <a:rPr lang="en-US" altLang="zh-CN" sz="1800" dirty="0">
                <a:solidFill>
                  <a:srgbClr val="333333"/>
                </a:solidFill>
                <a:latin typeface="Helvetica Neue"/>
              </a:rPr>
              <a:t>key</a:t>
            </a:r>
            <a:r>
              <a:rPr lang="zh-CN" altLang="en-US" sz="1800" dirty="0">
                <a:solidFill>
                  <a:srgbClr val="333333"/>
                </a:solidFill>
                <a:latin typeface="Helvetica Neue"/>
              </a:rPr>
              <a:t>的剩余有效时间，</a:t>
            </a:r>
            <a:r>
              <a:rPr lang="en-US" altLang="zh-CN" sz="1800" dirty="0">
                <a:solidFill>
                  <a:srgbClr val="333333"/>
                </a:solidFill>
                <a:latin typeface="Helvetica Neue"/>
              </a:rPr>
              <a:t>-1</a:t>
            </a:r>
            <a:r>
              <a:rPr lang="zh-CN" altLang="en-US" sz="1800" dirty="0">
                <a:solidFill>
                  <a:srgbClr val="333333"/>
                </a:solidFill>
                <a:latin typeface="Helvetica Neue"/>
              </a:rPr>
              <a:t>表示永不过期，</a:t>
            </a:r>
            <a:r>
              <a:rPr lang="en-US" altLang="zh-CN" sz="1800" dirty="0">
                <a:solidFill>
                  <a:srgbClr val="333333"/>
                </a:solidFill>
                <a:latin typeface="Helvetica Neue"/>
              </a:rPr>
              <a:t>-2</a:t>
            </a:r>
            <a:r>
              <a:rPr lang="zh-CN" altLang="en-US" sz="1800" dirty="0">
                <a:solidFill>
                  <a:srgbClr val="333333"/>
                </a:solidFill>
                <a:latin typeface="Helvetica Neue"/>
              </a:rPr>
              <a:t>表示已过期</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Expire key seconds </a:t>
            </a:r>
            <a:r>
              <a:rPr lang="zh-CN" altLang="en-US" sz="1800" dirty="0">
                <a:solidFill>
                  <a:srgbClr val="333333"/>
                </a:solidFill>
                <a:latin typeface="Helvetica Neue"/>
              </a:rPr>
              <a:t>为给定的</a:t>
            </a:r>
            <a:r>
              <a:rPr lang="en-US" altLang="zh-CN" sz="1800" dirty="0">
                <a:solidFill>
                  <a:srgbClr val="333333"/>
                </a:solidFill>
                <a:latin typeface="Helvetica Neue"/>
              </a:rPr>
              <a:t>key</a:t>
            </a:r>
            <a:r>
              <a:rPr lang="zh-CN" altLang="en-US" sz="1800" dirty="0">
                <a:solidFill>
                  <a:srgbClr val="333333"/>
                </a:solidFill>
                <a:latin typeface="Helvetica Neue"/>
              </a:rPr>
              <a:t>设置过期的时间</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Type key </a:t>
            </a:r>
            <a:r>
              <a:rPr lang="zh-CN" altLang="en-US" sz="1800" dirty="0">
                <a:solidFill>
                  <a:srgbClr val="333333"/>
                </a:solidFill>
                <a:latin typeface="Helvetica Neue"/>
              </a:rPr>
              <a:t>查看</a:t>
            </a:r>
            <a:r>
              <a:rPr lang="en-US" altLang="zh-CN" sz="1800" dirty="0">
                <a:solidFill>
                  <a:srgbClr val="333333"/>
                </a:solidFill>
                <a:latin typeface="Helvetica Neue"/>
              </a:rPr>
              <a:t>key</a:t>
            </a:r>
            <a:r>
              <a:rPr lang="zh-CN" altLang="en-US" sz="1800" dirty="0">
                <a:solidFill>
                  <a:srgbClr val="333333"/>
                </a:solidFill>
                <a:latin typeface="Helvetica Neue"/>
              </a:rPr>
              <a:t>的类型</a:t>
            </a:r>
            <a:endParaRPr lang="zh-CN" altLang="en-US" sz="1800" dirty="0">
              <a:solidFill>
                <a:srgbClr val="333333"/>
              </a:solidFill>
              <a:latin typeface="Helvetica Neue"/>
            </a:endParaRPr>
          </a:p>
          <a:p>
            <a:pPr algn="l" eaLnBrk="1" hangingPunct="1"/>
            <a:endParaRPr lang="zh-CN" altLang="zh-CN" sz="1800" dirty="0">
              <a:solidFill>
                <a:srgbClr val="333333"/>
              </a:solidFill>
              <a:latin typeface="Helvetica Neue"/>
            </a:endParaRPr>
          </a:p>
        </p:txBody>
      </p:sp>
      <p:sp>
        <p:nvSpPr>
          <p:cNvPr id="6" name="Rectangle 2"/>
          <p:cNvSpPr txBox="1">
            <a:spLocks noChangeArrowheads="1"/>
          </p:cNvSpPr>
          <p:nvPr/>
        </p:nvSpPr>
        <p:spPr>
          <a:xfrm>
            <a:off x="509270" y="450215"/>
            <a:ext cx="8442960" cy="82296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常用命令</a:t>
            </a:r>
            <a:endParaRPr lang="zh-CN" altLang="en-US" kern="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78460" y="1017270"/>
            <a:ext cx="8442960" cy="61595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hangingPunct="1"/>
            <a:r>
              <a:rPr lang="en-US" altLang="zh-CN" sz="1800" b="0" i="0" dirty="0">
                <a:solidFill>
                  <a:srgbClr val="333333"/>
                </a:solidFill>
                <a:effectLst/>
                <a:latin typeface="Helvetica Neue"/>
              </a:rPr>
              <a:t>Redis</a:t>
            </a:r>
            <a:r>
              <a:rPr lang="zh-CN" altLang="en-US" sz="1800" b="0" i="0" dirty="0">
                <a:solidFill>
                  <a:srgbClr val="333333"/>
                </a:solidFill>
                <a:effectLst/>
                <a:latin typeface="Helvetica Neue"/>
              </a:rPr>
              <a:t>支持五种数据类型：</a:t>
            </a:r>
            <a:r>
              <a:rPr lang="en-US" altLang="zh-CN" sz="1800" b="0" i="0" dirty="0">
                <a:solidFill>
                  <a:srgbClr val="333333"/>
                </a:solidFill>
                <a:effectLst/>
                <a:latin typeface="Helvetica Neue"/>
              </a:rPr>
              <a:t>string</a:t>
            </a:r>
            <a:r>
              <a:rPr lang="zh-CN" altLang="en-US" sz="1800" b="0" i="0" dirty="0">
                <a:solidFill>
                  <a:srgbClr val="333333"/>
                </a:solidFill>
                <a:effectLst/>
                <a:latin typeface="Helvetica Neue"/>
              </a:rPr>
              <a:t>（字符串），</a:t>
            </a:r>
            <a:r>
              <a:rPr lang="en-US" altLang="zh-CN" sz="1800" b="0" i="0" dirty="0">
                <a:solidFill>
                  <a:srgbClr val="333333"/>
                </a:solidFill>
                <a:effectLst/>
                <a:latin typeface="Helvetica Neue"/>
              </a:rPr>
              <a:t>hash</a:t>
            </a:r>
            <a:r>
              <a:rPr lang="zh-CN" altLang="en-US" sz="1800" b="0" i="0" dirty="0">
                <a:solidFill>
                  <a:srgbClr val="333333"/>
                </a:solidFill>
                <a:effectLst/>
                <a:latin typeface="Helvetica Neue"/>
              </a:rPr>
              <a:t>（哈希），</a:t>
            </a:r>
            <a:r>
              <a:rPr lang="en-US" altLang="zh-CN" sz="1800" b="0" i="0" dirty="0">
                <a:solidFill>
                  <a:srgbClr val="333333"/>
                </a:solidFill>
                <a:effectLst/>
                <a:latin typeface="Helvetica Neue"/>
              </a:rPr>
              <a:t>list</a:t>
            </a:r>
            <a:r>
              <a:rPr lang="zh-CN" altLang="en-US" sz="1800" b="0" i="0" dirty="0">
                <a:solidFill>
                  <a:srgbClr val="333333"/>
                </a:solidFill>
                <a:effectLst/>
                <a:latin typeface="Helvetica Neue"/>
              </a:rPr>
              <a:t>（列表），</a:t>
            </a:r>
            <a:r>
              <a:rPr lang="en-US" altLang="zh-CN" sz="1800" b="0" i="0" dirty="0">
                <a:solidFill>
                  <a:srgbClr val="333333"/>
                </a:solidFill>
                <a:effectLst/>
                <a:latin typeface="Helvetica Neue"/>
              </a:rPr>
              <a:t>set</a:t>
            </a:r>
            <a:r>
              <a:rPr lang="zh-CN" altLang="en-US" sz="1800" b="0" i="0" dirty="0">
                <a:solidFill>
                  <a:srgbClr val="333333"/>
                </a:solidFill>
                <a:effectLst/>
                <a:latin typeface="Helvetica Neue"/>
              </a:rPr>
              <a:t>（集合）及</a:t>
            </a:r>
            <a:r>
              <a:rPr lang="en-US" altLang="zh-CN" sz="1800" b="0" i="0" dirty="0" err="1">
                <a:solidFill>
                  <a:srgbClr val="333333"/>
                </a:solidFill>
                <a:effectLst/>
                <a:latin typeface="Helvetica Neue"/>
              </a:rPr>
              <a:t>zset</a:t>
            </a:r>
            <a:r>
              <a:rPr lang="en-US" altLang="zh-CN" sz="1800" b="0" i="0" dirty="0">
                <a:solidFill>
                  <a:srgbClr val="333333"/>
                </a:solidFill>
                <a:effectLst/>
                <a:latin typeface="Helvetica Neue"/>
              </a:rPr>
              <a:t>(sorted set</a:t>
            </a:r>
            <a:r>
              <a:rPr lang="zh-CN" altLang="en-US" sz="1800" b="0" i="0" dirty="0">
                <a:solidFill>
                  <a:srgbClr val="333333"/>
                </a:solidFill>
                <a:effectLst/>
                <a:latin typeface="Helvetica Neue"/>
              </a:rPr>
              <a:t>：有序集合</a:t>
            </a:r>
            <a:r>
              <a:rPr lang="en-US" altLang="zh-CN" sz="1800" b="0" i="0" dirty="0">
                <a:solidFill>
                  <a:srgbClr val="333333"/>
                </a:solidFill>
                <a:effectLst/>
                <a:latin typeface="Helvetica Neue"/>
              </a:rPr>
              <a:t>)</a:t>
            </a:r>
            <a:r>
              <a:rPr lang="zh-CN" altLang="en-US" sz="1800" b="0" i="0" dirty="0">
                <a:solidFill>
                  <a:srgbClr val="333333"/>
                </a:solidFill>
                <a:effectLst/>
                <a:latin typeface="Helvetica Neue"/>
              </a:rPr>
              <a:t>。</a:t>
            </a:r>
            <a:endParaRPr lang="en-US" altLang="zh-CN" sz="1800" dirty="0">
              <a:solidFill>
                <a:srgbClr val="333333"/>
              </a:solidFill>
              <a:latin typeface="Helvetica Neue"/>
            </a:endParaRPr>
          </a:p>
          <a:p>
            <a:pPr algn="l" eaLnBrk="1" hangingPunct="1"/>
            <a:endParaRPr lang="en-US" altLang="zh-CN" sz="1800" dirty="0">
              <a:solidFill>
                <a:srgbClr val="333333"/>
              </a:solidFill>
              <a:latin typeface="Helvetica Neue"/>
            </a:endParaRPr>
          </a:p>
          <a:p>
            <a:pPr algn="l" eaLnBrk="1" hangingPunct="1"/>
            <a:endParaRPr lang="zh-CN" altLang="zh-CN" sz="1800" dirty="0">
              <a:solidFill>
                <a:srgbClr val="333333"/>
              </a:solidFill>
              <a:latin typeface="Helvetica Neue"/>
            </a:endParaRPr>
          </a:p>
        </p:txBody>
      </p:sp>
      <p:sp>
        <p:nvSpPr>
          <p:cNvPr id="6" name="Rectangle 2"/>
          <p:cNvSpPr txBox="1">
            <a:spLocks noChangeArrowheads="1"/>
          </p:cNvSpPr>
          <p:nvPr/>
        </p:nvSpPr>
        <p:spPr>
          <a:xfrm>
            <a:off x="378308" y="121970"/>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endParaRPr lang="zh-CN" altLang="en-US" kern="0" dirty="0"/>
          </a:p>
        </p:txBody>
      </p:sp>
      <p:graphicFrame>
        <p:nvGraphicFramePr>
          <p:cNvPr id="2" name="表格 2"/>
          <p:cNvGraphicFramePr>
            <a:graphicFrameLocks noGrp="1"/>
          </p:cNvGraphicFramePr>
          <p:nvPr>
            <p:custDataLst>
              <p:tags r:id="rId1"/>
            </p:custDataLst>
          </p:nvPr>
        </p:nvGraphicFramePr>
        <p:xfrm>
          <a:off x="268813" y="1740304"/>
          <a:ext cx="9542780" cy="4931410"/>
        </p:xfrm>
        <a:graphic>
          <a:graphicData uri="http://schemas.openxmlformats.org/drawingml/2006/table">
            <a:tbl>
              <a:tblPr firstRow="1" bandRow="1">
                <a:tableStyleId>{5C22544A-7EE6-4342-B048-85BDC9FD1C3A}</a:tableStyleId>
              </a:tblPr>
              <a:tblGrid>
                <a:gridCol w="1661795"/>
                <a:gridCol w="1925320"/>
                <a:gridCol w="3569970"/>
                <a:gridCol w="2385695"/>
              </a:tblGrid>
              <a:tr h="285750">
                <a:tc>
                  <a:txBody>
                    <a:bodyPr/>
                    <a:lstStyle/>
                    <a:p>
                      <a:pPr algn="l" fontAlgn="t"/>
                      <a:r>
                        <a:rPr lang="zh-CN" altLang="en-US" sz="1400" dirty="0">
                          <a:solidFill>
                            <a:srgbClr val="FFFFFF"/>
                          </a:solidFill>
                          <a:effectLst/>
                        </a:rPr>
                        <a:t>类型</a:t>
                      </a:r>
                      <a:endParaRPr lang="zh-CN" altLang="en-US" sz="1400" dirty="0">
                        <a:solidFill>
                          <a:srgbClr val="FFFFFF"/>
                        </a:solidFill>
                        <a:effectLst/>
                      </a:endParaRPr>
                    </a:p>
                  </a:txBody>
                  <a:tcPr marL="22860" marR="22860" marT="22860" marB="22860"/>
                </a:tc>
                <a:tc>
                  <a:txBody>
                    <a:bodyPr/>
                    <a:lstStyle/>
                    <a:p>
                      <a:pPr algn="l" fontAlgn="t"/>
                      <a:r>
                        <a:rPr lang="zh-CN" altLang="en-US" sz="1400">
                          <a:solidFill>
                            <a:srgbClr val="FFFFFF"/>
                          </a:solidFill>
                          <a:effectLst/>
                        </a:rPr>
                        <a:t>简介</a:t>
                      </a:r>
                      <a:endParaRPr lang="zh-CN" altLang="en-US" sz="1400">
                        <a:solidFill>
                          <a:srgbClr val="FFFFFF"/>
                        </a:solidFill>
                        <a:effectLst/>
                      </a:endParaRPr>
                    </a:p>
                  </a:txBody>
                  <a:tcPr marL="22860" marR="22860" marT="22860" marB="22860"/>
                </a:tc>
                <a:tc>
                  <a:txBody>
                    <a:bodyPr/>
                    <a:lstStyle/>
                    <a:p>
                      <a:pPr algn="l" fontAlgn="t"/>
                      <a:r>
                        <a:rPr lang="zh-CN" altLang="en-US" sz="1400" dirty="0">
                          <a:solidFill>
                            <a:srgbClr val="FFFFFF"/>
                          </a:solidFill>
                          <a:effectLst/>
                        </a:rPr>
                        <a:t>特性</a:t>
                      </a:r>
                      <a:endParaRPr lang="zh-CN" altLang="en-US" sz="1400" dirty="0">
                        <a:solidFill>
                          <a:srgbClr val="FFFFFF"/>
                        </a:solidFill>
                        <a:effectLst/>
                      </a:endParaRPr>
                    </a:p>
                  </a:txBody>
                  <a:tcPr marL="22860" marR="22860" marT="22860" marB="22860"/>
                </a:tc>
                <a:tc>
                  <a:txBody>
                    <a:bodyPr/>
                    <a:lstStyle/>
                    <a:p>
                      <a:pPr algn="l" fontAlgn="t"/>
                      <a:r>
                        <a:rPr lang="zh-CN" altLang="en-US" sz="1400">
                          <a:solidFill>
                            <a:srgbClr val="FFFFFF"/>
                          </a:solidFill>
                          <a:effectLst/>
                        </a:rPr>
                        <a:t>场景</a:t>
                      </a:r>
                      <a:endParaRPr lang="zh-CN" altLang="en-US" sz="1400">
                        <a:solidFill>
                          <a:srgbClr val="FFFFFF"/>
                        </a:solidFill>
                        <a:effectLst/>
                      </a:endParaRPr>
                    </a:p>
                  </a:txBody>
                  <a:tcPr marL="22860" marR="22860" marT="22860" marB="22860"/>
                </a:tc>
              </a:tr>
              <a:tr h="598170">
                <a:tc>
                  <a:txBody>
                    <a:bodyPr/>
                    <a:lstStyle/>
                    <a:p>
                      <a:pPr fontAlgn="t"/>
                      <a:r>
                        <a:rPr lang="en-US" sz="1400" dirty="0">
                          <a:effectLst/>
                        </a:rPr>
                        <a:t>String(</a:t>
                      </a:r>
                      <a:r>
                        <a:rPr lang="zh-CN" altLang="en-US" sz="1400" dirty="0">
                          <a:effectLst/>
                        </a:rPr>
                        <a:t>字符串</a:t>
                      </a:r>
                      <a:r>
                        <a:rPr lang="en-US" altLang="zh-CN" sz="1400" dirty="0">
                          <a:effectLst/>
                        </a:rPr>
                        <a:t>)</a:t>
                      </a:r>
                      <a:endParaRPr lang="en-US" altLang="zh-CN" sz="1400" dirty="0">
                        <a:effectLst/>
                      </a:endParaRPr>
                    </a:p>
                  </a:txBody>
                  <a:tcPr marL="38100" marR="38100" marT="53340" marB="53340"/>
                </a:tc>
                <a:tc>
                  <a:txBody>
                    <a:bodyPr/>
                    <a:lstStyle/>
                    <a:p>
                      <a:pPr fontAlgn="t"/>
                      <a:r>
                        <a:rPr lang="zh-CN" altLang="en-US" sz="1400" dirty="0">
                          <a:effectLst/>
                        </a:rPr>
                        <a:t>二进制安全</a:t>
                      </a:r>
                      <a:endParaRPr lang="zh-CN" altLang="en-US" sz="1400" dirty="0">
                        <a:effectLst/>
                      </a:endParaRPr>
                    </a:p>
                  </a:txBody>
                  <a:tcPr marL="38100" marR="38100" marT="53340" marB="53340"/>
                </a:tc>
                <a:tc>
                  <a:txBody>
                    <a:bodyPr/>
                    <a:lstStyle/>
                    <a:p>
                      <a:pPr fontAlgn="t"/>
                      <a:r>
                        <a:rPr lang="zh-CN" altLang="en-US" sz="1400" dirty="0">
                          <a:effectLst/>
                        </a:rPr>
                        <a:t>可以包含任何数据</a:t>
                      </a:r>
                      <a:r>
                        <a:rPr lang="en-US" altLang="zh-CN" sz="1400" dirty="0">
                          <a:effectLst/>
                        </a:rPr>
                        <a:t>,</a:t>
                      </a:r>
                      <a:r>
                        <a:rPr lang="zh-CN" altLang="en-US" sz="1400" dirty="0">
                          <a:effectLst/>
                        </a:rPr>
                        <a:t>比如</a:t>
                      </a:r>
                      <a:r>
                        <a:rPr lang="en-US" altLang="zh-CN" sz="1400" dirty="0">
                          <a:effectLst/>
                        </a:rPr>
                        <a:t>jpg</a:t>
                      </a:r>
                      <a:r>
                        <a:rPr lang="zh-CN" altLang="en-US" sz="1400" dirty="0">
                          <a:effectLst/>
                        </a:rPr>
                        <a:t>图片或者序列化的对象</a:t>
                      </a:r>
                      <a:r>
                        <a:rPr lang="en-US" altLang="zh-CN" sz="1400" dirty="0">
                          <a:effectLst/>
                        </a:rPr>
                        <a:t>,</a:t>
                      </a:r>
                      <a:r>
                        <a:rPr lang="zh-CN" altLang="en-US" sz="1400" dirty="0">
                          <a:effectLst/>
                        </a:rPr>
                        <a:t>一个键最大能存储</a:t>
                      </a:r>
                      <a:r>
                        <a:rPr lang="en-US" altLang="zh-CN" sz="1400" dirty="0">
                          <a:effectLst/>
                        </a:rPr>
                        <a:t>512M</a:t>
                      </a:r>
                      <a:endParaRPr lang="en-US" altLang="zh-CN" sz="1400" dirty="0">
                        <a:effectLst/>
                      </a:endParaRPr>
                    </a:p>
                  </a:txBody>
                  <a:tcPr marL="38100" marR="38100" marT="53340" marB="53340"/>
                </a:tc>
                <a:tc>
                  <a:txBody>
                    <a:bodyPr/>
                    <a:lstStyle/>
                    <a:p>
                      <a:pPr fontAlgn="t"/>
                      <a:r>
                        <a:rPr lang="en-US" altLang="zh-CN" sz="1400">
                          <a:effectLst/>
                        </a:rPr>
                        <a:t>---</a:t>
                      </a:r>
                      <a:endParaRPr lang="en-US" altLang="zh-CN" sz="1400">
                        <a:effectLst/>
                      </a:endParaRPr>
                    </a:p>
                  </a:txBody>
                  <a:tcPr marL="38100" marR="38100" marT="53340" marB="53340"/>
                </a:tc>
              </a:tr>
              <a:tr h="1421130">
                <a:tc>
                  <a:txBody>
                    <a:bodyPr/>
                    <a:lstStyle/>
                    <a:p>
                      <a:pPr fontAlgn="t"/>
                      <a:r>
                        <a:rPr lang="en-US" sz="1400" dirty="0">
                          <a:effectLst/>
                        </a:rPr>
                        <a:t>Hash(</a:t>
                      </a:r>
                      <a:r>
                        <a:rPr lang="zh-CN" altLang="en-US" sz="1400" dirty="0">
                          <a:effectLst/>
                        </a:rPr>
                        <a:t>字典</a:t>
                      </a:r>
                      <a:r>
                        <a:rPr lang="en-US" altLang="zh-CN" sz="1400" dirty="0">
                          <a:effectLst/>
                        </a:rPr>
                        <a:t>)</a:t>
                      </a:r>
                      <a:endParaRPr lang="en-US" altLang="zh-CN" sz="1400" dirty="0">
                        <a:effectLst/>
                      </a:endParaRPr>
                    </a:p>
                  </a:txBody>
                  <a:tcPr marL="38100" marR="38100" marT="53340" marB="53340"/>
                </a:tc>
                <a:tc>
                  <a:txBody>
                    <a:bodyPr/>
                    <a:lstStyle/>
                    <a:p>
                      <a:pPr fontAlgn="t"/>
                      <a:r>
                        <a:rPr lang="zh-CN" altLang="en-US" sz="1400" dirty="0">
                          <a:effectLst/>
                        </a:rPr>
                        <a:t>键值对集合</a:t>
                      </a:r>
                      <a:r>
                        <a:rPr lang="en-US" altLang="zh-CN" sz="1400" dirty="0">
                          <a:effectLst/>
                        </a:rPr>
                        <a:t>,</a:t>
                      </a:r>
                      <a:r>
                        <a:rPr lang="zh-CN" altLang="en-US" sz="1400" dirty="0">
                          <a:effectLst/>
                        </a:rPr>
                        <a:t>即编程语言中的</a:t>
                      </a:r>
                      <a:r>
                        <a:rPr lang="en-US" altLang="zh-CN" sz="1400" dirty="0">
                          <a:effectLst/>
                        </a:rPr>
                        <a:t>Map</a:t>
                      </a:r>
                      <a:r>
                        <a:rPr lang="zh-CN" altLang="en-US" sz="1400" dirty="0">
                          <a:effectLst/>
                        </a:rPr>
                        <a:t>类型</a:t>
                      </a:r>
                      <a:endParaRPr lang="zh-CN" altLang="en-US" sz="1400" dirty="0">
                        <a:effectLst/>
                      </a:endParaRPr>
                    </a:p>
                  </a:txBody>
                  <a:tcPr marL="38100" marR="38100" marT="53340" marB="53340"/>
                </a:tc>
                <a:tc>
                  <a:txBody>
                    <a:bodyPr/>
                    <a:lstStyle/>
                    <a:p>
                      <a:pPr fontAlgn="t"/>
                      <a:r>
                        <a:rPr lang="zh-CN" altLang="en-US" sz="1400" dirty="0">
                          <a:effectLst/>
                        </a:rPr>
                        <a:t>适合存储对象</a:t>
                      </a:r>
                      <a:r>
                        <a:rPr lang="en-US" altLang="zh-CN" sz="1400" dirty="0">
                          <a:effectLst/>
                        </a:rPr>
                        <a:t>,</a:t>
                      </a:r>
                      <a:r>
                        <a:rPr lang="zh-CN" altLang="en-US" sz="1400" dirty="0">
                          <a:effectLst/>
                        </a:rPr>
                        <a:t>并且可以像数据库中</a:t>
                      </a:r>
                      <a:r>
                        <a:rPr lang="en-US" altLang="zh-CN" sz="1400" dirty="0">
                          <a:effectLst/>
                        </a:rPr>
                        <a:t>update</a:t>
                      </a:r>
                      <a:r>
                        <a:rPr lang="zh-CN" altLang="en-US" sz="1400" dirty="0">
                          <a:effectLst/>
                        </a:rPr>
                        <a:t>一个属性一样只修改某一项属性值</a:t>
                      </a:r>
                      <a:r>
                        <a:rPr lang="en-US" altLang="zh-CN" sz="1400" dirty="0">
                          <a:effectLst/>
                        </a:rPr>
                        <a:t>(Memcached</a:t>
                      </a:r>
                      <a:r>
                        <a:rPr lang="zh-CN" altLang="en-US" sz="1400" dirty="0">
                          <a:effectLst/>
                        </a:rPr>
                        <a:t>中需要取出整个字符串反序列化成对象修改完再序列化存回去</a:t>
                      </a:r>
                      <a:r>
                        <a:rPr lang="en-US" altLang="zh-CN" sz="1400" dirty="0">
                          <a:effectLst/>
                        </a:rPr>
                        <a:t>)</a:t>
                      </a:r>
                      <a:endParaRPr lang="en-US" altLang="zh-CN" sz="1400" dirty="0">
                        <a:effectLst/>
                      </a:endParaRPr>
                    </a:p>
                  </a:txBody>
                  <a:tcPr marL="38100" marR="38100" marT="53340" marB="53340"/>
                </a:tc>
                <a:tc>
                  <a:txBody>
                    <a:bodyPr/>
                    <a:lstStyle/>
                    <a:p>
                      <a:pPr fontAlgn="t"/>
                      <a:r>
                        <a:rPr lang="zh-CN" altLang="en-US" sz="1400" dirty="0">
                          <a:effectLst/>
                        </a:rPr>
                        <a:t>存储、读取、修改用户属性</a:t>
                      </a:r>
                      <a:endParaRPr lang="zh-CN" altLang="en-US" sz="1400" dirty="0">
                        <a:effectLst/>
                      </a:endParaRPr>
                    </a:p>
                  </a:txBody>
                  <a:tcPr marL="38100" marR="38100" marT="53340" marB="53340"/>
                </a:tc>
              </a:tr>
              <a:tr h="718185">
                <a:tc>
                  <a:txBody>
                    <a:bodyPr/>
                    <a:lstStyle/>
                    <a:p>
                      <a:pPr fontAlgn="t"/>
                      <a:r>
                        <a:rPr lang="en-US" sz="1400">
                          <a:effectLst/>
                        </a:rPr>
                        <a:t>List(</a:t>
                      </a:r>
                      <a:r>
                        <a:rPr lang="zh-CN" altLang="en-US" sz="1400">
                          <a:effectLst/>
                        </a:rPr>
                        <a:t>列表</a:t>
                      </a:r>
                      <a:r>
                        <a:rPr lang="en-US" altLang="zh-CN" sz="1400">
                          <a:effectLst/>
                        </a:rPr>
                        <a:t>)</a:t>
                      </a:r>
                      <a:endParaRPr lang="en-US" altLang="zh-CN" sz="1400">
                        <a:effectLst/>
                      </a:endParaRPr>
                    </a:p>
                  </a:txBody>
                  <a:tcPr marL="38100" marR="38100" marT="53340" marB="53340"/>
                </a:tc>
                <a:tc>
                  <a:txBody>
                    <a:bodyPr/>
                    <a:lstStyle/>
                    <a:p>
                      <a:pPr fontAlgn="t"/>
                      <a:r>
                        <a:rPr lang="zh-CN" altLang="en-US" sz="1400" dirty="0">
                          <a:effectLst/>
                        </a:rPr>
                        <a:t>链表</a:t>
                      </a:r>
                      <a:r>
                        <a:rPr lang="en-US" altLang="zh-CN" sz="1400" dirty="0">
                          <a:effectLst/>
                        </a:rPr>
                        <a:t>(</a:t>
                      </a:r>
                      <a:r>
                        <a:rPr lang="zh-CN" altLang="en-US" sz="1400" dirty="0">
                          <a:effectLst/>
                        </a:rPr>
                        <a:t>双向链表</a:t>
                      </a:r>
                      <a:r>
                        <a:rPr lang="en-US" altLang="zh-CN" sz="1400" dirty="0">
                          <a:effectLst/>
                        </a:rPr>
                        <a:t>)</a:t>
                      </a:r>
                      <a:endParaRPr lang="en-US" altLang="zh-CN" sz="1400" dirty="0">
                        <a:effectLst/>
                      </a:endParaRPr>
                    </a:p>
                  </a:txBody>
                  <a:tcPr marL="38100" marR="38100" marT="53340" marB="53340"/>
                </a:tc>
                <a:tc>
                  <a:txBody>
                    <a:bodyPr/>
                    <a:lstStyle/>
                    <a:p>
                      <a:pPr fontAlgn="t"/>
                      <a:r>
                        <a:rPr lang="zh-CN" altLang="en-US" sz="1400" dirty="0">
                          <a:effectLst/>
                        </a:rPr>
                        <a:t>增删快</a:t>
                      </a:r>
                      <a:r>
                        <a:rPr lang="en-US" altLang="zh-CN" sz="1400" dirty="0">
                          <a:effectLst/>
                        </a:rPr>
                        <a:t>,</a:t>
                      </a:r>
                      <a:r>
                        <a:rPr lang="zh-CN" altLang="en-US" sz="1400" dirty="0">
                          <a:effectLst/>
                        </a:rPr>
                        <a:t>提供了操作某一段元素的</a:t>
                      </a:r>
                      <a:r>
                        <a:rPr lang="en-US" altLang="zh-CN" sz="1400" dirty="0">
                          <a:effectLst/>
                        </a:rPr>
                        <a:t>API</a:t>
                      </a:r>
                      <a:endParaRPr lang="en-US" altLang="zh-CN" sz="1400" dirty="0">
                        <a:effectLst/>
                      </a:endParaRPr>
                    </a:p>
                  </a:txBody>
                  <a:tcPr marL="38100" marR="38100" marT="53340" marB="53340"/>
                </a:tc>
                <a:tc>
                  <a:txBody>
                    <a:bodyPr/>
                    <a:lstStyle/>
                    <a:p>
                      <a:pPr fontAlgn="t"/>
                      <a:r>
                        <a:rPr lang="en-US" altLang="zh-CN" sz="1400" dirty="0">
                          <a:effectLst/>
                        </a:rPr>
                        <a:t>1,</a:t>
                      </a:r>
                      <a:r>
                        <a:rPr lang="zh-CN" altLang="en-US" sz="1400" dirty="0">
                          <a:effectLst/>
                        </a:rPr>
                        <a:t>最新消息排行等功能</a:t>
                      </a:r>
                      <a:r>
                        <a:rPr lang="en-US" altLang="zh-CN" sz="1400" dirty="0">
                          <a:effectLst/>
                        </a:rPr>
                        <a:t>(</a:t>
                      </a:r>
                      <a:r>
                        <a:rPr lang="zh-CN" altLang="en-US" sz="1400" dirty="0">
                          <a:effectLst/>
                        </a:rPr>
                        <a:t>比如朋友圈的时间线</a:t>
                      </a:r>
                      <a:r>
                        <a:rPr lang="en-US" altLang="zh-CN" sz="1400" dirty="0">
                          <a:effectLst/>
                        </a:rPr>
                        <a:t>) 2,</a:t>
                      </a:r>
                      <a:r>
                        <a:rPr lang="zh-CN" altLang="en-US" sz="1400" dirty="0">
                          <a:effectLst/>
                        </a:rPr>
                        <a:t>消息队列</a:t>
                      </a:r>
                      <a:endParaRPr lang="zh-CN" altLang="en-US" sz="1400" dirty="0">
                        <a:effectLst/>
                      </a:endParaRPr>
                    </a:p>
                  </a:txBody>
                  <a:tcPr marL="38100" marR="38100" marT="53340" marB="53340"/>
                </a:tc>
              </a:tr>
              <a:tr h="1116965">
                <a:tc>
                  <a:txBody>
                    <a:bodyPr/>
                    <a:lstStyle/>
                    <a:p>
                      <a:pPr fontAlgn="t"/>
                      <a:r>
                        <a:rPr lang="en-US" sz="1400" dirty="0">
                          <a:effectLst/>
                        </a:rPr>
                        <a:t>Set(</a:t>
                      </a:r>
                      <a:r>
                        <a:rPr lang="zh-CN" altLang="en-US" sz="1400" dirty="0">
                          <a:effectLst/>
                        </a:rPr>
                        <a:t>集合</a:t>
                      </a:r>
                      <a:r>
                        <a:rPr lang="en-US" altLang="zh-CN" sz="1400" dirty="0">
                          <a:effectLst/>
                        </a:rPr>
                        <a:t>)</a:t>
                      </a:r>
                      <a:endParaRPr lang="en-US" altLang="zh-CN" sz="1400" dirty="0">
                        <a:effectLst/>
                      </a:endParaRPr>
                    </a:p>
                  </a:txBody>
                  <a:tcPr marL="38100" marR="38100" marT="53340" marB="53340"/>
                </a:tc>
                <a:tc>
                  <a:txBody>
                    <a:bodyPr/>
                    <a:lstStyle/>
                    <a:p>
                      <a:pPr fontAlgn="t"/>
                      <a:r>
                        <a:rPr lang="zh-CN" altLang="en-US" sz="1400" dirty="0">
                          <a:effectLst/>
                        </a:rPr>
                        <a:t>哈希表实现</a:t>
                      </a:r>
                      <a:r>
                        <a:rPr lang="en-US" altLang="zh-CN" sz="1400" dirty="0">
                          <a:effectLst/>
                        </a:rPr>
                        <a:t>,</a:t>
                      </a:r>
                      <a:r>
                        <a:rPr lang="zh-CN" altLang="en-US" sz="1400" dirty="0">
                          <a:effectLst/>
                        </a:rPr>
                        <a:t>元素不重复</a:t>
                      </a:r>
                      <a:endParaRPr lang="zh-CN" altLang="en-US" sz="1400" dirty="0">
                        <a:effectLst/>
                      </a:endParaRPr>
                    </a:p>
                  </a:txBody>
                  <a:tcPr marL="38100" marR="38100" marT="53340" marB="53340"/>
                </a:tc>
                <a:tc>
                  <a:txBody>
                    <a:bodyPr/>
                    <a:lstStyle/>
                    <a:p>
                      <a:pPr fontAlgn="t"/>
                      <a:r>
                        <a:rPr lang="en-US" altLang="zh-CN" sz="1400" dirty="0">
                          <a:effectLst/>
                        </a:rPr>
                        <a:t>1</a:t>
                      </a:r>
                      <a:r>
                        <a:rPr lang="zh-CN" altLang="en-US" sz="1400" dirty="0">
                          <a:effectLst/>
                        </a:rPr>
                        <a:t>、添加、删除、查找的复杂度都是</a:t>
                      </a:r>
                      <a:r>
                        <a:rPr lang="en-US" altLang="zh-CN" sz="1400" dirty="0">
                          <a:effectLst/>
                        </a:rPr>
                        <a:t>O(1) </a:t>
                      </a:r>
                      <a:endParaRPr lang="en-US" altLang="zh-CN" sz="1400" dirty="0">
                        <a:effectLst/>
                      </a:endParaRPr>
                    </a:p>
                    <a:p>
                      <a:pPr fontAlgn="t"/>
                      <a:r>
                        <a:rPr lang="en-US" altLang="zh-CN" sz="1400" dirty="0">
                          <a:effectLst/>
                        </a:rPr>
                        <a:t>2</a:t>
                      </a:r>
                      <a:r>
                        <a:rPr lang="zh-CN" altLang="en-US" sz="1400" dirty="0">
                          <a:effectLst/>
                        </a:rPr>
                        <a:t>、为集合提供了求交集、并集、差集等操作</a:t>
                      </a:r>
                      <a:endParaRPr lang="zh-CN" altLang="en-US" sz="1400" dirty="0">
                        <a:effectLst/>
                      </a:endParaRPr>
                    </a:p>
                  </a:txBody>
                  <a:tcPr marL="38100" marR="38100" marT="53340" marB="53340"/>
                </a:tc>
                <a:tc>
                  <a:txBody>
                    <a:bodyPr/>
                    <a:lstStyle/>
                    <a:p>
                      <a:pPr fontAlgn="t"/>
                      <a:r>
                        <a:rPr lang="en-US" altLang="zh-CN" sz="1400" dirty="0">
                          <a:effectLst/>
                        </a:rPr>
                        <a:t>1</a:t>
                      </a:r>
                      <a:r>
                        <a:rPr lang="zh-CN" altLang="en-US" sz="1400" dirty="0">
                          <a:effectLst/>
                        </a:rPr>
                        <a:t>、共同好友 </a:t>
                      </a:r>
                      <a:r>
                        <a:rPr lang="en-US" altLang="zh-CN" sz="1400" dirty="0">
                          <a:effectLst/>
                        </a:rPr>
                        <a:t>2</a:t>
                      </a:r>
                      <a:r>
                        <a:rPr lang="zh-CN" altLang="en-US" sz="1400" dirty="0">
                          <a:effectLst/>
                        </a:rPr>
                        <a:t>、利用唯一性</a:t>
                      </a:r>
                      <a:r>
                        <a:rPr lang="en-US" altLang="zh-CN" sz="1400" dirty="0">
                          <a:effectLst/>
                        </a:rPr>
                        <a:t>,</a:t>
                      </a:r>
                      <a:r>
                        <a:rPr lang="zh-CN" altLang="en-US" sz="1400" dirty="0">
                          <a:effectLst/>
                        </a:rPr>
                        <a:t>统计访问网站的所有独立</a:t>
                      </a:r>
                      <a:r>
                        <a:rPr lang="en-US" altLang="zh-CN" sz="1400" dirty="0" err="1">
                          <a:effectLst/>
                        </a:rPr>
                        <a:t>ip</a:t>
                      </a:r>
                      <a:r>
                        <a:rPr lang="en-US" altLang="zh-CN" sz="1400" dirty="0">
                          <a:effectLst/>
                        </a:rPr>
                        <a:t> 3</a:t>
                      </a:r>
                      <a:r>
                        <a:rPr lang="zh-CN" altLang="en-US" sz="1400" dirty="0">
                          <a:effectLst/>
                        </a:rPr>
                        <a:t>、好友推荐时</a:t>
                      </a:r>
                      <a:r>
                        <a:rPr lang="en-US" altLang="zh-CN" sz="1400" dirty="0">
                          <a:effectLst/>
                        </a:rPr>
                        <a:t>,</a:t>
                      </a:r>
                      <a:r>
                        <a:rPr lang="zh-CN" altLang="en-US" sz="1400" dirty="0">
                          <a:effectLst/>
                        </a:rPr>
                        <a:t>根据</a:t>
                      </a:r>
                      <a:r>
                        <a:rPr lang="en-US" altLang="zh-CN" sz="1400" dirty="0">
                          <a:effectLst/>
                        </a:rPr>
                        <a:t>tag</a:t>
                      </a:r>
                      <a:r>
                        <a:rPr lang="zh-CN" altLang="en-US" sz="1400" dirty="0">
                          <a:effectLst/>
                        </a:rPr>
                        <a:t>求交集</a:t>
                      </a:r>
                      <a:r>
                        <a:rPr lang="en-US" altLang="zh-CN" sz="1400" dirty="0">
                          <a:effectLst/>
                        </a:rPr>
                        <a:t>,</a:t>
                      </a:r>
                      <a:r>
                        <a:rPr lang="zh-CN" altLang="en-US" sz="1400" dirty="0">
                          <a:effectLst/>
                        </a:rPr>
                        <a:t>大于某个阈值就可以推荐</a:t>
                      </a:r>
                      <a:endParaRPr lang="zh-CN" altLang="en-US" sz="1400" dirty="0">
                        <a:effectLst/>
                      </a:endParaRPr>
                    </a:p>
                  </a:txBody>
                  <a:tcPr marL="38100" marR="38100" marT="53340" marB="53340"/>
                </a:tc>
              </a:tr>
              <a:tr h="791210">
                <a:tc>
                  <a:txBody>
                    <a:bodyPr/>
                    <a:lstStyle/>
                    <a:p>
                      <a:pPr fontAlgn="t"/>
                      <a:r>
                        <a:rPr lang="en-US" sz="1400">
                          <a:effectLst/>
                        </a:rPr>
                        <a:t>Sorted Set(</a:t>
                      </a:r>
                      <a:r>
                        <a:rPr lang="zh-CN" altLang="en-US" sz="1400">
                          <a:effectLst/>
                        </a:rPr>
                        <a:t>有序集合</a:t>
                      </a:r>
                      <a:r>
                        <a:rPr lang="en-US" altLang="zh-CN" sz="1400">
                          <a:effectLst/>
                        </a:rPr>
                        <a:t>)</a:t>
                      </a:r>
                      <a:endParaRPr lang="en-US" altLang="zh-CN" sz="1400">
                        <a:effectLst/>
                      </a:endParaRPr>
                    </a:p>
                  </a:txBody>
                  <a:tcPr marL="38100" marR="38100" marT="53340" marB="53340"/>
                </a:tc>
                <a:tc>
                  <a:txBody>
                    <a:bodyPr/>
                    <a:lstStyle/>
                    <a:p>
                      <a:pPr fontAlgn="t"/>
                      <a:r>
                        <a:rPr lang="zh-CN" altLang="en-US" sz="1400" dirty="0">
                          <a:effectLst/>
                        </a:rPr>
                        <a:t>将</a:t>
                      </a:r>
                      <a:r>
                        <a:rPr lang="en-US" altLang="zh-CN" sz="1400" dirty="0">
                          <a:effectLst/>
                        </a:rPr>
                        <a:t>Set</a:t>
                      </a:r>
                      <a:r>
                        <a:rPr lang="zh-CN" altLang="en-US" sz="1400" dirty="0">
                          <a:effectLst/>
                        </a:rPr>
                        <a:t>中的元素增加一个权重参数</a:t>
                      </a:r>
                      <a:r>
                        <a:rPr lang="en-US" altLang="zh-CN" sz="1400" dirty="0">
                          <a:effectLst/>
                        </a:rPr>
                        <a:t>score,</a:t>
                      </a:r>
                      <a:r>
                        <a:rPr lang="zh-CN" altLang="en-US" sz="1400" dirty="0">
                          <a:effectLst/>
                        </a:rPr>
                        <a:t>元素按</a:t>
                      </a:r>
                      <a:r>
                        <a:rPr lang="en-US" altLang="zh-CN" sz="1400" dirty="0">
                          <a:effectLst/>
                        </a:rPr>
                        <a:t>score</a:t>
                      </a:r>
                      <a:r>
                        <a:rPr lang="zh-CN" altLang="en-US" sz="1400" dirty="0">
                          <a:effectLst/>
                        </a:rPr>
                        <a:t>有序排列</a:t>
                      </a:r>
                      <a:endParaRPr lang="zh-CN" altLang="en-US" sz="1400" dirty="0">
                        <a:effectLst/>
                      </a:endParaRPr>
                    </a:p>
                  </a:txBody>
                  <a:tcPr marL="38100" marR="38100" marT="53340" marB="53340"/>
                </a:tc>
                <a:tc>
                  <a:txBody>
                    <a:bodyPr/>
                    <a:lstStyle/>
                    <a:p>
                      <a:pPr fontAlgn="t"/>
                      <a:r>
                        <a:rPr lang="zh-CN" altLang="en-US" sz="1400" dirty="0">
                          <a:effectLst/>
                        </a:rPr>
                        <a:t>数据插入集合时</a:t>
                      </a:r>
                      <a:r>
                        <a:rPr lang="en-US" altLang="zh-CN" sz="1400" dirty="0">
                          <a:effectLst/>
                        </a:rPr>
                        <a:t>,</a:t>
                      </a:r>
                      <a:r>
                        <a:rPr lang="zh-CN" altLang="en-US" sz="1400" dirty="0">
                          <a:effectLst/>
                        </a:rPr>
                        <a:t>已经进行天然排序</a:t>
                      </a:r>
                      <a:endParaRPr lang="zh-CN" altLang="en-US" sz="1400" dirty="0">
                        <a:effectLst/>
                      </a:endParaRPr>
                    </a:p>
                  </a:txBody>
                  <a:tcPr marL="38100" marR="38100" marT="53340" marB="53340"/>
                </a:tc>
                <a:tc>
                  <a:txBody>
                    <a:bodyPr/>
                    <a:lstStyle/>
                    <a:p>
                      <a:pPr fontAlgn="t"/>
                      <a:r>
                        <a:rPr lang="en-US" altLang="zh-CN" sz="1400" dirty="0">
                          <a:effectLst/>
                        </a:rPr>
                        <a:t>1</a:t>
                      </a:r>
                      <a:r>
                        <a:rPr lang="zh-CN" altLang="en-US" sz="1400" dirty="0">
                          <a:effectLst/>
                        </a:rPr>
                        <a:t>、排行榜 </a:t>
                      </a:r>
                      <a:r>
                        <a:rPr lang="en-US" altLang="zh-CN" sz="1400" dirty="0">
                          <a:effectLst/>
                        </a:rPr>
                        <a:t>2</a:t>
                      </a:r>
                      <a:r>
                        <a:rPr lang="zh-CN" altLang="en-US" sz="1400" dirty="0">
                          <a:effectLst/>
                        </a:rPr>
                        <a:t>、带权重的消息队列</a:t>
                      </a:r>
                      <a:endParaRPr lang="zh-CN" altLang="en-US" sz="1400" dirty="0">
                        <a:effectLst/>
                      </a:endParaRPr>
                    </a:p>
                  </a:txBody>
                  <a:tcPr marL="38100" marR="38100" marT="53340" marB="5334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160655" y="1721485"/>
            <a:ext cx="9766935" cy="499999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latinLnBrk="1" hangingPunct="1"/>
            <a:r>
              <a:rPr lang="en-US" altLang="zh-CN" sz="1800" dirty="0">
                <a:solidFill>
                  <a:srgbClr val="333333"/>
                </a:solidFill>
                <a:latin typeface="Helvetica Neue"/>
              </a:rPr>
              <a:t>string</a:t>
            </a:r>
            <a:r>
              <a:rPr lang="zh-CN" altLang="en-US" sz="1800" dirty="0">
                <a:solidFill>
                  <a:srgbClr val="333333"/>
                </a:solidFill>
                <a:latin typeface="Helvetica Neue"/>
              </a:rPr>
              <a:t>是</a:t>
            </a:r>
            <a:r>
              <a:rPr lang="en-US" altLang="zh-CN" sz="1800" dirty="0" err="1">
                <a:solidFill>
                  <a:srgbClr val="333333"/>
                </a:solidFill>
                <a:latin typeface="Helvetica Neue"/>
              </a:rPr>
              <a:t>redis</a:t>
            </a:r>
            <a:r>
              <a:rPr lang="zh-CN" altLang="en-US" sz="1800" dirty="0">
                <a:solidFill>
                  <a:srgbClr val="333333"/>
                </a:solidFill>
                <a:latin typeface="Helvetica Neue"/>
              </a:rPr>
              <a:t>最基本的类型，你可以理解成一个</a:t>
            </a:r>
            <a:r>
              <a:rPr lang="en-US" altLang="zh-CN" sz="1800" dirty="0">
                <a:solidFill>
                  <a:srgbClr val="333333"/>
                </a:solidFill>
                <a:latin typeface="Helvetica Neue"/>
              </a:rPr>
              <a:t>key</a:t>
            </a:r>
            <a:r>
              <a:rPr lang="zh-CN" altLang="en-US" sz="1800" dirty="0">
                <a:solidFill>
                  <a:srgbClr val="333333"/>
                </a:solidFill>
                <a:latin typeface="Helvetica Neue"/>
              </a:rPr>
              <a:t>对应一个</a:t>
            </a:r>
            <a:r>
              <a:rPr lang="en-US" altLang="zh-CN" sz="1800" dirty="0">
                <a:solidFill>
                  <a:srgbClr val="333333"/>
                </a:solidFill>
                <a:latin typeface="Helvetica Neue"/>
              </a:rPr>
              <a:t>value</a:t>
            </a:r>
            <a:r>
              <a:rPr lang="zh-CN" altLang="en-US" sz="1800" dirty="0">
                <a:solidFill>
                  <a:srgbClr val="333333"/>
                </a:solidFill>
                <a:latin typeface="Helvetica Neue"/>
              </a:rPr>
              <a:t>，</a:t>
            </a:r>
            <a:r>
              <a:rPr lang="en-US" altLang="zh-CN" sz="1800" dirty="0">
                <a:solidFill>
                  <a:srgbClr val="333333"/>
                </a:solidFill>
                <a:latin typeface="Helvetica Neue"/>
              </a:rPr>
              <a:t>string </a:t>
            </a:r>
            <a:r>
              <a:rPr lang="zh-CN" altLang="en-US" sz="1800" dirty="0">
                <a:solidFill>
                  <a:srgbClr val="333333"/>
                </a:solidFill>
                <a:latin typeface="Helvetica Neue"/>
              </a:rPr>
              <a:t>类型的值最大能存储</a:t>
            </a:r>
            <a:r>
              <a:rPr lang="en-US" altLang="zh-CN" sz="1800" dirty="0">
                <a:solidFill>
                  <a:srgbClr val="333333"/>
                </a:solidFill>
                <a:latin typeface="Helvetica Neue"/>
              </a:rPr>
              <a:t>512MB </a:t>
            </a:r>
            <a:r>
              <a:rPr lang="zh-CN" altLang="en-US" sz="1800" dirty="0">
                <a:solidFill>
                  <a:srgbClr val="333333"/>
                </a:solidFill>
                <a:latin typeface="Helvetica Neue"/>
              </a:rPr>
              <a:t>。</a:t>
            </a:r>
            <a:endParaRPr lang="zh-CN" altLang="en-US" sz="1800" dirty="0">
              <a:solidFill>
                <a:srgbClr val="333333"/>
              </a:solidFill>
              <a:latin typeface="Helvetica Neue"/>
            </a:endParaRPr>
          </a:p>
          <a:p>
            <a:pPr algn="l" eaLnBrk="1" latinLnBrk="1" hangingPunct="1"/>
            <a:r>
              <a:rPr lang="en-US" altLang="zh-CN" sz="1800" dirty="0">
                <a:solidFill>
                  <a:srgbClr val="333333"/>
                </a:solidFill>
                <a:latin typeface="Helvetica Neue"/>
              </a:rPr>
              <a:t>string </a:t>
            </a:r>
            <a:r>
              <a:rPr lang="zh-CN" altLang="en-US" sz="1800" dirty="0">
                <a:solidFill>
                  <a:srgbClr val="333333"/>
                </a:solidFill>
                <a:latin typeface="Helvetica Neue"/>
              </a:rPr>
              <a:t>类型是</a:t>
            </a:r>
            <a:r>
              <a:rPr lang="zh-CN" altLang="en-US" sz="1800" b="1" dirty="0">
                <a:solidFill>
                  <a:srgbClr val="FF0000"/>
                </a:solidFill>
                <a:latin typeface="Helvetica Neue"/>
              </a:rPr>
              <a:t>二进制安全的</a:t>
            </a:r>
            <a:r>
              <a:rPr lang="zh-CN" altLang="en-US" sz="1800" dirty="0">
                <a:solidFill>
                  <a:srgbClr val="333333"/>
                </a:solidFill>
                <a:latin typeface="Helvetica Neue"/>
              </a:rPr>
              <a:t>。意思是</a:t>
            </a:r>
            <a:r>
              <a:rPr lang="en-US" altLang="zh-CN" sz="1800" dirty="0" err="1">
                <a:solidFill>
                  <a:srgbClr val="333333"/>
                </a:solidFill>
                <a:latin typeface="Helvetica Neue"/>
              </a:rPr>
              <a:t>redis</a:t>
            </a:r>
            <a:r>
              <a:rPr lang="zh-CN" altLang="en-US" sz="1800" dirty="0">
                <a:solidFill>
                  <a:srgbClr val="333333"/>
                </a:solidFill>
                <a:latin typeface="Helvetica Neue"/>
              </a:rPr>
              <a:t>的</a:t>
            </a:r>
            <a:r>
              <a:rPr lang="en-US" altLang="zh-CN" sz="1800" dirty="0">
                <a:solidFill>
                  <a:srgbClr val="333333"/>
                </a:solidFill>
                <a:latin typeface="Helvetica Neue"/>
              </a:rPr>
              <a:t>string</a:t>
            </a:r>
            <a:r>
              <a:rPr lang="zh-CN" altLang="en-US" sz="1800" dirty="0">
                <a:solidFill>
                  <a:srgbClr val="333333"/>
                </a:solidFill>
                <a:latin typeface="Helvetica Neue"/>
              </a:rPr>
              <a:t>可以包含</a:t>
            </a:r>
            <a:r>
              <a:rPr lang="zh-CN" altLang="en-US" sz="1800" b="1" dirty="0">
                <a:solidFill>
                  <a:srgbClr val="FF0000"/>
                </a:solidFill>
                <a:latin typeface="Helvetica Neue"/>
              </a:rPr>
              <a:t>任何数据</a:t>
            </a:r>
            <a:r>
              <a:rPr lang="zh-CN" altLang="en-US" sz="1800" dirty="0">
                <a:solidFill>
                  <a:srgbClr val="333333"/>
                </a:solidFill>
                <a:latin typeface="Helvetica Neue"/>
              </a:rPr>
              <a:t>。比如</a:t>
            </a:r>
            <a:r>
              <a:rPr lang="en-US" altLang="zh-CN" sz="1800" dirty="0">
                <a:solidFill>
                  <a:srgbClr val="333333"/>
                </a:solidFill>
                <a:latin typeface="Helvetica Neue"/>
              </a:rPr>
              <a:t>jpg</a:t>
            </a:r>
            <a:r>
              <a:rPr lang="zh-CN" altLang="en-US" sz="1800" dirty="0">
                <a:solidFill>
                  <a:srgbClr val="333333"/>
                </a:solidFill>
                <a:latin typeface="Helvetica Neue"/>
              </a:rPr>
              <a:t>图片或者序列化的对象。</a:t>
            </a:r>
            <a:endParaRPr lang="zh-CN" altLang="en-US" sz="1800" dirty="0">
              <a:solidFill>
                <a:srgbClr val="333333"/>
              </a:solidFill>
              <a:latin typeface="Helvetica Neue"/>
            </a:endParaRPr>
          </a:p>
          <a:p>
            <a:pPr algn="l" eaLnBrk="1" hangingPunct="1"/>
            <a:endParaRPr lang="en-US" altLang="zh-CN" sz="1800" dirty="0">
              <a:solidFill>
                <a:srgbClr val="333333"/>
              </a:solidFill>
              <a:latin typeface="Helvetica Neue"/>
            </a:endParaRPr>
          </a:p>
          <a:p>
            <a:pPr algn="l" eaLnBrk="1" hangingPunct="1"/>
            <a:r>
              <a:rPr lang="zh-CN" altLang="en-US" sz="1800" dirty="0">
                <a:solidFill>
                  <a:srgbClr val="333333"/>
                </a:solidFill>
                <a:latin typeface="Helvetica Neue"/>
              </a:rPr>
              <a:t>常用命令</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SET key value  </a:t>
            </a:r>
            <a:r>
              <a:rPr lang="zh-CN" altLang="en-US" sz="1800" dirty="0">
                <a:solidFill>
                  <a:srgbClr val="333333"/>
                </a:solidFill>
                <a:latin typeface="Helvetica Neue"/>
              </a:rPr>
              <a:t>设定指定</a:t>
            </a:r>
            <a:r>
              <a:rPr lang="en-US" altLang="zh-CN" sz="1800" dirty="0">
                <a:solidFill>
                  <a:srgbClr val="333333"/>
                </a:solidFill>
                <a:latin typeface="Helvetica Neue"/>
              </a:rPr>
              <a:t>key</a:t>
            </a:r>
            <a:r>
              <a:rPr lang="zh-CN" altLang="en-US" sz="1800" dirty="0">
                <a:solidFill>
                  <a:srgbClr val="333333"/>
                </a:solidFill>
                <a:latin typeface="Helvetica Neue"/>
              </a:rPr>
              <a:t>的值</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GET key </a:t>
            </a:r>
            <a:r>
              <a:rPr lang="zh-CN" altLang="en-US" sz="1800" dirty="0">
                <a:solidFill>
                  <a:srgbClr val="333333"/>
                </a:solidFill>
                <a:latin typeface="Helvetica Neue"/>
              </a:rPr>
              <a:t>获取指定</a:t>
            </a:r>
            <a:r>
              <a:rPr lang="en-US" altLang="zh-CN" sz="1800" dirty="0">
                <a:solidFill>
                  <a:srgbClr val="333333"/>
                </a:solidFill>
                <a:latin typeface="Helvetica Neue"/>
              </a:rPr>
              <a:t>key</a:t>
            </a:r>
            <a:r>
              <a:rPr lang="zh-CN" altLang="en-US" sz="1800" dirty="0">
                <a:solidFill>
                  <a:srgbClr val="333333"/>
                </a:solidFill>
                <a:latin typeface="Helvetica Neue"/>
              </a:rPr>
              <a:t>的值</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GETRANGE key start end </a:t>
            </a:r>
            <a:r>
              <a:rPr lang="zh-CN" altLang="en-US" sz="1800" dirty="0">
                <a:solidFill>
                  <a:srgbClr val="333333"/>
                </a:solidFill>
                <a:latin typeface="Helvetica Neue"/>
              </a:rPr>
              <a:t>返回字符串的子串</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SETRANGE key offset value </a:t>
            </a:r>
            <a:r>
              <a:rPr lang="zh-CN" altLang="en-US" sz="1800" dirty="0">
                <a:solidFill>
                  <a:srgbClr val="333333"/>
                </a:solidFill>
                <a:latin typeface="Helvetica Neue"/>
              </a:rPr>
              <a:t>用</a:t>
            </a:r>
            <a:r>
              <a:rPr lang="en-US" altLang="zh-CN" sz="1800" dirty="0">
                <a:solidFill>
                  <a:srgbClr val="333333"/>
                </a:solidFill>
                <a:latin typeface="Helvetica Neue"/>
              </a:rPr>
              <a:t>value</a:t>
            </a:r>
            <a:r>
              <a:rPr lang="zh-CN" altLang="en-US" sz="1800" dirty="0">
                <a:solidFill>
                  <a:srgbClr val="333333"/>
                </a:solidFill>
                <a:latin typeface="Helvetica Neue"/>
              </a:rPr>
              <a:t>覆盖字符串的值，从</a:t>
            </a:r>
            <a:r>
              <a:rPr lang="en-US" altLang="zh-CN" sz="1800" dirty="0">
                <a:solidFill>
                  <a:srgbClr val="333333"/>
                </a:solidFill>
                <a:latin typeface="Helvetica Neue"/>
              </a:rPr>
              <a:t>offset</a:t>
            </a:r>
            <a:r>
              <a:rPr lang="zh-CN" altLang="en-US" sz="1800" dirty="0">
                <a:solidFill>
                  <a:srgbClr val="333333"/>
                </a:solidFill>
                <a:latin typeface="Helvetica Neue"/>
              </a:rPr>
              <a:t>开始</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MGET/MSET key1 [value1] key2 [value2] </a:t>
            </a:r>
            <a:r>
              <a:rPr lang="zh-CN" altLang="en-US" sz="1800" dirty="0">
                <a:solidFill>
                  <a:srgbClr val="333333"/>
                </a:solidFill>
                <a:latin typeface="Helvetica Neue"/>
              </a:rPr>
              <a:t>获取设置多个给定的</a:t>
            </a:r>
            <a:r>
              <a:rPr lang="en-US" altLang="zh-CN" sz="1800" dirty="0">
                <a:solidFill>
                  <a:srgbClr val="333333"/>
                </a:solidFill>
                <a:latin typeface="Helvetica Neue"/>
              </a:rPr>
              <a:t>key</a:t>
            </a:r>
            <a:r>
              <a:rPr lang="zh-CN" altLang="en-US" sz="1800" dirty="0">
                <a:solidFill>
                  <a:srgbClr val="333333"/>
                </a:solidFill>
                <a:latin typeface="Helvetica Neue"/>
              </a:rPr>
              <a:t>值</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GETSET key value</a:t>
            </a:r>
            <a:r>
              <a:rPr lang="zh-CN" altLang="en-US" sz="1800" dirty="0">
                <a:solidFill>
                  <a:srgbClr val="333333"/>
                </a:solidFill>
                <a:latin typeface="Helvetica Neue"/>
              </a:rPr>
              <a:t>将给定</a:t>
            </a:r>
            <a:r>
              <a:rPr lang="en-US" altLang="zh-CN" sz="1800" dirty="0">
                <a:solidFill>
                  <a:srgbClr val="333333"/>
                </a:solidFill>
                <a:latin typeface="Helvetica Neue"/>
              </a:rPr>
              <a:t>key</a:t>
            </a:r>
            <a:r>
              <a:rPr lang="zh-CN" altLang="en-US" sz="1800" dirty="0">
                <a:solidFill>
                  <a:srgbClr val="333333"/>
                </a:solidFill>
                <a:latin typeface="Helvetica Neue"/>
              </a:rPr>
              <a:t>的值设为</a:t>
            </a:r>
            <a:r>
              <a:rPr lang="en-US" altLang="zh-CN" sz="1800" dirty="0">
                <a:solidFill>
                  <a:srgbClr val="333333"/>
                </a:solidFill>
                <a:latin typeface="Helvetica Neue"/>
              </a:rPr>
              <a:t>value </a:t>
            </a:r>
            <a:r>
              <a:rPr lang="zh-CN" altLang="en-US" sz="1800" dirty="0">
                <a:solidFill>
                  <a:srgbClr val="333333"/>
                </a:solidFill>
                <a:latin typeface="Helvetica Neue"/>
              </a:rPr>
              <a:t>，并返回</a:t>
            </a:r>
            <a:r>
              <a:rPr lang="en-US" altLang="zh-CN" sz="1800" dirty="0">
                <a:solidFill>
                  <a:srgbClr val="333333"/>
                </a:solidFill>
                <a:latin typeface="Helvetica Neue"/>
              </a:rPr>
              <a:t>key</a:t>
            </a:r>
            <a:r>
              <a:rPr lang="zh-CN" altLang="en-US" sz="1800" dirty="0">
                <a:solidFill>
                  <a:srgbClr val="333333"/>
                </a:solidFill>
                <a:latin typeface="Helvetica Neue"/>
              </a:rPr>
              <a:t>的旧值</a:t>
            </a:r>
            <a:r>
              <a:rPr lang="en-US" altLang="zh-CN" sz="1800" dirty="0">
                <a:solidFill>
                  <a:srgbClr val="333333"/>
                </a:solidFill>
                <a:latin typeface="Helvetica Neue"/>
              </a:rPr>
              <a:t>(old value)</a:t>
            </a:r>
            <a:r>
              <a:rPr lang="zh-CN" altLang="en-US" sz="1800" dirty="0">
                <a:solidFill>
                  <a:srgbClr val="333333"/>
                </a:solidFill>
                <a:latin typeface="Helvetica Neue"/>
              </a:rPr>
              <a:t>。</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SETEX </a:t>
            </a:r>
            <a:r>
              <a:rPr lang="zh-CN" altLang="en-US" sz="1800" dirty="0">
                <a:solidFill>
                  <a:srgbClr val="333333"/>
                </a:solidFill>
                <a:latin typeface="Helvetica Neue"/>
              </a:rPr>
              <a:t>将值 </a:t>
            </a:r>
            <a:r>
              <a:rPr lang="en-US" altLang="zh-CN" sz="1800" dirty="0">
                <a:solidFill>
                  <a:srgbClr val="333333"/>
                </a:solidFill>
                <a:latin typeface="Helvetica Neue"/>
              </a:rPr>
              <a:t>value </a:t>
            </a:r>
            <a:r>
              <a:rPr lang="zh-CN" altLang="en-US" sz="1800" dirty="0">
                <a:solidFill>
                  <a:srgbClr val="333333"/>
                </a:solidFill>
                <a:latin typeface="Helvetica Neue"/>
              </a:rPr>
              <a:t>关联到 </a:t>
            </a:r>
            <a:r>
              <a:rPr lang="en-US" altLang="zh-CN" sz="1800" dirty="0">
                <a:solidFill>
                  <a:srgbClr val="333333"/>
                </a:solidFill>
                <a:latin typeface="Helvetica Neue"/>
              </a:rPr>
              <a:t>key,</a:t>
            </a:r>
            <a:r>
              <a:rPr lang="zh-CN" altLang="en-US" sz="1800" dirty="0">
                <a:solidFill>
                  <a:srgbClr val="333333"/>
                </a:solidFill>
                <a:latin typeface="Helvetica Neue"/>
              </a:rPr>
              <a:t>并设置 </a:t>
            </a:r>
            <a:r>
              <a:rPr lang="en-US" altLang="zh-CN" sz="1800" dirty="0">
                <a:solidFill>
                  <a:srgbClr val="333333"/>
                </a:solidFill>
                <a:latin typeface="Helvetica Neue"/>
              </a:rPr>
              <a:t>key </a:t>
            </a:r>
            <a:r>
              <a:rPr lang="zh-CN" altLang="en-US" sz="1800" dirty="0">
                <a:solidFill>
                  <a:srgbClr val="333333"/>
                </a:solidFill>
                <a:latin typeface="Helvetica Neue"/>
              </a:rPr>
              <a:t>的过期时间为 </a:t>
            </a:r>
            <a:r>
              <a:rPr lang="en-US" altLang="zh-CN" sz="1800" dirty="0">
                <a:solidFill>
                  <a:srgbClr val="333333"/>
                </a:solidFill>
                <a:latin typeface="Helvetica Neue"/>
              </a:rPr>
              <a:t>seconds (</a:t>
            </a:r>
            <a:r>
              <a:rPr lang="zh-CN" altLang="en-US" sz="1800" dirty="0">
                <a:solidFill>
                  <a:srgbClr val="333333"/>
                </a:solidFill>
                <a:latin typeface="Helvetica Neue"/>
              </a:rPr>
              <a:t>以秒为单位</a:t>
            </a:r>
            <a:r>
              <a:rPr lang="en-US" altLang="zh-CN" sz="1800" dirty="0">
                <a:solidFill>
                  <a:srgbClr val="333333"/>
                </a:solidFill>
                <a:latin typeface="Helvetica Neue"/>
              </a:rPr>
              <a:t>)</a:t>
            </a:r>
            <a:r>
              <a:rPr lang="zh-CN" altLang="en-US" sz="1800" dirty="0">
                <a:solidFill>
                  <a:srgbClr val="333333"/>
                </a:solidFill>
                <a:latin typeface="Helvetica Neue"/>
              </a:rPr>
              <a:t>。</a:t>
            </a:r>
            <a:endParaRPr lang="en-US" altLang="zh-CN" sz="1800" dirty="0">
              <a:solidFill>
                <a:srgbClr val="333333"/>
              </a:solidFill>
              <a:latin typeface="Helvetica Neue"/>
            </a:endParaRPr>
          </a:p>
          <a:p>
            <a:pPr algn="l" eaLnBrk="1" hangingPunct="1"/>
            <a:r>
              <a:rPr lang="en-US" altLang="zh-CN" sz="1800" dirty="0">
                <a:solidFill>
                  <a:srgbClr val="333333"/>
                </a:solidFill>
                <a:latin typeface="Helvetica Neue"/>
              </a:rPr>
              <a:t>INCR/INCRBY key [num]  </a:t>
            </a:r>
            <a:r>
              <a:rPr lang="zh-CN" altLang="en-US" sz="1800" dirty="0">
                <a:solidFill>
                  <a:srgbClr val="333333"/>
                </a:solidFill>
                <a:latin typeface="Helvetica Neue"/>
              </a:rPr>
              <a:t>对</a:t>
            </a:r>
            <a:r>
              <a:rPr lang="en-US" altLang="zh-CN" sz="1800" dirty="0">
                <a:solidFill>
                  <a:srgbClr val="333333"/>
                </a:solidFill>
                <a:latin typeface="Helvetica Neue"/>
              </a:rPr>
              <a:t>value</a:t>
            </a:r>
            <a:r>
              <a:rPr lang="zh-CN" altLang="en-US" sz="1800" dirty="0">
                <a:solidFill>
                  <a:srgbClr val="333333"/>
                </a:solidFill>
                <a:latin typeface="Helvetica Neue"/>
              </a:rPr>
              <a:t>值加</a:t>
            </a:r>
            <a:r>
              <a:rPr lang="en-US" altLang="zh-CN" sz="1800" dirty="0">
                <a:solidFill>
                  <a:srgbClr val="333333"/>
                </a:solidFill>
                <a:latin typeface="Helvetica Neue"/>
              </a:rPr>
              <a:t>1/</a:t>
            </a:r>
            <a:r>
              <a:rPr lang="zh-CN" altLang="en-US" sz="1800" dirty="0">
                <a:solidFill>
                  <a:srgbClr val="333333"/>
                </a:solidFill>
                <a:latin typeface="Helvetica Neue"/>
              </a:rPr>
              <a:t>加</a:t>
            </a:r>
            <a:r>
              <a:rPr lang="en-US" altLang="zh-CN" sz="1800" dirty="0">
                <a:solidFill>
                  <a:srgbClr val="333333"/>
                </a:solidFill>
                <a:latin typeface="Helvetica Neue"/>
              </a:rPr>
              <a:t>num</a:t>
            </a:r>
            <a:r>
              <a:rPr lang="zh-CN" altLang="en-US" sz="1800" dirty="0">
                <a:solidFill>
                  <a:srgbClr val="333333"/>
                </a:solidFill>
                <a:latin typeface="Helvetica Neue"/>
              </a:rPr>
              <a:t>，</a:t>
            </a:r>
            <a:r>
              <a:rPr lang="en-US" altLang="zh-CN" sz="1800" dirty="0">
                <a:solidFill>
                  <a:srgbClr val="333333"/>
                </a:solidFill>
                <a:latin typeface="Helvetica Neue"/>
              </a:rPr>
              <a:t>value</a:t>
            </a:r>
            <a:r>
              <a:rPr lang="zh-CN" altLang="en-US" sz="1800" dirty="0">
                <a:solidFill>
                  <a:srgbClr val="333333"/>
                </a:solidFill>
                <a:latin typeface="Helvetica Neue"/>
              </a:rPr>
              <a:t>必须是数字</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-string</a:t>
            </a:r>
            <a:endParaRPr lang="zh-CN" altLang="en-US" kern="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801352"/>
            <a:ext cx="8443106" cy="181086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en-US" altLang="zh-CN" sz="1800" b="0" i="0" dirty="0">
                <a:solidFill>
                  <a:srgbClr val="333333"/>
                </a:solidFill>
                <a:effectLst/>
                <a:latin typeface="Helvetica Neue"/>
              </a:rPr>
              <a:t>Redis</a:t>
            </a:r>
            <a:r>
              <a:rPr lang="zh-CN" altLang="en-US" sz="1800" b="0" i="0" dirty="0">
                <a:solidFill>
                  <a:srgbClr val="333333"/>
                </a:solidFill>
                <a:effectLst/>
                <a:latin typeface="Helvetica Neue"/>
              </a:rPr>
              <a:t>列表是简单的字符串列表，按照插入顺序排序。你可以添加一个元素到列表的头部（左边）或者尾部（右边）。</a:t>
            </a:r>
            <a:endParaRPr lang="zh-CN" altLang="en-US" sz="1800" b="0" i="0" dirty="0">
              <a:solidFill>
                <a:srgbClr val="333333"/>
              </a:solidFill>
              <a:effectLst/>
              <a:latin typeface="Helvetica Neue"/>
            </a:endParaRPr>
          </a:p>
          <a:p>
            <a:pPr algn="l" latinLnBrk="1">
              <a:lnSpc>
                <a:spcPct val="150000"/>
              </a:lnSpc>
            </a:pPr>
            <a:r>
              <a:rPr lang="zh-CN" altLang="en-US" sz="1800" b="0" i="0" dirty="0">
                <a:solidFill>
                  <a:srgbClr val="333333"/>
                </a:solidFill>
                <a:effectLst/>
                <a:latin typeface="Helvetica Neue"/>
              </a:rPr>
              <a:t>一个列表最多可以包含 </a:t>
            </a:r>
            <a:r>
              <a:rPr lang="en-US" altLang="zh-CN" sz="1800" b="0" i="0" dirty="0">
                <a:solidFill>
                  <a:srgbClr val="333333"/>
                </a:solidFill>
                <a:effectLst/>
                <a:latin typeface="Helvetica Neue"/>
              </a:rPr>
              <a:t>2</a:t>
            </a:r>
            <a:r>
              <a:rPr lang="en-US" altLang="zh-CN" sz="1800" b="0" i="0" baseline="30000" dirty="0">
                <a:solidFill>
                  <a:srgbClr val="333333"/>
                </a:solidFill>
                <a:effectLst/>
                <a:latin typeface="Helvetica Neue"/>
              </a:rPr>
              <a:t>32</a:t>
            </a:r>
            <a:r>
              <a:rPr lang="zh-CN" altLang="en-US" sz="1800" b="0" i="0" dirty="0">
                <a:solidFill>
                  <a:srgbClr val="333333"/>
                </a:solidFill>
                <a:effectLst/>
                <a:latin typeface="Helvetica Neue"/>
              </a:rPr>
              <a:t> </a:t>
            </a:r>
            <a:r>
              <a:rPr lang="en-US" altLang="zh-CN" sz="1800" b="0" i="0" dirty="0">
                <a:solidFill>
                  <a:srgbClr val="333333"/>
                </a:solidFill>
                <a:effectLst/>
                <a:latin typeface="Helvetica Neue"/>
              </a:rPr>
              <a:t>- 1 </a:t>
            </a:r>
            <a:r>
              <a:rPr lang="zh-CN" altLang="en-US" sz="1800" b="0" i="0" dirty="0">
                <a:solidFill>
                  <a:srgbClr val="333333"/>
                </a:solidFill>
                <a:effectLst/>
                <a:latin typeface="Helvetica Neue"/>
              </a:rPr>
              <a:t>个元素 </a:t>
            </a:r>
            <a:r>
              <a:rPr lang="en-US" altLang="zh-CN" sz="1800" b="0" i="0" dirty="0">
                <a:solidFill>
                  <a:srgbClr val="333333"/>
                </a:solidFill>
                <a:effectLst/>
                <a:latin typeface="Helvetica Neue"/>
              </a:rPr>
              <a:t>(4294967295, </a:t>
            </a:r>
            <a:r>
              <a:rPr lang="zh-CN" altLang="en-US" sz="1800" b="0" i="0" dirty="0">
                <a:solidFill>
                  <a:srgbClr val="333333"/>
                </a:solidFill>
                <a:effectLst/>
                <a:latin typeface="Helvetica Neue"/>
              </a:rPr>
              <a:t>每个列表超过</a:t>
            </a:r>
            <a:r>
              <a:rPr lang="en-US" altLang="zh-CN" sz="1800" b="0" i="0" dirty="0">
                <a:solidFill>
                  <a:srgbClr val="333333"/>
                </a:solidFill>
                <a:effectLst/>
                <a:latin typeface="Helvetica Neue"/>
              </a:rPr>
              <a:t>40</a:t>
            </a:r>
            <a:r>
              <a:rPr lang="zh-CN" altLang="en-US" sz="1800" b="0" i="0" dirty="0">
                <a:solidFill>
                  <a:srgbClr val="333333"/>
                </a:solidFill>
                <a:effectLst/>
                <a:latin typeface="Helvetica Neue"/>
              </a:rPr>
              <a:t>亿个元素</a:t>
            </a:r>
            <a:r>
              <a:rPr lang="en-US" altLang="zh-CN" sz="1800" b="0" i="0" dirty="0">
                <a:solidFill>
                  <a:srgbClr val="333333"/>
                </a:solidFill>
                <a:effectLst/>
                <a:latin typeface="Helvetica Neue"/>
              </a:rPr>
              <a:t>)</a:t>
            </a:r>
            <a:r>
              <a:rPr lang="zh-CN" altLang="en-US" sz="1800" b="0" i="0" dirty="0">
                <a:solidFill>
                  <a:srgbClr val="333333"/>
                </a:solidFill>
                <a:effectLst/>
                <a:latin typeface="Helvetica Neue"/>
              </a:rPr>
              <a:t>。</a:t>
            </a:r>
            <a:endParaRPr lang="zh-CN" altLang="en-US" sz="1800" b="0" i="0" dirty="0">
              <a:solidFill>
                <a:srgbClr val="333333"/>
              </a:solidFill>
              <a:effectLst/>
              <a:latin typeface="Helvetica Neue"/>
            </a:endParaRPr>
          </a:p>
          <a:p>
            <a:pPr algn="l" eaLnBrk="1" hangingPunct="1"/>
            <a:endParaRPr lang="en-US" altLang="zh-CN" sz="1800" dirty="0">
              <a:solidFill>
                <a:srgbClr val="333333"/>
              </a:solidFill>
              <a:latin typeface="Helvetica Neue"/>
            </a:endParaRPr>
          </a:p>
          <a:p>
            <a:pPr algn="l" eaLnBrk="1" hangingPunct="1"/>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-list</a:t>
            </a:r>
            <a:endParaRPr lang="zh-CN" altLang="en-US" kern="0" dirty="0"/>
          </a:p>
        </p:txBody>
      </p:sp>
      <p:sp>
        <p:nvSpPr>
          <p:cNvPr id="2" name="矩形 1"/>
          <p:cNvSpPr/>
          <p:nvPr/>
        </p:nvSpPr>
        <p:spPr bwMode="auto">
          <a:xfrm>
            <a:off x="1562470" y="3676012"/>
            <a:ext cx="5779363" cy="1065321"/>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3" name="矩形 2"/>
          <p:cNvSpPr/>
          <p:nvPr/>
        </p:nvSpPr>
        <p:spPr bwMode="auto">
          <a:xfrm>
            <a:off x="6277205" y="3889457"/>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4" name="矩形 3"/>
          <p:cNvSpPr/>
          <p:nvPr/>
        </p:nvSpPr>
        <p:spPr bwMode="auto">
          <a:xfrm>
            <a:off x="4930964" y="3927854"/>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altLang="zh-CN" dirty="0"/>
              <a:t>2</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bwMode="auto">
          <a:xfrm>
            <a:off x="3824476" y="3967584"/>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3</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8" name="矩形 7"/>
          <p:cNvSpPr/>
          <p:nvPr/>
        </p:nvSpPr>
        <p:spPr bwMode="auto">
          <a:xfrm>
            <a:off x="2717988" y="3938420"/>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4</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2" name="矩形 11"/>
          <p:cNvSpPr/>
          <p:nvPr/>
        </p:nvSpPr>
        <p:spPr bwMode="auto">
          <a:xfrm>
            <a:off x="1641442" y="3967584"/>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5</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5" name="直接箭头连接符 14"/>
          <p:cNvCxnSpPr/>
          <p:nvPr/>
        </p:nvCxnSpPr>
        <p:spPr bwMode="auto">
          <a:xfrm>
            <a:off x="1829539" y="5004881"/>
            <a:ext cx="4731059"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8" name="矩形 17"/>
          <p:cNvSpPr/>
          <p:nvPr/>
        </p:nvSpPr>
        <p:spPr bwMode="auto">
          <a:xfrm>
            <a:off x="1562470" y="5232045"/>
            <a:ext cx="5779363" cy="1065321"/>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9" name="矩形 18"/>
          <p:cNvSpPr/>
          <p:nvPr/>
        </p:nvSpPr>
        <p:spPr bwMode="auto">
          <a:xfrm>
            <a:off x="1785833" y="5441397"/>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0" name="矩形 19"/>
          <p:cNvSpPr/>
          <p:nvPr/>
        </p:nvSpPr>
        <p:spPr bwMode="auto">
          <a:xfrm>
            <a:off x="2987682" y="5406846"/>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altLang="zh-CN" dirty="0"/>
              <a:t>2</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1" name="矩形 20"/>
          <p:cNvSpPr/>
          <p:nvPr/>
        </p:nvSpPr>
        <p:spPr bwMode="auto">
          <a:xfrm>
            <a:off x="4109435" y="5426697"/>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3</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2" name="矩形 21"/>
          <p:cNvSpPr/>
          <p:nvPr/>
        </p:nvSpPr>
        <p:spPr bwMode="auto">
          <a:xfrm>
            <a:off x="5212578" y="5426697"/>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4</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3" name="矩形 22"/>
          <p:cNvSpPr/>
          <p:nvPr/>
        </p:nvSpPr>
        <p:spPr bwMode="auto">
          <a:xfrm>
            <a:off x="6277205" y="5406846"/>
            <a:ext cx="932155" cy="61256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5</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24" name="直接箭头连接符 23"/>
          <p:cNvCxnSpPr/>
          <p:nvPr/>
        </p:nvCxnSpPr>
        <p:spPr bwMode="auto">
          <a:xfrm flipH="1">
            <a:off x="2254929" y="6587547"/>
            <a:ext cx="4403323" cy="0"/>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22687" y="1261402"/>
            <a:ext cx="8443106" cy="5460074"/>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eaLnBrk="1" hangingPunct="1"/>
            <a:endParaRPr lang="en-US" altLang="zh-CN" sz="1800" dirty="0">
              <a:solidFill>
                <a:srgbClr val="333333"/>
              </a:solidFill>
              <a:latin typeface="Helvetica Neue"/>
            </a:endParaRPr>
          </a:p>
          <a:p>
            <a:pPr algn="l" eaLnBrk="1" hangingPunct="1"/>
            <a:r>
              <a:rPr lang="zh-CN" altLang="en-US" sz="1800" dirty="0">
                <a:solidFill>
                  <a:srgbClr val="333333"/>
                </a:solidFill>
                <a:latin typeface="Helvetica Neue"/>
              </a:rPr>
              <a:t>常用命令：</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LPUSH key value1 value2 …  </a:t>
            </a:r>
            <a:r>
              <a:rPr lang="zh-CN" altLang="en-US" sz="1800" dirty="0">
                <a:solidFill>
                  <a:srgbClr val="333333"/>
                </a:solidFill>
                <a:latin typeface="Helvetica Neue"/>
              </a:rPr>
              <a:t>将一个或多个值插入到列表头部，头插法</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RPUSH key value1 value2 … </a:t>
            </a:r>
            <a:r>
              <a:rPr lang="zh-CN" altLang="en-US" sz="1800" dirty="0">
                <a:solidFill>
                  <a:srgbClr val="333333"/>
                </a:solidFill>
                <a:latin typeface="Helvetica Neue"/>
              </a:rPr>
              <a:t>将一个或多个值插入到列表尾部，尾插法</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LPOP key </a:t>
            </a:r>
            <a:r>
              <a:rPr lang="zh-CN" altLang="en-US" sz="1800" dirty="0">
                <a:solidFill>
                  <a:srgbClr val="333333"/>
                </a:solidFill>
                <a:latin typeface="Helvetica Neue"/>
              </a:rPr>
              <a:t>队头出队 </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RPOP key </a:t>
            </a:r>
            <a:r>
              <a:rPr lang="zh-CN" altLang="en-US" sz="1800" dirty="0">
                <a:solidFill>
                  <a:srgbClr val="333333"/>
                </a:solidFill>
                <a:latin typeface="Helvetica Neue"/>
              </a:rPr>
              <a:t>队尾出队</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LRANGE key start stop  </a:t>
            </a:r>
            <a:r>
              <a:rPr lang="zh-CN" altLang="en-US" sz="1800" dirty="0">
                <a:solidFill>
                  <a:srgbClr val="333333"/>
                </a:solidFill>
                <a:latin typeface="Helvetica Neue"/>
              </a:rPr>
              <a:t>获取列表指定范围内的元素</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LSET key index value  </a:t>
            </a:r>
            <a:r>
              <a:rPr lang="zh-CN" altLang="en-US" sz="1800" dirty="0">
                <a:solidFill>
                  <a:srgbClr val="333333"/>
                </a:solidFill>
                <a:latin typeface="Helvetica Neue"/>
              </a:rPr>
              <a:t>通过下标设置列表元素的值，</a:t>
            </a:r>
            <a:r>
              <a:rPr lang="zh-CN" altLang="en-US" sz="1800" dirty="0">
                <a:solidFill>
                  <a:srgbClr val="FF0000"/>
                </a:solidFill>
                <a:latin typeface="Helvetica Neue"/>
              </a:rPr>
              <a:t>下标从</a:t>
            </a:r>
            <a:r>
              <a:rPr lang="en-US" altLang="zh-CN" sz="1800" dirty="0">
                <a:solidFill>
                  <a:srgbClr val="FF0000"/>
                </a:solidFill>
                <a:latin typeface="Helvetica Neue"/>
              </a:rPr>
              <a:t>0</a:t>
            </a:r>
            <a:r>
              <a:rPr lang="zh-CN" altLang="en-US" sz="1800" dirty="0">
                <a:solidFill>
                  <a:srgbClr val="FF0000"/>
                </a:solidFill>
                <a:latin typeface="Helvetica Neue"/>
              </a:rPr>
              <a:t>开始</a:t>
            </a:r>
            <a:endParaRPr lang="en-US" altLang="zh-CN" sz="1800" dirty="0">
              <a:solidFill>
                <a:srgbClr val="FF0000"/>
              </a:solidFill>
              <a:latin typeface="Helvetica Neue"/>
            </a:endParaRPr>
          </a:p>
          <a:p>
            <a:pPr algn="l" eaLnBrk="1" hangingPunct="1">
              <a:lnSpc>
                <a:spcPct val="120000"/>
              </a:lnSpc>
            </a:pPr>
            <a:r>
              <a:rPr lang="en-US" altLang="zh-CN" sz="1800" dirty="0">
                <a:solidFill>
                  <a:srgbClr val="333333"/>
                </a:solidFill>
                <a:latin typeface="Helvetica Neue"/>
              </a:rPr>
              <a:t>LINDEX key index </a:t>
            </a:r>
            <a:r>
              <a:rPr lang="zh-CN" altLang="en-US" sz="1800" dirty="0">
                <a:solidFill>
                  <a:srgbClr val="333333"/>
                </a:solidFill>
                <a:latin typeface="Helvetica Neue"/>
              </a:rPr>
              <a:t>通过下标获取列表中的元素</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LREM key count value  </a:t>
            </a:r>
            <a:r>
              <a:rPr lang="zh-CN" altLang="en-US" sz="1800" dirty="0">
                <a:solidFill>
                  <a:srgbClr val="333333"/>
                </a:solidFill>
                <a:latin typeface="Helvetica Neue"/>
              </a:rPr>
              <a:t>从队头开始移除</a:t>
            </a:r>
            <a:r>
              <a:rPr lang="en-US" altLang="zh-CN" sz="1800" dirty="0">
                <a:solidFill>
                  <a:srgbClr val="333333"/>
                </a:solidFill>
                <a:latin typeface="Helvetica Neue"/>
              </a:rPr>
              <a:t>count</a:t>
            </a:r>
            <a:r>
              <a:rPr lang="zh-CN" altLang="en-US" sz="1800" dirty="0">
                <a:solidFill>
                  <a:srgbClr val="333333"/>
                </a:solidFill>
                <a:latin typeface="Helvetica Neue"/>
              </a:rPr>
              <a:t>个值为</a:t>
            </a:r>
            <a:r>
              <a:rPr lang="en-US" altLang="zh-CN" sz="1800" dirty="0">
                <a:solidFill>
                  <a:srgbClr val="333333"/>
                </a:solidFill>
                <a:latin typeface="Helvetica Neue"/>
              </a:rPr>
              <a:t>value</a:t>
            </a:r>
            <a:r>
              <a:rPr lang="zh-CN" altLang="en-US" sz="1800" dirty="0">
                <a:solidFill>
                  <a:srgbClr val="333333"/>
                </a:solidFill>
                <a:latin typeface="Helvetica Neue"/>
              </a:rPr>
              <a:t>的列表元素</a:t>
            </a:r>
            <a:endParaRPr lang="en-US" altLang="zh-CN" sz="1800" dirty="0">
              <a:solidFill>
                <a:srgbClr val="333333"/>
              </a:solidFill>
              <a:latin typeface="Helvetica Neue"/>
            </a:endParaRPr>
          </a:p>
          <a:p>
            <a:pPr algn="l" eaLnBrk="1" hangingPunct="1">
              <a:lnSpc>
                <a:spcPct val="120000"/>
              </a:lnSpc>
            </a:pPr>
            <a:r>
              <a:rPr lang="en-US" altLang="zh-CN" sz="1800" dirty="0">
                <a:solidFill>
                  <a:srgbClr val="333333"/>
                </a:solidFill>
                <a:latin typeface="Helvetica Neue"/>
              </a:rPr>
              <a:t>LTRIM key start stop </a:t>
            </a:r>
            <a:r>
              <a:rPr lang="zh-CN" altLang="en-US" sz="1800" dirty="0">
                <a:solidFill>
                  <a:srgbClr val="333333"/>
                </a:solidFill>
                <a:latin typeface="Helvetica Neue"/>
              </a:rPr>
              <a:t>对一个列表进行修剪</a:t>
            </a:r>
            <a:r>
              <a:rPr lang="en-US" altLang="zh-CN" sz="1800" dirty="0">
                <a:solidFill>
                  <a:srgbClr val="333333"/>
                </a:solidFill>
                <a:latin typeface="Helvetica Neue"/>
              </a:rPr>
              <a:t>(trim)</a:t>
            </a:r>
            <a:r>
              <a:rPr lang="zh-CN" altLang="en-US" sz="1800" dirty="0">
                <a:solidFill>
                  <a:srgbClr val="333333"/>
                </a:solidFill>
                <a:latin typeface="Helvetica Neue"/>
              </a:rPr>
              <a:t>，就是说，让列表只保留指定区间内的元素，不在指定区间之内的元素都将被删除。</a:t>
            </a:r>
            <a:endParaRPr lang="en-US" altLang="zh-CN" sz="1800" b="1" dirty="0">
              <a:solidFill>
                <a:srgbClr val="333333"/>
              </a:solidFill>
              <a:latin typeface="Helvetica Neue"/>
            </a:endParaRPr>
          </a:p>
          <a:p>
            <a:pPr algn="l" eaLnBrk="1" hangingPunct="1"/>
            <a:r>
              <a:rPr lang="en-US" altLang="zh-CN" sz="1800" dirty="0">
                <a:solidFill>
                  <a:srgbClr val="333333"/>
                </a:solidFill>
                <a:latin typeface="Helvetica Neue"/>
              </a:rPr>
              <a:t>LINSERT key BEFORE|AFTER pivot value  </a:t>
            </a:r>
            <a:r>
              <a:rPr lang="zh-CN" altLang="en-US" sz="1800" dirty="0">
                <a:solidFill>
                  <a:srgbClr val="333333"/>
                </a:solidFill>
                <a:latin typeface="Helvetica Neue"/>
              </a:rPr>
              <a:t>在列表的元素前或者后插入元素</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-list</a:t>
            </a:r>
            <a:endParaRPr lang="zh-CN" altLang="en-US" kern="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65146" y="1829333"/>
            <a:ext cx="8443106" cy="452683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r>
              <a:rPr lang="en-US" altLang="zh-CN" sz="1800" dirty="0">
                <a:solidFill>
                  <a:srgbClr val="333333"/>
                </a:solidFill>
                <a:latin typeface="Helvetica Neue"/>
              </a:rPr>
              <a:t>Redis</a:t>
            </a:r>
            <a:r>
              <a:rPr lang="zh-CN" altLang="en-US" sz="1800" dirty="0">
                <a:solidFill>
                  <a:srgbClr val="333333"/>
                </a:solidFill>
                <a:latin typeface="Helvetica Neue"/>
              </a:rPr>
              <a:t>的</a:t>
            </a:r>
            <a:r>
              <a:rPr lang="en-US" altLang="zh-CN" sz="1800" dirty="0">
                <a:solidFill>
                  <a:srgbClr val="333333"/>
                </a:solidFill>
                <a:latin typeface="Helvetica Neue"/>
              </a:rPr>
              <a:t>set</a:t>
            </a:r>
            <a:r>
              <a:rPr lang="zh-CN" altLang="en-US" sz="1800" dirty="0">
                <a:solidFill>
                  <a:srgbClr val="333333"/>
                </a:solidFill>
                <a:latin typeface="Helvetica Neue"/>
              </a:rPr>
              <a:t>是</a:t>
            </a:r>
            <a:r>
              <a:rPr lang="en-US" altLang="zh-CN" sz="1800" dirty="0">
                <a:solidFill>
                  <a:srgbClr val="333333"/>
                </a:solidFill>
                <a:latin typeface="Helvetica Neue"/>
              </a:rPr>
              <a:t>String</a:t>
            </a:r>
            <a:r>
              <a:rPr lang="zh-CN" altLang="en-US" sz="1800" dirty="0">
                <a:solidFill>
                  <a:srgbClr val="333333"/>
                </a:solidFill>
                <a:latin typeface="Helvetica Neue"/>
              </a:rPr>
              <a:t>类型的</a:t>
            </a:r>
            <a:r>
              <a:rPr lang="zh-CN" altLang="en-US" sz="1800" b="1" dirty="0">
                <a:solidFill>
                  <a:srgbClr val="FF0000"/>
                </a:solidFill>
                <a:latin typeface="Helvetica Neue"/>
              </a:rPr>
              <a:t>无序集合</a:t>
            </a:r>
            <a:r>
              <a:rPr lang="zh-CN" altLang="en-US" sz="1800" dirty="0">
                <a:solidFill>
                  <a:srgbClr val="333333"/>
                </a:solidFill>
                <a:latin typeface="Helvetica Neue"/>
              </a:rPr>
              <a:t>。</a:t>
            </a:r>
            <a:r>
              <a:rPr lang="zh-CN" altLang="en-US" sz="1800" b="1" dirty="0">
                <a:solidFill>
                  <a:srgbClr val="FF0000"/>
                </a:solidFill>
                <a:latin typeface="Helvetica Neue"/>
              </a:rPr>
              <a:t>集合成员是唯一的</a:t>
            </a:r>
            <a:r>
              <a:rPr lang="zh-CN" altLang="en-US" sz="1800" dirty="0">
                <a:solidFill>
                  <a:srgbClr val="333333"/>
                </a:solidFill>
                <a:latin typeface="Helvetica Neue"/>
              </a:rPr>
              <a:t>，这就意味着集合中不能出现重复的数据。</a:t>
            </a:r>
            <a:endParaRPr lang="zh-CN" altLang="en-US" sz="1800" dirty="0">
              <a:solidFill>
                <a:srgbClr val="333333"/>
              </a:solidFill>
              <a:latin typeface="Helvetica Neue"/>
            </a:endParaRPr>
          </a:p>
          <a:p>
            <a:pPr algn="l" latinLnBrk="1"/>
            <a:endParaRPr lang="zh-CN" altLang="en-US" sz="1800" dirty="0">
              <a:solidFill>
                <a:srgbClr val="333333"/>
              </a:solidFill>
              <a:latin typeface="Helvetica Neue"/>
            </a:endParaRPr>
          </a:p>
          <a:p>
            <a:pPr algn="l" latinLnBrk="1"/>
            <a:r>
              <a:rPr lang="en-US" altLang="zh-CN" sz="1800" dirty="0">
                <a:solidFill>
                  <a:srgbClr val="333333"/>
                </a:solidFill>
                <a:latin typeface="Helvetica Neue"/>
              </a:rPr>
              <a:t>Redis</a:t>
            </a:r>
            <a:r>
              <a:rPr lang="zh-CN" altLang="en-US" sz="1800" dirty="0">
                <a:solidFill>
                  <a:srgbClr val="333333"/>
                </a:solidFill>
                <a:latin typeface="Helvetica Neue"/>
              </a:rPr>
              <a:t>中集合是通过</a:t>
            </a:r>
            <a:r>
              <a:rPr lang="zh-CN" altLang="en-US" sz="1800" b="1" dirty="0">
                <a:solidFill>
                  <a:srgbClr val="FF0000"/>
                </a:solidFill>
                <a:latin typeface="Helvetica Neue"/>
              </a:rPr>
              <a:t>哈希表</a:t>
            </a:r>
            <a:r>
              <a:rPr lang="zh-CN" altLang="en-US" sz="1800" dirty="0">
                <a:solidFill>
                  <a:srgbClr val="333333"/>
                </a:solidFill>
                <a:latin typeface="Helvetica Neue"/>
              </a:rPr>
              <a:t>实现的，所以添加，删除，查找的复杂度都是</a:t>
            </a:r>
            <a:r>
              <a:rPr lang="en-US" altLang="zh-CN" sz="1800" dirty="0">
                <a:solidFill>
                  <a:srgbClr val="333333"/>
                </a:solidFill>
                <a:latin typeface="Helvetica Neue"/>
              </a:rPr>
              <a:t>O(1)</a:t>
            </a:r>
            <a:r>
              <a:rPr lang="zh-CN" altLang="en-US" sz="1800" dirty="0">
                <a:solidFill>
                  <a:srgbClr val="333333"/>
                </a:solidFill>
                <a:latin typeface="Helvetica Neue"/>
              </a:rPr>
              <a:t>。</a:t>
            </a:r>
            <a:endParaRPr lang="zh-CN" altLang="en-US"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-set</a:t>
            </a:r>
            <a:endParaRPr lang="en-US" altLang="zh-CN" kern="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84831" y="1545488"/>
            <a:ext cx="8443106" cy="517598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r>
              <a:rPr lang="zh-CN" altLang="en-US" sz="1800" dirty="0">
                <a:solidFill>
                  <a:srgbClr val="333333"/>
                </a:solidFill>
                <a:latin typeface="Helvetica Neue"/>
              </a:rPr>
              <a:t>常用命令</a:t>
            </a:r>
            <a:r>
              <a:rPr lang="en-US" altLang="zh-CN" sz="1800" dirty="0">
                <a:solidFill>
                  <a:srgbClr val="333333"/>
                </a:solidFill>
                <a:latin typeface="Helvetica Neue"/>
              </a:rPr>
              <a:t>:</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SADD key member1 member2 … </a:t>
            </a:r>
            <a:r>
              <a:rPr lang="zh-CN" altLang="en-US" sz="1800" dirty="0">
                <a:solidFill>
                  <a:srgbClr val="333333"/>
                </a:solidFill>
                <a:latin typeface="Helvetica Neue"/>
              </a:rPr>
              <a:t>向集合添加一个或多个成员</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SCARD key </a:t>
            </a:r>
            <a:r>
              <a:rPr lang="zh-CN" altLang="en-US" sz="1800" dirty="0">
                <a:solidFill>
                  <a:srgbClr val="333333"/>
                </a:solidFill>
                <a:latin typeface="Helvetica Neue"/>
              </a:rPr>
              <a:t>获取集合的成员数</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SMEMBERS key </a:t>
            </a:r>
            <a:r>
              <a:rPr lang="zh-CN" altLang="en-US" sz="1800" dirty="0">
                <a:solidFill>
                  <a:srgbClr val="333333"/>
                </a:solidFill>
                <a:latin typeface="Helvetica Neue"/>
              </a:rPr>
              <a:t>返回集合中的所有成员</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SISMEMBER key member </a:t>
            </a:r>
            <a:r>
              <a:rPr lang="zh-CN" altLang="en-US" sz="1800" dirty="0">
                <a:solidFill>
                  <a:srgbClr val="333333"/>
                </a:solidFill>
                <a:latin typeface="Helvetica Neue"/>
              </a:rPr>
              <a:t>判断 </a:t>
            </a:r>
            <a:r>
              <a:rPr lang="en-US" altLang="zh-CN" sz="1800" dirty="0">
                <a:solidFill>
                  <a:srgbClr val="333333"/>
                </a:solidFill>
                <a:latin typeface="Helvetica Neue"/>
              </a:rPr>
              <a:t>member </a:t>
            </a:r>
            <a:r>
              <a:rPr lang="zh-CN" altLang="en-US" sz="1800" dirty="0">
                <a:solidFill>
                  <a:srgbClr val="333333"/>
                </a:solidFill>
                <a:latin typeface="Helvetica Neue"/>
              </a:rPr>
              <a:t>元素是否是集合 </a:t>
            </a:r>
            <a:r>
              <a:rPr lang="en-US" altLang="zh-CN" sz="1800" dirty="0">
                <a:solidFill>
                  <a:srgbClr val="333333"/>
                </a:solidFill>
                <a:latin typeface="Helvetica Neue"/>
              </a:rPr>
              <a:t>key </a:t>
            </a:r>
            <a:r>
              <a:rPr lang="zh-CN" altLang="en-US" sz="1800" dirty="0">
                <a:solidFill>
                  <a:srgbClr val="333333"/>
                </a:solidFill>
                <a:latin typeface="Helvetica Neue"/>
              </a:rPr>
              <a:t>的成员</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SMOVE source destination member  </a:t>
            </a:r>
            <a:r>
              <a:rPr lang="zh-CN" altLang="en-US" sz="1800" dirty="0">
                <a:solidFill>
                  <a:srgbClr val="333333"/>
                </a:solidFill>
                <a:latin typeface="Helvetica Neue"/>
              </a:rPr>
              <a:t>将</a:t>
            </a:r>
            <a:r>
              <a:rPr lang="en-US" altLang="zh-CN" sz="1800" dirty="0">
                <a:solidFill>
                  <a:srgbClr val="333333"/>
                </a:solidFill>
                <a:latin typeface="Helvetica Neue"/>
              </a:rPr>
              <a:t>member</a:t>
            </a:r>
            <a:r>
              <a:rPr lang="zh-CN" altLang="en-US" sz="1800" dirty="0">
                <a:solidFill>
                  <a:srgbClr val="333333"/>
                </a:solidFill>
                <a:latin typeface="Helvetica Neue"/>
              </a:rPr>
              <a:t>元素从</a:t>
            </a:r>
            <a:r>
              <a:rPr lang="en-US" altLang="zh-CN" sz="1800" dirty="0">
                <a:solidFill>
                  <a:srgbClr val="333333"/>
                </a:solidFill>
                <a:latin typeface="Helvetica Neue"/>
              </a:rPr>
              <a:t>source</a:t>
            </a:r>
            <a:r>
              <a:rPr lang="zh-CN" altLang="en-US" sz="1800" dirty="0">
                <a:solidFill>
                  <a:srgbClr val="333333"/>
                </a:solidFill>
                <a:latin typeface="Helvetica Neue"/>
              </a:rPr>
              <a:t>集合移动到</a:t>
            </a:r>
            <a:r>
              <a:rPr lang="en-US" altLang="zh-CN" sz="1800" dirty="0">
                <a:solidFill>
                  <a:srgbClr val="333333"/>
                </a:solidFill>
                <a:latin typeface="Helvetica Neue"/>
              </a:rPr>
              <a:t>destination</a:t>
            </a:r>
            <a:r>
              <a:rPr lang="zh-CN" altLang="en-US" sz="1800" dirty="0">
                <a:solidFill>
                  <a:srgbClr val="333333"/>
                </a:solidFill>
                <a:latin typeface="Helvetica Neue"/>
              </a:rPr>
              <a:t>集合</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SREM key value </a:t>
            </a:r>
            <a:r>
              <a:rPr lang="zh-CN" altLang="en-US" sz="1800" dirty="0">
                <a:solidFill>
                  <a:srgbClr val="333333"/>
                </a:solidFill>
                <a:latin typeface="Helvetica Neue"/>
              </a:rPr>
              <a:t>删除集合中值为</a:t>
            </a:r>
            <a:r>
              <a:rPr lang="en-US" altLang="zh-CN" sz="1800" dirty="0">
                <a:solidFill>
                  <a:srgbClr val="333333"/>
                </a:solidFill>
                <a:latin typeface="Helvetica Neue"/>
              </a:rPr>
              <a:t>value</a:t>
            </a:r>
            <a:r>
              <a:rPr lang="zh-CN" altLang="en-US" sz="1800" dirty="0">
                <a:solidFill>
                  <a:srgbClr val="333333"/>
                </a:solidFill>
                <a:latin typeface="Helvetica Neue"/>
              </a:rPr>
              <a:t>的元素</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SRANDMEMBER key num </a:t>
            </a:r>
            <a:r>
              <a:rPr lang="zh-CN" altLang="en-US" sz="1800" dirty="0">
                <a:solidFill>
                  <a:srgbClr val="333333"/>
                </a:solidFill>
                <a:latin typeface="Helvetica Neue"/>
              </a:rPr>
              <a:t>在集合中随机选出</a:t>
            </a:r>
            <a:r>
              <a:rPr lang="en-US" altLang="zh-CN" sz="1800" dirty="0">
                <a:solidFill>
                  <a:srgbClr val="333333"/>
                </a:solidFill>
                <a:latin typeface="Helvetica Neue"/>
              </a:rPr>
              <a:t>num</a:t>
            </a:r>
            <a:r>
              <a:rPr lang="zh-CN" altLang="en-US" sz="1800" dirty="0">
                <a:solidFill>
                  <a:srgbClr val="333333"/>
                </a:solidFill>
                <a:latin typeface="Helvetica Neue"/>
              </a:rPr>
              <a:t>个数</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SPOP key  [num] </a:t>
            </a:r>
            <a:r>
              <a:rPr lang="zh-CN" altLang="en-US" sz="1800" dirty="0">
                <a:solidFill>
                  <a:srgbClr val="333333"/>
                </a:solidFill>
                <a:latin typeface="Helvetica Neue"/>
              </a:rPr>
              <a:t>移除并返回集合中的一个</a:t>
            </a:r>
            <a:r>
              <a:rPr lang="en-US" altLang="zh-CN" sz="1800" dirty="0">
                <a:solidFill>
                  <a:srgbClr val="333333"/>
                </a:solidFill>
                <a:latin typeface="Helvetica Neue"/>
              </a:rPr>
              <a:t>/num</a:t>
            </a:r>
            <a:r>
              <a:rPr lang="zh-CN" altLang="en-US" sz="1800" dirty="0">
                <a:solidFill>
                  <a:srgbClr val="333333"/>
                </a:solidFill>
                <a:latin typeface="Helvetica Neue"/>
              </a:rPr>
              <a:t>个随机元素</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SDIFF key1 key2 </a:t>
            </a:r>
            <a:r>
              <a:rPr lang="zh-CN" altLang="en-US" sz="1800" dirty="0">
                <a:solidFill>
                  <a:srgbClr val="333333"/>
                </a:solidFill>
                <a:latin typeface="Helvetica Neue"/>
              </a:rPr>
              <a:t>出现在</a:t>
            </a:r>
            <a:r>
              <a:rPr lang="en-US" altLang="zh-CN" sz="1800" dirty="0">
                <a:solidFill>
                  <a:srgbClr val="333333"/>
                </a:solidFill>
                <a:latin typeface="Helvetica Neue"/>
              </a:rPr>
              <a:t>key1</a:t>
            </a:r>
            <a:r>
              <a:rPr lang="zh-CN" altLang="en-US" sz="1800" dirty="0">
                <a:solidFill>
                  <a:srgbClr val="333333"/>
                </a:solidFill>
                <a:latin typeface="Helvetica Neue"/>
              </a:rPr>
              <a:t>中，但是不在</a:t>
            </a:r>
            <a:r>
              <a:rPr lang="en-US" altLang="zh-CN" sz="1800" dirty="0">
                <a:solidFill>
                  <a:srgbClr val="333333"/>
                </a:solidFill>
                <a:latin typeface="Helvetica Neue"/>
              </a:rPr>
              <a:t>key2</a:t>
            </a:r>
            <a:r>
              <a:rPr lang="zh-CN" altLang="en-US" sz="1800" dirty="0">
                <a:solidFill>
                  <a:srgbClr val="333333"/>
                </a:solidFill>
                <a:latin typeface="Helvetica Neue"/>
              </a:rPr>
              <a:t>中的元素</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SINTER key1 key2 </a:t>
            </a:r>
            <a:r>
              <a:rPr lang="zh-CN" altLang="en-US" sz="1800" dirty="0">
                <a:solidFill>
                  <a:srgbClr val="333333"/>
                </a:solidFill>
                <a:latin typeface="Helvetica Neue"/>
              </a:rPr>
              <a:t>求交集</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SUNION key1 key2</a:t>
            </a:r>
            <a:r>
              <a:rPr lang="zh-CN" altLang="en-US" sz="1800" dirty="0">
                <a:solidFill>
                  <a:srgbClr val="333333"/>
                </a:solidFill>
                <a:latin typeface="Helvetica Neue"/>
              </a:rPr>
              <a:t>求并集</a:t>
            </a:r>
            <a:endParaRPr lang="en-US" altLang="zh-CN" sz="1800" dirty="0">
              <a:solidFill>
                <a:srgbClr val="333333"/>
              </a:solidFill>
              <a:latin typeface="Helvetica Neue"/>
            </a:endParaRPr>
          </a:p>
          <a:p>
            <a:pPr algn="l" latinLnBrk="1"/>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-set</a:t>
            </a:r>
            <a:endParaRPr lang="zh-CN" altLang="en-US" kern="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74671" y="1545488"/>
            <a:ext cx="8443106" cy="517598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en-US" altLang="zh-CN" sz="1800" dirty="0">
                <a:solidFill>
                  <a:srgbClr val="333333"/>
                </a:solidFill>
                <a:latin typeface="Helvetica Neue"/>
              </a:rPr>
              <a:t>Redis</a:t>
            </a:r>
            <a:r>
              <a:rPr lang="zh-CN" altLang="en-US" sz="1800" b="1" dirty="0">
                <a:solidFill>
                  <a:srgbClr val="FF0000"/>
                </a:solidFill>
                <a:latin typeface="Helvetica Neue"/>
              </a:rPr>
              <a:t>有序</a:t>
            </a:r>
            <a:r>
              <a:rPr lang="zh-CN" altLang="en-US" sz="1800" dirty="0">
                <a:solidFill>
                  <a:srgbClr val="333333"/>
                </a:solidFill>
                <a:latin typeface="Helvetica Neue"/>
              </a:rPr>
              <a:t>集合和集合一样也是</a:t>
            </a:r>
            <a:r>
              <a:rPr lang="en-US" altLang="zh-CN" sz="1800" dirty="0">
                <a:solidFill>
                  <a:srgbClr val="333333"/>
                </a:solidFill>
                <a:latin typeface="Helvetica Neue"/>
              </a:rPr>
              <a:t>string</a:t>
            </a:r>
            <a:r>
              <a:rPr lang="zh-CN" altLang="en-US" sz="1800" dirty="0">
                <a:solidFill>
                  <a:srgbClr val="333333"/>
                </a:solidFill>
                <a:latin typeface="Helvetica Neue"/>
              </a:rPr>
              <a:t>类型元素的集合</a:t>
            </a:r>
            <a:r>
              <a:rPr lang="en-US" altLang="zh-CN" sz="1800" dirty="0">
                <a:solidFill>
                  <a:srgbClr val="333333"/>
                </a:solidFill>
                <a:latin typeface="Helvetica Neue"/>
              </a:rPr>
              <a:t>,</a:t>
            </a:r>
            <a:r>
              <a:rPr lang="zh-CN" altLang="en-US" sz="1800" dirty="0">
                <a:solidFill>
                  <a:srgbClr val="333333"/>
                </a:solidFill>
                <a:latin typeface="Helvetica Neue"/>
              </a:rPr>
              <a:t>且</a:t>
            </a:r>
            <a:r>
              <a:rPr lang="zh-CN" altLang="en-US" sz="1800" b="1" dirty="0">
                <a:solidFill>
                  <a:srgbClr val="FF0000"/>
                </a:solidFill>
                <a:latin typeface="Helvetica Neue"/>
              </a:rPr>
              <a:t>不允许重复的成员</a:t>
            </a:r>
            <a:r>
              <a:rPr lang="zh-CN" altLang="en-US" sz="1800" dirty="0">
                <a:solidFill>
                  <a:srgbClr val="333333"/>
                </a:solidFill>
                <a:latin typeface="Helvetica Neue"/>
              </a:rPr>
              <a:t>。</a:t>
            </a:r>
            <a:endParaRPr lang="zh-CN" altLang="en-US" sz="1800" dirty="0">
              <a:solidFill>
                <a:srgbClr val="333333"/>
              </a:solidFill>
              <a:latin typeface="Helvetica Neue"/>
            </a:endParaRPr>
          </a:p>
          <a:p>
            <a:pPr algn="l" latinLnBrk="1">
              <a:lnSpc>
                <a:spcPct val="150000"/>
              </a:lnSpc>
            </a:pPr>
            <a:r>
              <a:rPr lang="zh-CN" altLang="en-US" sz="1800" dirty="0">
                <a:solidFill>
                  <a:srgbClr val="333333"/>
                </a:solidFill>
                <a:latin typeface="Helvetica Neue"/>
              </a:rPr>
              <a:t>不同的是每个元素都会关联一个</a:t>
            </a:r>
            <a:r>
              <a:rPr lang="en-US" altLang="zh-CN" sz="1800" b="1" dirty="0">
                <a:solidFill>
                  <a:srgbClr val="FF0000"/>
                </a:solidFill>
                <a:latin typeface="Helvetica Neue"/>
              </a:rPr>
              <a:t>double</a:t>
            </a:r>
            <a:r>
              <a:rPr lang="zh-CN" altLang="en-US" sz="1800" b="1" dirty="0">
                <a:solidFill>
                  <a:srgbClr val="FF0000"/>
                </a:solidFill>
                <a:latin typeface="Helvetica Neue"/>
              </a:rPr>
              <a:t>类型的分数</a:t>
            </a:r>
            <a:r>
              <a:rPr lang="zh-CN" altLang="en-US" sz="1800" dirty="0">
                <a:solidFill>
                  <a:srgbClr val="333333"/>
                </a:solidFill>
                <a:latin typeface="Helvetica Neue"/>
              </a:rPr>
              <a:t>。</a:t>
            </a:r>
            <a:r>
              <a:rPr lang="en-US" altLang="zh-CN" sz="1800" dirty="0" err="1">
                <a:solidFill>
                  <a:srgbClr val="333333"/>
                </a:solidFill>
                <a:latin typeface="Helvetica Neue"/>
              </a:rPr>
              <a:t>redis</a:t>
            </a:r>
            <a:r>
              <a:rPr lang="zh-CN" altLang="en-US" sz="1800" dirty="0">
                <a:solidFill>
                  <a:srgbClr val="333333"/>
                </a:solidFill>
                <a:latin typeface="Helvetica Neue"/>
              </a:rPr>
              <a:t>正是通过分数来为集合中的成员进行从小到大的排序。</a:t>
            </a:r>
            <a:endParaRPr lang="zh-CN" altLang="en-US" sz="1800" dirty="0">
              <a:solidFill>
                <a:srgbClr val="333333"/>
              </a:solidFill>
              <a:latin typeface="Helvetica Neue"/>
            </a:endParaRPr>
          </a:p>
          <a:p>
            <a:pPr algn="l" latinLnBrk="1">
              <a:lnSpc>
                <a:spcPct val="150000"/>
              </a:lnSpc>
            </a:pPr>
            <a:r>
              <a:rPr lang="zh-CN" altLang="en-US" sz="1800" dirty="0">
                <a:solidFill>
                  <a:srgbClr val="333333"/>
                </a:solidFill>
                <a:latin typeface="Helvetica Neue"/>
              </a:rPr>
              <a:t>有序集合的成员是唯一的</a:t>
            </a:r>
            <a:r>
              <a:rPr lang="en-US" altLang="zh-CN" sz="1800" dirty="0">
                <a:solidFill>
                  <a:srgbClr val="333333"/>
                </a:solidFill>
                <a:latin typeface="Helvetica Neue"/>
              </a:rPr>
              <a:t>,</a:t>
            </a:r>
            <a:r>
              <a:rPr lang="zh-CN" altLang="en-US" sz="1800" dirty="0">
                <a:solidFill>
                  <a:srgbClr val="333333"/>
                </a:solidFill>
                <a:latin typeface="Helvetica Neue"/>
              </a:rPr>
              <a:t>但分数</a:t>
            </a:r>
            <a:r>
              <a:rPr lang="en-US" altLang="zh-CN" sz="1800" dirty="0">
                <a:solidFill>
                  <a:srgbClr val="333333"/>
                </a:solidFill>
                <a:latin typeface="Helvetica Neue"/>
              </a:rPr>
              <a:t>(score)</a:t>
            </a:r>
            <a:r>
              <a:rPr lang="zh-CN" altLang="en-US" sz="1800" dirty="0">
                <a:solidFill>
                  <a:srgbClr val="333333"/>
                </a:solidFill>
                <a:latin typeface="Helvetica Neue"/>
              </a:rPr>
              <a:t>却可以</a:t>
            </a:r>
            <a:r>
              <a:rPr lang="zh-CN" altLang="en-US" sz="1800" b="1" dirty="0">
                <a:solidFill>
                  <a:srgbClr val="FF0000"/>
                </a:solidFill>
                <a:latin typeface="Helvetica Neue"/>
              </a:rPr>
              <a:t>重复</a:t>
            </a:r>
            <a:r>
              <a:rPr lang="zh-CN" altLang="en-US" sz="1800" dirty="0">
                <a:solidFill>
                  <a:srgbClr val="333333"/>
                </a:solidFill>
                <a:latin typeface="Helvetica Neue"/>
              </a:rPr>
              <a:t>。</a:t>
            </a:r>
            <a:endParaRPr lang="zh-CN" altLang="en-US"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-sorted set</a:t>
            </a:r>
            <a:endParaRPr lang="zh-CN" altLang="en-US" kern="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84831" y="1545488"/>
            <a:ext cx="8443106" cy="517598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r>
              <a:rPr lang="zh-CN" altLang="en-US" sz="1800" b="1" dirty="0">
                <a:solidFill>
                  <a:srgbClr val="333333"/>
                </a:solidFill>
                <a:latin typeface="Helvetica Neue"/>
              </a:rPr>
              <a:t>常用命令：</a:t>
            </a:r>
            <a:endParaRPr lang="en-US" altLang="zh-CN" sz="1800" b="1" dirty="0">
              <a:solidFill>
                <a:srgbClr val="333333"/>
              </a:solidFill>
              <a:latin typeface="Helvetica Neue"/>
            </a:endParaRPr>
          </a:p>
          <a:p>
            <a:pPr algn="l" latinLnBrk="1">
              <a:lnSpc>
                <a:spcPct val="120000"/>
              </a:lnSpc>
            </a:pPr>
            <a:r>
              <a:rPr lang="en-US" altLang="zh-CN" sz="1600" dirty="0">
                <a:solidFill>
                  <a:srgbClr val="333333"/>
                </a:solidFill>
                <a:latin typeface="Helvetica Neue"/>
              </a:rPr>
              <a:t>ZADD key score1 member1 [score2 member2] </a:t>
            </a:r>
            <a:endParaRPr lang="en-US" altLang="zh-CN" sz="1600" dirty="0">
              <a:solidFill>
                <a:srgbClr val="333333"/>
              </a:solidFill>
              <a:latin typeface="Helvetica Neue"/>
            </a:endParaRPr>
          </a:p>
          <a:p>
            <a:pPr algn="l" latinLnBrk="1">
              <a:lnSpc>
                <a:spcPct val="120000"/>
              </a:lnSpc>
            </a:pPr>
            <a:r>
              <a:rPr lang="zh-CN" altLang="en-US" sz="1600" dirty="0">
                <a:solidFill>
                  <a:srgbClr val="333333"/>
                </a:solidFill>
                <a:latin typeface="Helvetica Neue"/>
              </a:rPr>
              <a:t>向有序集合添加一个或多个成员，或者更新已存在成员的分数</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ZCARD key  </a:t>
            </a:r>
            <a:r>
              <a:rPr lang="zh-CN" altLang="en-US" sz="1600" dirty="0">
                <a:solidFill>
                  <a:srgbClr val="333333"/>
                </a:solidFill>
                <a:latin typeface="Helvetica Neue"/>
              </a:rPr>
              <a:t>获取有序集合的成员数</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ZCOUNT key min max  </a:t>
            </a:r>
            <a:r>
              <a:rPr lang="zh-CN" altLang="en-US" sz="1600" dirty="0">
                <a:solidFill>
                  <a:srgbClr val="333333"/>
                </a:solidFill>
                <a:latin typeface="Helvetica Neue"/>
              </a:rPr>
              <a:t>计算在有序集合中指定区间分数的成员数</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ZRANGE key start stop [WITHSCORES]  </a:t>
            </a:r>
            <a:r>
              <a:rPr lang="zh-CN" altLang="en-US" sz="1600" dirty="0">
                <a:solidFill>
                  <a:srgbClr val="333333"/>
                </a:solidFill>
                <a:latin typeface="Helvetica Neue"/>
              </a:rPr>
              <a:t>通过索引区间返回有序集合指定区间内的成员</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a:t>
            </a:r>
            <a:r>
              <a:rPr lang="en-US" altLang="zh-CN" sz="1600" dirty="0">
                <a:solidFill>
                  <a:srgbClr val="FF0000"/>
                </a:solidFill>
                <a:latin typeface="Helvetica Neue"/>
              </a:rPr>
              <a:t>RANGEBYLEX key min max </a:t>
            </a:r>
            <a:r>
              <a:rPr lang="en-US" altLang="zh-CN" sz="1600" dirty="0">
                <a:solidFill>
                  <a:srgbClr val="333333"/>
                </a:solidFill>
                <a:latin typeface="Helvetica Neue"/>
              </a:rPr>
              <a:t>[LIMIT offset count]  </a:t>
            </a:r>
            <a:r>
              <a:rPr lang="zh-CN" altLang="en-US" sz="1600" dirty="0">
                <a:solidFill>
                  <a:srgbClr val="333333"/>
                </a:solidFill>
                <a:latin typeface="Helvetica Neue"/>
              </a:rPr>
              <a:t>通过字典区间返回有序集合的成员（</a:t>
            </a:r>
            <a:r>
              <a:rPr lang="zh-CN" altLang="en-US" sz="1600" dirty="0">
                <a:solidFill>
                  <a:srgbClr val="FF0000"/>
                </a:solidFill>
                <a:latin typeface="Helvetica Neue"/>
              </a:rPr>
              <a:t>分数要一致）</a:t>
            </a:r>
            <a:endParaRPr lang="en-US" altLang="zh-CN" sz="1600" dirty="0">
              <a:solidFill>
                <a:srgbClr val="FF0000"/>
              </a:solidFill>
              <a:latin typeface="Helvetica Neue"/>
            </a:endParaRPr>
          </a:p>
          <a:p>
            <a:pPr algn="l" latinLnBrk="1">
              <a:lnSpc>
                <a:spcPct val="120000"/>
              </a:lnSpc>
            </a:pPr>
            <a:r>
              <a:rPr lang="en-US" altLang="zh-CN" sz="1600" dirty="0">
                <a:solidFill>
                  <a:srgbClr val="333333"/>
                </a:solidFill>
                <a:latin typeface="Helvetica Neue"/>
              </a:rPr>
              <a:t>ZRANGEBYSCORE key min max [WITHSCORES] [LIMIT] </a:t>
            </a:r>
            <a:endParaRPr lang="en-US" altLang="zh-CN" sz="1600" dirty="0">
              <a:solidFill>
                <a:srgbClr val="333333"/>
              </a:solidFill>
              <a:latin typeface="Helvetica Neue"/>
            </a:endParaRPr>
          </a:p>
          <a:p>
            <a:pPr algn="l" latinLnBrk="1">
              <a:lnSpc>
                <a:spcPct val="120000"/>
              </a:lnSpc>
            </a:pPr>
            <a:r>
              <a:rPr lang="zh-CN" altLang="en-US" sz="1600" dirty="0">
                <a:solidFill>
                  <a:srgbClr val="333333"/>
                </a:solidFill>
                <a:latin typeface="Helvetica Neue"/>
              </a:rPr>
              <a:t>通过分数返回有序集合指定区间内的成员</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ZSCORE key member </a:t>
            </a:r>
            <a:r>
              <a:rPr lang="zh-CN" altLang="en-US" sz="1600" dirty="0">
                <a:solidFill>
                  <a:srgbClr val="333333"/>
                </a:solidFill>
                <a:latin typeface="Helvetica Neue"/>
              </a:rPr>
              <a:t>返回有序集中，成员的分数值</a:t>
            </a:r>
            <a:endParaRPr lang="en-US" altLang="zh-CN" sz="1600" dirty="0">
              <a:solidFill>
                <a:srgbClr val="333333"/>
              </a:solidFill>
              <a:latin typeface="Helvetica Neue"/>
            </a:endParaRPr>
          </a:p>
          <a:p>
            <a:pPr algn="l" latinLnBrk="1">
              <a:lnSpc>
                <a:spcPct val="120000"/>
              </a:lnSpc>
            </a:pPr>
            <a:r>
              <a:rPr lang="en-US" altLang="zh-CN" sz="1600" dirty="0">
                <a:solidFill>
                  <a:srgbClr val="333333"/>
                </a:solidFill>
                <a:latin typeface="Helvetica Neue"/>
              </a:rPr>
              <a:t>ZREVRANGEBYSCORE key max min [WITHSCORES] </a:t>
            </a:r>
            <a:r>
              <a:rPr lang="zh-CN" altLang="en-US" sz="1600" dirty="0">
                <a:solidFill>
                  <a:srgbClr val="333333"/>
                </a:solidFill>
                <a:latin typeface="Helvetica Neue"/>
              </a:rPr>
              <a:t>返回有序集中指定分数区间内的成员，分数从高到低排序</a:t>
            </a:r>
            <a:endParaRPr lang="en-US" altLang="zh-CN" sz="16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-sorted set  zset</a:t>
            </a:r>
            <a:endParaRPr lang="zh-CN" altLang="en-US" kern="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84831" y="1545488"/>
            <a:ext cx="8443106" cy="517598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r>
              <a:rPr lang="en-US" altLang="zh-CN" sz="1800" dirty="0">
                <a:solidFill>
                  <a:srgbClr val="333333"/>
                </a:solidFill>
                <a:latin typeface="Helvetica Neue"/>
              </a:rPr>
              <a:t>Redis hash </a:t>
            </a:r>
            <a:r>
              <a:rPr lang="zh-CN" altLang="en-US" sz="1800" dirty="0">
                <a:solidFill>
                  <a:srgbClr val="333333"/>
                </a:solidFill>
                <a:latin typeface="Helvetica Neue"/>
              </a:rPr>
              <a:t>是一个</a:t>
            </a:r>
            <a:r>
              <a:rPr lang="en-US" altLang="zh-CN" sz="1800" dirty="0">
                <a:solidFill>
                  <a:srgbClr val="333333"/>
                </a:solidFill>
                <a:latin typeface="Helvetica Neue"/>
              </a:rPr>
              <a:t>string </a:t>
            </a:r>
            <a:r>
              <a:rPr lang="zh-CN" altLang="en-US" sz="1800" dirty="0">
                <a:solidFill>
                  <a:srgbClr val="333333"/>
                </a:solidFill>
                <a:latin typeface="Helvetica Neue"/>
              </a:rPr>
              <a:t>类型的</a:t>
            </a:r>
            <a:r>
              <a:rPr lang="en-US" altLang="zh-CN" sz="1800" dirty="0">
                <a:solidFill>
                  <a:srgbClr val="333333"/>
                </a:solidFill>
                <a:latin typeface="Helvetica Neue"/>
              </a:rPr>
              <a:t>field</a:t>
            </a:r>
            <a:r>
              <a:rPr lang="zh-CN" altLang="en-US" sz="1800" dirty="0">
                <a:solidFill>
                  <a:srgbClr val="333333"/>
                </a:solidFill>
                <a:latin typeface="Helvetica Neue"/>
              </a:rPr>
              <a:t>（字段）和</a:t>
            </a:r>
            <a:r>
              <a:rPr lang="en-US" altLang="zh-CN" sz="1800" dirty="0">
                <a:solidFill>
                  <a:srgbClr val="333333"/>
                </a:solidFill>
                <a:latin typeface="Helvetica Neue"/>
              </a:rPr>
              <a:t>value</a:t>
            </a:r>
            <a:r>
              <a:rPr lang="zh-CN" altLang="en-US" sz="1800" dirty="0">
                <a:solidFill>
                  <a:srgbClr val="333333"/>
                </a:solidFill>
                <a:latin typeface="Helvetica Neue"/>
              </a:rPr>
              <a:t>（值）的映射表，</a:t>
            </a:r>
            <a:r>
              <a:rPr lang="en-US" altLang="zh-CN" sz="1800" dirty="0">
                <a:solidFill>
                  <a:srgbClr val="333333"/>
                </a:solidFill>
                <a:latin typeface="Helvetica Neue"/>
              </a:rPr>
              <a:t>hash </a:t>
            </a:r>
            <a:r>
              <a:rPr lang="zh-CN" altLang="en-US" sz="1800" dirty="0">
                <a:solidFill>
                  <a:srgbClr val="333333"/>
                </a:solidFill>
                <a:latin typeface="Helvetica Neue"/>
              </a:rPr>
              <a:t>特别适合用于存储对象。</a:t>
            </a:r>
            <a:endParaRPr lang="en-US" altLang="zh-CN" sz="1800" dirty="0">
              <a:solidFill>
                <a:srgbClr val="333333"/>
              </a:solidFill>
              <a:latin typeface="Helvetica Neue"/>
            </a:endParaRPr>
          </a:p>
          <a:p>
            <a:pPr algn="l" latinLnBrk="1"/>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Key-value</a:t>
            </a:r>
            <a:r>
              <a:rPr lang="zh-CN" altLang="en-US" sz="1800" dirty="0">
                <a:solidFill>
                  <a:srgbClr val="FF0000"/>
                </a:solidFill>
                <a:latin typeface="Helvetica Neue"/>
              </a:rPr>
              <a:t>模式不变，但</a:t>
            </a:r>
            <a:r>
              <a:rPr lang="en-US" altLang="zh-CN" sz="1800" dirty="0">
                <a:solidFill>
                  <a:srgbClr val="FF0000"/>
                </a:solidFill>
                <a:latin typeface="Helvetica Neue"/>
              </a:rPr>
              <a:t>value</a:t>
            </a:r>
            <a:r>
              <a:rPr lang="zh-CN" altLang="en-US" sz="1800" dirty="0">
                <a:solidFill>
                  <a:srgbClr val="FF0000"/>
                </a:solidFill>
                <a:latin typeface="Helvetica Neue"/>
              </a:rPr>
              <a:t>是一个键值对</a:t>
            </a:r>
            <a:endParaRPr lang="zh-CN" altLang="en-US" sz="1800" dirty="0">
              <a:solidFill>
                <a:srgbClr val="FF0000"/>
              </a:solidFill>
              <a:latin typeface="Helvetica Neue"/>
            </a:endParaRPr>
          </a:p>
          <a:p>
            <a:pPr algn="l" latinLnBrk="1"/>
            <a:r>
              <a:rPr lang="en-US" altLang="zh-CN" sz="1800" dirty="0">
                <a:solidFill>
                  <a:srgbClr val="FF0000"/>
                </a:solidFill>
                <a:latin typeface="Helvetica Neue"/>
              </a:rPr>
              <a:t>map&lt;key, map&lt;key1, value&gt;&gt;</a:t>
            </a:r>
            <a:endParaRPr lang="en-US" altLang="zh-CN" sz="1800" dirty="0">
              <a:solidFill>
                <a:srgbClr val="FF0000"/>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-hash</a:t>
            </a:r>
            <a:r>
              <a:rPr lang="zh-CN" altLang="en-US" kern="0" dirty="0"/>
              <a:t> （重要）</a:t>
            </a:r>
            <a:endParaRPr lang="zh-CN" altLang="en-US" kern="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84831" y="1545488"/>
            <a:ext cx="8443106" cy="517598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r>
              <a:rPr lang="zh-CN" altLang="en-US" sz="1800" b="1" dirty="0">
                <a:solidFill>
                  <a:srgbClr val="333333"/>
                </a:solidFill>
                <a:latin typeface="Helvetica Neue"/>
              </a:rPr>
              <a:t>常用命令：</a:t>
            </a:r>
            <a:endParaRPr lang="en-US" altLang="zh-CN" sz="1800" b="1" dirty="0">
              <a:solidFill>
                <a:srgbClr val="333333"/>
              </a:solidFill>
              <a:latin typeface="Helvetica Neue"/>
            </a:endParaRPr>
          </a:p>
          <a:p>
            <a:pPr algn="l" latinLnBrk="1"/>
            <a:r>
              <a:rPr lang="en-US" altLang="zh-CN" sz="1800" dirty="0">
                <a:solidFill>
                  <a:srgbClr val="FF0000"/>
                </a:solidFill>
                <a:latin typeface="Helvetica Neue"/>
              </a:rPr>
              <a:t>HSET</a:t>
            </a:r>
            <a:r>
              <a:rPr lang="en-US" altLang="zh-CN" sz="1800" dirty="0">
                <a:solidFill>
                  <a:srgbClr val="333333"/>
                </a:solidFill>
                <a:latin typeface="Helvetica Neue"/>
              </a:rPr>
              <a:t> key field value </a:t>
            </a:r>
            <a:r>
              <a:rPr lang="zh-CN" altLang="en-US" sz="1800" dirty="0">
                <a:solidFill>
                  <a:srgbClr val="333333"/>
                </a:solidFill>
                <a:latin typeface="Helvetica Neue"/>
              </a:rPr>
              <a:t>将哈希表 </a:t>
            </a:r>
            <a:r>
              <a:rPr lang="en-US" altLang="zh-CN" sz="1800" dirty="0">
                <a:solidFill>
                  <a:srgbClr val="333333"/>
                </a:solidFill>
                <a:latin typeface="Helvetica Neue"/>
              </a:rPr>
              <a:t>key </a:t>
            </a:r>
            <a:r>
              <a:rPr lang="zh-CN" altLang="en-US" sz="1800" dirty="0">
                <a:solidFill>
                  <a:srgbClr val="333333"/>
                </a:solidFill>
                <a:latin typeface="Helvetica Neue"/>
              </a:rPr>
              <a:t>中的字段 </a:t>
            </a:r>
            <a:r>
              <a:rPr lang="en-US" altLang="zh-CN" sz="1800" dirty="0">
                <a:solidFill>
                  <a:srgbClr val="333333"/>
                </a:solidFill>
                <a:latin typeface="Helvetica Neue"/>
              </a:rPr>
              <a:t>field </a:t>
            </a:r>
            <a:r>
              <a:rPr lang="zh-CN" altLang="en-US" sz="1800" dirty="0">
                <a:solidFill>
                  <a:srgbClr val="333333"/>
                </a:solidFill>
                <a:latin typeface="Helvetica Neue"/>
              </a:rPr>
              <a:t>的值设为 </a:t>
            </a:r>
            <a:r>
              <a:rPr lang="en-US" altLang="zh-CN" sz="1800" dirty="0">
                <a:solidFill>
                  <a:srgbClr val="333333"/>
                </a:solidFill>
                <a:latin typeface="Helvetica Neue"/>
              </a:rPr>
              <a:t>value</a:t>
            </a:r>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HMSET</a:t>
            </a:r>
            <a:r>
              <a:rPr lang="en-US" altLang="zh-CN" sz="1800" dirty="0">
                <a:solidFill>
                  <a:srgbClr val="333333"/>
                </a:solidFill>
                <a:latin typeface="Helvetica Neue"/>
              </a:rPr>
              <a:t> key field1 value1 [field2 value2 …]</a:t>
            </a:r>
            <a:r>
              <a:rPr lang="zh-CN" altLang="en-US" sz="1800" dirty="0">
                <a:solidFill>
                  <a:srgbClr val="333333"/>
                </a:solidFill>
                <a:latin typeface="Helvetica Neue"/>
              </a:rPr>
              <a:t>同时将多个 </a:t>
            </a:r>
            <a:r>
              <a:rPr lang="en-US" altLang="zh-CN" sz="1800" dirty="0">
                <a:solidFill>
                  <a:srgbClr val="333333"/>
                </a:solidFill>
                <a:latin typeface="Helvetica Neue"/>
              </a:rPr>
              <a:t>field-value (</a:t>
            </a:r>
            <a:r>
              <a:rPr lang="zh-CN" altLang="en-US" sz="1800" dirty="0">
                <a:solidFill>
                  <a:srgbClr val="333333"/>
                </a:solidFill>
                <a:latin typeface="Helvetica Neue"/>
              </a:rPr>
              <a:t>域</a:t>
            </a:r>
            <a:r>
              <a:rPr lang="en-US" altLang="zh-CN" sz="1800" dirty="0">
                <a:solidFill>
                  <a:srgbClr val="333333"/>
                </a:solidFill>
                <a:latin typeface="Helvetica Neue"/>
              </a:rPr>
              <a:t>-</a:t>
            </a:r>
            <a:r>
              <a:rPr lang="zh-CN" altLang="en-US" sz="1800" dirty="0">
                <a:solidFill>
                  <a:srgbClr val="333333"/>
                </a:solidFill>
                <a:latin typeface="Helvetica Neue"/>
              </a:rPr>
              <a:t>值</a:t>
            </a:r>
            <a:r>
              <a:rPr lang="en-US" altLang="zh-CN" sz="1800" dirty="0">
                <a:solidFill>
                  <a:srgbClr val="333333"/>
                </a:solidFill>
                <a:latin typeface="Helvetica Neue"/>
              </a:rPr>
              <a:t>)</a:t>
            </a:r>
            <a:r>
              <a:rPr lang="zh-CN" altLang="en-US" sz="1800" dirty="0">
                <a:solidFill>
                  <a:srgbClr val="333333"/>
                </a:solidFill>
                <a:latin typeface="Helvetica Neue"/>
              </a:rPr>
              <a:t>对设置到哈希表 </a:t>
            </a:r>
            <a:r>
              <a:rPr lang="en-US" altLang="zh-CN" sz="1800" dirty="0">
                <a:solidFill>
                  <a:srgbClr val="333333"/>
                </a:solidFill>
                <a:latin typeface="Helvetica Neue"/>
              </a:rPr>
              <a:t>key </a:t>
            </a:r>
            <a:r>
              <a:rPr lang="zh-CN" altLang="en-US" sz="1800" dirty="0">
                <a:solidFill>
                  <a:srgbClr val="333333"/>
                </a:solidFill>
                <a:latin typeface="Helvetica Neue"/>
              </a:rPr>
              <a:t>中</a:t>
            </a:r>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HGET</a:t>
            </a:r>
            <a:r>
              <a:rPr lang="en-US" altLang="zh-CN" sz="1800" dirty="0">
                <a:solidFill>
                  <a:srgbClr val="333333"/>
                </a:solidFill>
                <a:latin typeface="Helvetica Neue"/>
              </a:rPr>
              <a:t> key field  / </a:t>
            </a:r>
            <a:r>
              <a:rPr lang="en-US" altLang="zh-CN" sz="1800" dirty="0">
                <a:solidFill>
                  <a:srgbClr val="FF0000"/>
                </a:solidFill>
                <a:latin typeface="Helvetica Neue"/>
              </a:rPr>
              <a:t>HMGET</a:t>
            </a:r>
            <a:r>
              <a:rPr lang="en-US" altLang="zh-CN" sz="1800" dirty="0">
                <a:solidFill>
                  <a:srgbClr val="333333"/>
                </a:solidFill>
                <a:latin typeface="Helvetica Neue"/>
              </a:rPr>
              <a:t> key field1 [field2]  </a:t>
            </a:r>
            <a:r>
              <a:rPr lang="zh-CN" altLang="en-US" sz="1800" dirty="0">
                <a:solidFill>
                  <a:srgbClr val="333333"/>
                </a:solidFill>
                <a:latin typeface="Helvetica Neue"/>
              </a:rPr>
              <a:t>获取给定字段的值</a:t>
            </a:r>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HGETALL</a:t>
            </a:r>
            <a:r>
              <a:rPr lang="en-US" altLang="zh-CN" sz="1800" dirty="0">
                <a:solidFill>
                  <a:srgbClr val="333333"/>
                </a:solidFill>
                <a:latin typeface="Helvetica Neue"/>
              </a:rPr>
              <a:t> key </a:t>
            </a:r>
            <a:r>
              <a:rPr lang="zh-CN" altLang="en-US" sz="1800" dirty="0">
                <a:solidFill>
                  <a:srgbClr val="333333"/>
                </a:solidFill>
                <a:latin typeface="Helvetica Neue"/>
              </a:rPr>
              <a:t>获取在哈希表中指定 </a:t>
            </a:r>
            <a:r>
              <a:rPr lang="en-US" altLang="zh-CN" sz="1800" dirty="0">
                <a:solidFill>
                  <a:srgbClr val="333333"/>
                </a:solidFill>
                <a:latin typeface="Helvetica Neue"/>
              </a:rPr>
              <a:t>key </a:t>
            </a:r>
            <a:r>
              <a:rPr lang="zh-CN" altLang="en-US" sz="1800" dirty="0">
                <a:solidFill>
                  <a:srgbClr val="333333"/>
                </a:solidFill>
                <a:latin typeface="Helvetica Neue"/>
              </a:rPr>
              <a:t>的所有字段和值</a:t>
            </a:r>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HKEYS</a:t>
            </a:r>
            <a:r>
              <a:rPr lang="en-US" altLang="zh-CN" sz="1800" dirty="0">
                <a:solidFill>
                  <a:srgbClr val="333333"/>
                </a:solidFill>
                <a:latin typeface="Helvetica Neue"/>
              </a:rPr>
              <a:t> key </a:t>
            </a:r>
            <a:r>
              <a:rPr lang="zh-CN" altLang="en-US" sz="1800" dirty="0">
                <a:solidFill>
                  <a:srgbClr val="333333"/>
                </a:solidFill>
                <a:latin typeface="Helvetica Neue"/>
              </a:rPr>
              <a:t>获取所有哈希表中的字段</a:t>
            </a:r>
            <a:endParaRPr lang="en-US" altLang="zh-CN" sz="1800" dirty="0">
              <a:solidFill>
                <a:srgbClr val="333333"/>
              </a:solidFill>
              <a:latin typeface="Helvetica Neue"/>
            </a:endParaRPr>
          </a:p>
          <a:p>
            <a:pPr algn="l" latinLnBrk="1"/>
            <a:r>
              <a:rPr lang="en-US" altLang="zh-CN" sz="1800" dirty="0">
                <a:solidFill>
                  <a:srgbClr val="FF0000"/>
                </a:solidFill>
                <a:latin typeface="Helvetica Neue"/>
              </a:rPr>
              <a:t>HVALS</a:t>
            </a:r>
            <a:r>
              <a:rPr lang="en-US" altLang="zh-CN" sz="1800" dirty="0">
                <a:solidFill>
                  <a:srgbClr val="333333"/>
                </a:solidFill>
                <a:latin typeface="Helvetica Neue"/>
              </a:rPr>
              <a:t> key </a:t>
            </a:r>
            <a:r>
              <a:rPr lang="zh-CN" altLang="en-US" sz="1800" dirty="0">
                <a:solidFill>
                  <a:srgbClr val="333333"/>
                </a:solidFill>
                <a:latin typeface="Helvetica Neue"/>
              </a:rPr>
              <a:t>获取哈希表中所有值</a:t>
            </a:r>
            <a:endParaRPr lang="en-US" altLang="zh-CN" sz="1800" dirty="0">
              <a:solidFill>
                <a:srgbClr val="333333"/>
              </a:solidFill>
              <a:latin typeface="Helvetica Neue"/>
            </a:endParaRPr>
          </a:p>
          <a:p>
            <a:pPr algn="l" latinLnBrk="1"/>
            <a:r>
              <a:rPr lang="en-US" altLang="zh-CN" sz="1800" dirty="0">
                <a:latin typeface="Helvetica Neue"/>
              </a:rPr>
              <a:t>HLEN</a:t>
            </a:r>
            <a:r>
              <a:rPr lang="en-US" altLang="zh-CN" sz="1800" dirty="0">
                <a:solidFill>
                  <a:srgbClr val="333333"/>
                </a:solidFill>
                <a:latin typeface="Helvetica Neue"/>
              </a:rPr>
              <a:t> key </a:t>
            </a:r>
            <a:r>
              <a:rPr lang="zh-CN" altLang="en-US" sz="1800" dirty="0">
                <a:solidFill>
                  <a:srgbClr val="333333"/>
                </a:solidFill>
                <a:latin typeface="Helvetica Neue"/>
              </a:rPr>
              <a:t>获取哈希表中字段的数量</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常用数据类型</a:t>
            </a:r>
            <a:r>
              <a:rPr lang="en-US" altLang="zh-CN" kern="0" dirty="0"/>
              <a:t>-hash</a:t>
            </a:r>
            <a:r>
              <a:rPr lang="zh-CN" altLang="en-US" kern="0" dirty="0"/>
              <a:t>（重要）</a:t>
            </a:r>
            <a:endParaRPr lang="zh-CN" altLang="en-US" kern="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配置文件</a:t>
            </a:r>
            <a:endParaRPr lang="zh-CN" alt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22686" y="4977350"/>
            <a:ext cx="8501717" cy="17441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zh-CN" altLang="en-US" sz="1800" dirty="0">
                <a:solidFill>
                  <a:srgbClr val="333333"/>
                </a:solidFill>
                <a:latin typeface="Helvetica Neue"/>
              </a:rPr>
              <a:t>配置大小单位，定义了一些基本度量单位，只支持</a:t>
            </a:r>
            <a:r>
              <a:rPr lang="en-US" altLang="zh-CN" sz="1800" dirty="0">
                <a:solidFill>
                  <a:srgbClr val="333333"/>
                </a:solidFill>
                <a:latin typeface="Helvetica Neue"/>
              </a:rPr>
              <a:t>bytes</a:t>
            </a:r>
            <a:r>
              <a:rPr lang="zh-CN" altLang="en-US" sz="1800" dirty="0">
                <a:solidFill>
                  <a:srgbClr val="333333"/>
                </a:solidFill>
                <a:latin typeface="Helvetica Neue"/>
              </a:rPr>
              <a:t>，不支持</a:t>
            </a:r>
            <a:r>
              <a:rPr lang="en-US" altLang="zh-CN" sz="1800" dirty="0">
                <a:solidFill>
                  <a:srgbClr val="333333"/>
                </a:solidFill>
                <a:latin typeface="Helvetica Neue"/>
              </a:rPr>
              <a:t>bit</a:t>
            </a:r>
            <a:endParaRPr lang="en-US" altLang="zh-CN" sz="1800" dirty="0">
              <a:solidFill>
                <a:srgbClr val="333333"/>
              </a:solidFill>
              <a:latin typeface="Helvetica Neue"/>
            </a:endParaRPr>
          </a:p>
          <a:p>
            <a:pPr algn="l" latinLnBrk="1">
              <a:lnSpc>
                <a:spcPct val="150000"/>
              </a:lnSpc>
            </a:pPr>
            <a:r>
              <a:rPr lang="zh-CN" altLang="en-US" sz="1800" dirty="0">
                <a:solidFill>
                  <a:srgbClr val="333333"/>
                </a:solidFill>
                <a:latin typeface="Helvetica Neue"/>
              </a:rPr>
              <a:t>对大小写不敏感</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配置文件</a:t>
            </a:r>
            <a:r>
              <a:rPr lang="en-US" altLang="zh-CN" kern="0" dirty="0"/>
              <a:t>-Units</a:t>
            </a:r>
            <a:endParaRPr lang="zh-CN" altLang="en-US" kern="0" dirty="0"/>
          </a:p>
        </p:txBody>
      </p:sp>
      <p:pic>
        <p:nvPicPr>
          <p:cNvPr id="3" name="图片 2"/>
          <p:cNvPicPr>
            <a:picLocks noChangeAspect="1"/>
          </p:cNvPicPr>
          <p:nvPr/>
        </p:nvPicPr>
        <p:blipFill>
          <a:blip r:embed="rId1"/>
          <a:stretch>
            <a:fillRect/>
          </a:stretch>
        </p:blipFill>
        <p:spPr>
          <a:xfrm>
            <a:off x="186431" y="1682497"/>
            <a:ext cx="9380253" cy="31768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3835"/>
            <a:ext cx="8501717" cy="17441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en-US" altLang="zh-CN" sz="1800" dirty="0">
                <a:solidFill>
                  <a:srgbClr val="333333"/>
                </a:solidFill>
                <a:latin typeface="Helvetica Neue"/>
              </a:rPr>
              <a:t>bind 127.0.0.1  # </a:t>
            </a:r>
            <a:r>
              <a:rPr lang="zh-CN" altLang="en-US" sz="1800" dirty="0">
                <a:solidFill>
                  <a:srgbClr val="333333"/>
                </a:solidFill>
                <a:latin typeface="Helvetica Neue"/>
              </a:rPr>
              <a:t>绑定的</a:t>
            </a:r>
            <a:r>
              <a:rPr lang="en-US" altLang="zh-CN" sz="1800" dirty="0" err="1">
                <a:solidFill>
                  <a:srgbClr val="333333"/>
                </a:solidFill>
                <a:latin typeface="Helvetica Neue"/>
              </a:rPr>
              <a:t>ip</a:t>
            </a:r>
            <a:endParaRPr lang="en-US" altLang="zh-CN" sz="1800" dirty="0">
              <a:solidFill>
                <a:srgbClr val="333333"/>
              </a:solidFill>
              <a:latin typeface="Helvetica Neue"/>
            </a:endParaRPr>
          </a:p>
          <a:p>
            <a:pPr algn="l" latinLnBrk="1">
              <a:lnSpc>
                <a:spcPct val="150000"/>
              </a:lnSpc>
            </a:pPr>
            <a:r>
              <a:rPr lang="en-US" altLang="zh-CN" sz="1800" dirty="0">
                <a:solidFill>
                  <a:srgbClr val="333333"/>
                </a:solidFill>
                <a:latin typeface="Helvetica Neue"/>
              </a:rPr>
              <a:t>protected-mode yes # </a:t>
            </a:r>
            <a:r>
              <a:rPr lang="zh-CN" altLang="en-US" sz="1800" dirty="0">
                <a:solidFill>
                  <a:srgbClr val="333333"/>
                </a:solidFill>
                <a:latin typeface="Helvetica Neue"/>
              </a:rPr>
              <a:t>保护模式</a:t>
            </a:r>
            <a:endParaRPr lang="en-US" altLang="zh-CN" sz="1800" dirty="0">
              <a:solidFill>
                <a:srgbClr val="333333"/>
              </a:solidFill>
              <a:latin typeface="Helvetica Neue"/>
            </a:endParaRPr>
          </a:p>
          <a:p>
            <a:pPr algn="l" latinLnBrk="1">
              <a:lnSpc>
                <a:spcPct val="150000"/>
              </a:lnSpc>
            </a:pPr>
            <a:r>
              <a:rPr lang="en-US" altLang="zh-CN" sz="1800" b="1" dirty="0">
                <a:solidFill>
                  <a:srgbClr val="FF0000"/>
                </a:solidFill>
                <a:latin typeface="Helvetica Neue"/>
              </a:rPr>
              <a:t>port  6379  # </a:t>
            </a:r>
            <a:r>
              <a:rPr lang="zh-CN" altLang="en-US" sz="1800" b="1" dirty="0">
                <a:solidFill>
                  <a:srgbClr val="FF0000"/>
                </a:solidFill>
                <a:latin typeface="Helvetica Neue"/>
              </a:rPr>
              <a:t>端口</a:t>
            </a:r>
            <a:endParaRPr lang="zh-CN" altLang="en-US" sz="1800" b="1" dirty="0">
              <a:solidFill>
                <a:srgbClr val="FF0000"/>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配置文件</a:t>
            </a:r>
            <a:r>
              <a:rPr lang="en-US" altLang="zh-CN" kern="0" dirty="0"/>
              <a:t>-Network</a:t>
            </a:r>
            <a:endParaRPr lang="zh-CN" altLang="en-US" kern="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3835"/>
            <a:ext cx="8501717" cy="17441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50000"/>
              </a:lnSpc>
            </a:pPr>
            <a:r>
              <a:rPr lang="en-US" altLang="zh-CN" sz="1800" dirty="0" err="1">
                <a:solidFill>
                  <a:srgbClr val="333333"/>
                </a:solidFill>
                <a:latin typeface="Helvetica Neue"/>
              </a:rPr>
              <a:t>daemonize</a:t>
            </a:r>
            <a:r>
              <a:rPr lang="en-US" altLang="zh-CN" sz="1800" dirty="0">
                <a:solidFill>
                  <a:srgbClr val="333333"/>
                </a:solidFill>
                <a:latin typeface="Helvetica Neue"/>
              </a:rPr>
              <a:t> yes # </a:t>
            </a:r>
            <a:r>
              <a:rPr lang="zh-CN" altLang="en-US" sz="1800" dirty="0">
                <a:solidFill>
                  <a:srgbClr val="333333"/>
                </a:solidFill>
                <a:latin typeface="Helvetica Neue"/>
              </a:rPr>
              <a:t>以守护进程方式运行</a:t>
            </a:r>
            <a:endParaRPr lang="en-US" altLang="zh-CN" sz="1800" dirty="0">
              <a:solidFill>
                <a:srgbClr val="333333"/>
              </a:solidFill>
              <a:latin typeface="Helvetica Neue"/>
            </a:endParaRPr>
          </a:p>
          <a:p>
            <a:pPr algn="l" latinLnBrk="1">
              <a:lnSpc>
                <a:spcPct val="150000"/>
              </a:lnSpc>
            </a:pPr>
            <a:r>
              <a:rPr lang="en-US" altLang="zh-CN" sz="1800" dirty="0" err="1">
                <a:solidFill>
                  <a:srgbClr val="333333"/>
                </a:solidFill>
                <a:latin typeface="Helvetica Neue"/>
              </a:rPr>
              <a:t>loglevel</a:t>
            </a:r>
            <a:r>
              <a:rPr lang="en-US" altLang="zh-CN" sz="1800" dirty="0">
                <a:solidFill>
                  <a:srgbClr val="333333"/>
                </a:solidFill>
                <a:latin typeface="Helvetica Neue"/>
              </a:rPr>
              <a:t>  notice  # </a:t>
            </a:r>
            <a:r>
              <a:rPr lang="zh-CN" altLang="en-US" sz="1800" dirty="0">
                <a:solidFill>
                  <a:srgbClr val="333333"/>
                </a:solidFill>
                <a:latin typeface="Helvetica Neue"/>
              </a:rPr>
              <a:t>日志级别</a:t>
            </a:r>
            <a:endParaRPr lang="en-US" altLang="zh-CN" sz="1800" dirty="0">
              <a:solidFill>
                <a:srgbClr val="333333"/>
              </a:solidFill>
              <a:latin typeface="Helvetica Neue"/>
            </a:endParaRPr>
          </a:p>
          <a:p>
            <a:pPr algn="l" latinLnBrk="1">
              <a:lnSpc>
                <a:spcPct val="150000"/>
              </a:lnSpc>
            </a:pPr>
            <a:r>
              <a:rPr lang="en-US" altLang="zh-CN" sz="1800" dirty="0">
                <a:solidFill>
                  <a:srgbClr val="333333"/>
                </a:solidFill>
                <a:latin typeface="Helvetica Neue"/>
              </a:rPr>
              <a:t>database  16  #</a:t>
            </a:r>
            <a:r>
              <a:rPr lang="zh-CN" altLang="en-US" sz="1800" dirty="0">
                <a:solidFill>
                  <a:srgbClr val="333333"/>
                </a:solidFill>
                <a:latin typeface="Helvetica Neue"/>
              </a:rPr>
              <a:t> 数据库数量</a:t>
            </a:r>
            <a:r>
              <a:rPr lang="en-US" altLang="zh-CN" sz="1800" dirty="0">
                <a:solidFill>
                  <a:srgbClr val="333333"/>
                </a:solidFill>
                <a:latin typeface="Helvetica Neue"/>
              </a:rPr>
              <a:t> </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配置文件</a:t>
            </a:r>
            <a:r>
              <a:rPr lang="en-US" altLang="zh-CN" kern="0" dirty="0"/>
              <a:t>-General</a:t>
            </a:r>
            <a:endParaRPr lang="zh-CN" altLang="en-US" kern="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44720" y="1634323"/>
            <a:ext cx="8501717" cy="559210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buFont typeface="Arial" panose="020B0604020202020204" pitchFamily="34" charset="0"/>
              <a:buChar char="•"/>
            </a:pPr>
            <a:r>
              <a:rPr lang="zh-CN" altLang="en-US" sz="1800" dirty="0">
                <a:solidFill>
                  <a:srgbClr val="333333"/>
                </a:solidFill>
                <a:latin typeface="Open Sans"/>
              </a:rPr>
              <a:t>保存快照</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save 900 1              </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a:t>
            </a:r>
            <a:r>
              <a:rPr lang="zh-CN" altLang="en-US" sz="1800" dirty="0">
                <a:solidFill>
                  <a:srgbClr val="333333"/>
                </a:solidFill>
                <a:latin typeface="Open Sans"/>
              </a:rPr>
              <a:t>在</a:t>
            </a:r>
            <a:r>
              <a:rPr lang="en-US" altLang="zh-CN" sz="1800" dirty="0">
                <a:solidFill>
                  <a:srgbClr val="333333"/>
                </a:solidFill>
                <a:latin typeface="Open Sans"/>
              </a:rPr>
              <a:t>900</a:t>
            </a:r>
            <a:r>
              <a:rPr lang="zh-CN" altLang="en-US" sz="1800" dirty="0">
                <a:solidFill>
                  <a:srgbClr val="333333"/>
                </a:solidFill>
                <a:latin typeface="Open Sans"/>
              </a:rPr>
              <a:t>秒</a:t>
            </a:r>
            <a:r>
              <a:rPr lang="en-US" altLang="zh-CN" sz="1800" dirty="0">
                <a:solidFill>
                  <a:srgbClr val="333333"/>
                </a:solidFill>
                <a:latin typeface="Open Sans"/>
              </a:rPr>
              <a:t>(15</a:t>
            </a:r>
            <a:r>
              <a:rPr lang="zh-CN" altLang="en-US" sz="1800" dirty="0">
                <a:solidFill>
                  <a:srgbClr val="333333"/>
                </a:solidFill>
                <a:latin typeface="Open Sans"/>
              </a:rPr>
              <a:t>分钟</a:t>
            </a:r>
            <a:r>
              <a:rPr lang="en-US" altLang="zh-CN" sz="1800" dirty="0">
                <a:solidFill>
                  <a:srgbClr val="333333"/>
                </a:solidFill>
                <a:latin typeface="Open Sans"/>
              </a:rPr>
              <a:t>)</a:t>
            </a:r>
            <a:r>
              <a:rPr lang="zh-CN" altLang="en-US" sz="1800" dirty="0">
                <a:solidFill>
                  <a:srgbClr val="333333"/>
                </a:solidFill>
                <a:latin typeface="Open Sans"/>
              </a:rPr>
              <a:t>之后，如果至少有</a:t>
            </a:r>
            <a:r>
              <a:rPr lang="en-US" altLang="zh-CN" sz="1800" dirty="0">
                <a:solidFill>
                  <a:srgbClr val="333333"/>
                </a:solidFill>
                <a:latin typeface="Open Sans"/>
              </a:rPr>
              <a:t>1</a:t>
            </a:r>
            <a:r>
              <a:rPr lang="zh-CN" altLang="en-US" sz="1800" dirty="0">
                <a:solidFill>
                  <a:srgbClr val="333333"/>
                </a:solidFill>
                <a:latin typeface="Open Sans"/>
              </a:rPr>
              <a:t>个</a:t>
            </a:r>
            <a:r>
              <a:rPr lang="en-US" altLang="zh-CN" sz="1800" dirty="0">
                <a:solidFill>
                  <a:srgbClr val="333333"/>
                </a:solidFill>
                <a:latin typeface="Open Sans"/>
              </a:rPr>
              <a:t>key</a:t>
            </a:r>
            <a:r>
              <a:rPr lang="zh-CN" altLang="en-US" sz="1800" dirty="0">
                <a:solidFill>
                  <a:srgbClr val="333333"/>
                </a:solidFill>
                <a:latin typeface="Open Sans"/>
              </a:rPr>
              <a:t>发生变化，则</a:t>
            </a:r>
            <a:r>
              <a:rPr lang="en-US" altLang="zh-CN" sz="1800" dirty="0">
                <a:solidFill>
                  <a:srgbClr val="333333"/>
                </a:solidFill>
                <a:latin typeface="Open Sans"/>
              </a:rPr>
              <a:t>dump</a:t>
            </a:r>
            <a:r>
              <a:rPr lang="zh-CN" altLang="en-US" sz="1800" dirty="0">
                <a:solidFill>
                  <a:srgbClr val="333333"/>
                </a:solidFill>
                <a:latin typeface="Open Sans"/>
              </a:rPr>
              <a:t>内存快照。</a:t>
            </a:r>
            <a:endParaRPr lang="zh-CN" altLang="en-US" sz="1800" dirty="0">
              <a:solidFill>
                <a:srgbClr val="333333"/>
              </a:solidFill>
              <a:latin typeface="Open Sans"/>
            </a:endParaRPr>
          </a:p>
          <a:p>
            <a:pPr algn="l" latinLnBrk="1">
              <a:lnSpc>
                <a:spcPct val="120000"/>
              </a:lnSpc>
            </a:pPr>
            <a:r>
              <a:rPr lang="en-US" altLang="zh-CN" sz="1800" dirty="0">
                <a:solidFill>
                  <a:srgbClr val="333333"/>
                </a:solidFill>
                <a:latin typeface="Open Sans"/>
              </a:rPr>
              <a:t>save 300 10            </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a:t>
            </a:r>
            <a:r>
              <a:rPr lang="zh-CN" altLang="en-US" sz="1800" dirty="0">
                <a:solidFill>
                  <a:srgbClr val="333333"/>
                </a:solidFill>
                <a:latin typeface="Open Sans"/>
              </a:rPr>
              <a:t>在</a:t>
            </a:r>
            <a:r>
              <a:rPr lang="en-US" altLang="zh-CN" sz="1800" dirty="0">
                <a:solidFill>
                  <a:srgbClr val="333333"/>
                </a:solidFill>
                <a:latin typeface="Open Sans"/>
              </a:rPr>
              <a:t>300</a:t>
            </a:r>
            <a:r>
              <a:rPr lang="zh-CN" altLang="en-US" sz="1800" dirty="0">
                <a:solidFill>
                  <a:srgbClr val="333333"/>
                </a:solidFill>
                <a:latin typeface="Open Sans"/>
              </a:rPr>
              <a:t>秒</a:t>
            </a:r>
            <a:r>
              <a:rPr lang="en-US" altLang="zh-CN" sz="1800" dirty="0">
                <a:solidFill>
                  <a:srgbClr val="333333"/>
                </a:solidFill>
                <a:latin typeface="Open Sans"/>
              </a:rPr>
              <a:t>(5</a:t>
            </a:r>
            <a:r>
              <a:rPr lang="zh-CN" altLang="en-US" sz="1800" dirty="0">
                <a:solidFill>
                  <a:srgbClr val="333333"/>
                </a:solidFill>
                <a:latin typeface="Open Sans"/>
              </a:rPr>
              <a:t>分钟</a:t>
            </a:r>
            <a:r>
              <a:rPr lang="en-US" altLang="zh-CN" sz="1800" dirty="0">
                <a:solidFill>
                  <a:srgbClr val="333333"/>
                </a:solidFill>
                <a:latin typeface="Open Sans"/>
              </a:rPr>
              <a:t>)</a:t>
            </a:r>
            <a:r>
              <a:rPr lang="zh-CN" altLang="en-US" sz="1800" dirty="0">
                <a:solidFill>
                  <a:srgbClr val="333333"/>
                </a:solidFill>
                <a:latin typeface="Open Sans"/>
              </a:rPr>
              <a:t>之后，如果至少有</a:t>
            </a:r>
            <a:r>
              <a:rPr lang="en-US" altLang="zh-CN" sz="1800" dirty="0">
                <a:solidFill>
                  <a:srgbClr val="333333"/>
                </a:solidFill>
                <a:latin typeface="Open Sans"/>
              </a:rPr>
              <a:t>10</a:t>
            </a:r>
            <a:r>
              <a:rPr lang="zh-CN" altLang="en-US" sz="1800" dirty="0">
                <a:solidFill>
                  <a:srgbClr val="333333"/>
                </a:solidFill>
                <a:latin typeface="Open Sans"/>
              </a:rPr>
              <a:t>个</a:t>
            </a:r>
            <a:r>
              <a:rPr lang="en-US" altLang="zh-CN" sz="1800" dirty="0">
                <a:solidFill>
                  <a:srgbClr val="333333"/>
                </a:solidFill>
                <a:latin typeface="Open Sans"/>
              </a:rPr>
              <a:t>key</a:t>
            </a:r>
            <a:r>
              <a:rPr lang="zh-CN" altLang="en-US" sz="1800" dirty="0">
                <a:solidFill>
                  <a:srgbClr val="333333"/>
                </a:solidFill>
                <a:latin typeface="Open Sans"/>
              </a:rPr>
              <a:t>发生变化，则</a:t>
            </a:r>
            <a:r>
              <a:rPr lang="en-US" altLang="zh-CN" sz="1800" dirty="0">
                <a:solidFill>
                  <a:srgbClr val="333333"/>
                </a:solidFill>
                <a:latin typeface="Open Sans"/>
              </a:rPr>
              <a:t>dump</a:t>
            </a:r>
            <a:r>
              <a:rPr lang="zh-CN" altLang="en-US" sz="1800" dirty="0">
                <a:solidFill>
                  <a:srgbClr val="333333"/>
                </a:solidFill>
                <a:latin typeface="Open Sans"/>
              </a:rPr>
              <a:t>内存快照。</a:t>
            </a:r>
            <a:endParaRPr lang="zh-CN" altLang="en-US" sz="1800" dirty="0">
              <a:solidFill>
                <a:srgbClr val="333333"/>
              </a:solidFill>
              <a:latin typeface="Open Sans"/>
            </a:endParaRPr>
          </a:p>
          <a:p>
            <a:pPr algn="l" latinLnBrk="1">
              <a:lnSpc>
                <a:spcPct val="120000"/>
              </a:lnSpc>
            </a:pPr>
            <a:r>
              <a:rPr lang="en-US" altLang="zh-CN" sz="1800" dirty="0">
                <a:solidFill>
                  <a:srgbClr val="333333"/>
                </a:solidFill>
                <a:latin typeface="Open Sans"/>
              </a:rPr>
              <a:t>save 60 10000       </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 #</a:t>
            </a:r>
            <a:r>
              <a:rPr lang="zh-CN" altLang="en-US" sz="1800" dirty="0">
                <a:solidFill>
                  <a:srgbClr val="333333"/>
                </a:solidFill>
                <a:latin typeface="Open Sans"/>
              </a:rPr>
              <a:t>在</a:t>
            </a:r>
            <a:r>
              <a:rPr lang="en-US" altLang="zh-CN" sz="1800" dirty="0">
                <a:solidFill>
                  <a:srgbClr val="333333"/>
                </a:solidFill>
                <a:latin typeface="Open Sans"/>
              </a:rPr>
              <a:t>60</a:t>
            </a:r>
            <a:r>
              <a:rPr lang="zh-CN" altLang="en-US" sz="1800" dirty="0">
                <a:solidFill>
                  <a:srgbClr val="333333"/>
                </a:solidFill>
                <a:latin typeface="Open Sans"/>
              </a:rPr>
              <a:t>秒</a:t>
            </a:r>
            <a:r>
              <a:rPr lang="en-US" altLang="zh-CN" sz="1800" dirty="0">
                <a:solidFill>
                  <a:srgbClr val="333333"/>
                </a:solidFill>
                <a:latin typeface="Open Sans"/>
              </a:rPr>
              <a:t>(1</a:t>
            </a:r>
            <a:r>
              <a:rPr lang="zh-CN" altLang="en-US" sz="1800" dirty="0">
                <a:solidFill>
                  <a:srgbClr val="333333"/>
                </a:solidFill>
                <a:latin typeface="Open Sans"/>
              </a:rPr>
              <a:t>分钟</a:t>
            </a:r>
            <a:r>
              <a:rPr lang="en-US" altLang="zh-CN" sz="1800" dirty="0">
                <a:solidFill>
                  <a:srgbClr val="333333"/>
                </a:solidFill>
                <a:latin typeface="Open Sans"/>
              </a:rPr>
              <a:t>)</a:t>
            </a:r>
            <a:r>
              <a:rPr lang="zh-CN" altLang="en-US" sz="1800" dirty="0">
                <a:solidFill>
                  <a:srgbClr val="333333"/>
                </a:solidFill>
                <a:latin typeface="Open Sans"/>
              </a:rPr>
              <a:t>之后，如果至少有</a:t>
            </a:r>
            <a:r>
              <a:rPr lang="en-US" altLang="zh-CN" sz="1800" dirty="0">
                <a:solidFill>
                  <a:srgbClr val="333333"/>
                </a:solidFill>
                <a:latin typeface="Open Sans"/>
              </a:rPr>
              <a:t>10000</a:t>
            </a:r>
            <a:r>
              <a:rPr lang="zh-CN" altLang="en-US" sz="1800" dirty="0">
                <a:solidFill>
                  <a:srgbClr val="333333"/>
                </a:solidFill>
                <a:latin typeface="Open Sans"/>
              </a:rPr>
              <a:t>个</a:t>
            </a:r>
            <a:r>
              <a:rPr lang="en-US" altLang="zh-CN" sz="1800" dirty="0">
                <a:solidFill>
                  <a:srgbClr val="333333"/>
                </a:solidFill>
                <a:latin typeface="Open Sans"/>
              </a:rPr>
              <a:t>key</a:t>
            </a:r>
            <a:r>
              <a:rPr lang="zh-CN" altLang="en-US" sz="1800" dirty="0">
                <a:solidFill>
                  <a:srgbClr val="333333"/>
                </a:solidFill>
                <a:latin typeface="Open Sans"/>
              </a:rPr>
              <a:t>发生变化，则</a:t>
            </a:r>
            <a:r>
              <a:rPr lang="en-US" altLang="zh-CN" sz="1800" dirty="0">
                <a:solidFill>
                  <a:srgbClr val="333333"/>
                </a:solidFill>
                <a:latin typeface="Open Sans"/>
              </a:rPr>
              <a:t>dump</a:t>
            </a:r>
            <a:r>
              <a:rPr lang="zh-CN" altLang="en-US" sz="1800" dirty="0">
                <a:solidFill>
                  <a:srgbClr val="333333"/>
                </a:solidFill>
                <a:latin typeface="Open Sans"/>
              </a:rPr>
              <a:t>内存快照。</a:t>
            </a:r>
            <a:endParaRPr lang="en-US" altLang="zh-CN" sz="1800" dirty="0">
              <a:solidFill>
                <a:srgbClr val="333333"/>
              </a:solidFill>
              <a:latin typeface="Open Sans"/>
            </a:endParaRPr>
          </a:p>
          <a:p>
            <a:pPr algn="l" latinLnBrk="1">
              <a:lnSpc>
                <a:spcPct val="120000"/>
              </a:lnSpc>
              <a:buFont typeface="Arial" panose="020B0604020202020204" pitchFamily="34" charset="0"/>
              <a:buChar char="•"/>
            </a:pPr>
            <a:r>
              <a:rPr lang="zh-CN" altLang="en-US" sz="1800" dirty="0">
                <a:solidFill>
                  <a:srgbClr val="333333"/>
                </a:solidFill>
                <a:latin typeface="Open Sans"/>
              </a:rPr>
              <a:t>快照文件名</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	</a:t>
            </a:r>
            <a:r>
              <a:rPr lang="en-US" altLang="zh-CN" sz="1800" b="1" dirty="0" err="1">
                <a:solidFill>
                  <a:srgbClr val="FF0000"/>
                </a:solidFill>
                <a:latin typeface="Open Sans"/>
              </a:rPr>
              <a:t>dbfilename</a:t>
            </a:r>
            <a:r>
              <a:rPr lang="en-US" altLang="zh-CN" sz="1800" b="1" dirty="0">
                <a:solidFill>
                  <a:srgbClr val="FF0000"/>
                </a:solidFill>
                <a:latin typeface="Open Sans"/>
              </a:rPr>
              <a:t> </a:t>
            </a:r>
            <a:r>
              <a:rPr lang="en-US" altLang="zh-CN" sz="1800" b="1" dirty="0" err="1">
                <a:solidFill>
                  <a:srgbClr val="FF0000"/>
                </a:solidFill>
                <a:latin typeface="Open Sans"/>
              </a:rPr>
              <a:t>dump.rdb</a:t>
            </a:r>
            <a:endParaRPr lang="en-US" altLang="zh-CN" sz="1800" b="1" dirty="0">
              <a:solidFill>
                <a:srgbClr val="FF0000"/>
              </a:solidFill>
              <a:latin typeface="Open Sans"/>
            </a:endParaRPr>
          </a:p>
          <a:p>
            <a:pPr algn="l" latinLnBrk="1">
              <a:lnSpc>
                <a:spcPct val="120000"/>
              </a:lnSpc>
              <a:buFont typeface="Arial" panose="020B0604020202020204" pitchFamily="34" charset="0"/>
              <a:buChar char="•"/>
            </a:pPr>
            <a:r>
              <a:rPr lang="zh-CN" altLang="en-US" sz="1800" dirty="0">
                <a:solidFill>
                  <a:srgbClr val="333333"/>
                </a:solidFill>
                <a:latin typeface="Open Sans"/>
              </a:rPr>
              <a:t>保存目录名</a:t>
            </a:r>
            <a:endParaRPr lang="en-US" altLang="zh-CN" sz="1800" dirty="0">
              <a:solidFill>
                <a:srgbClr val="333333"/>
              </a:solidFill>
              <a:latin typeface="Open Sans"/>
            </a:endParaRPr>
          </a:p>
          <a:p>
            <a:pPr algn="l" latinLnBrk="1">
              <a:lnSpc>
                <a:spcPct val="120000"/>
              </a:lnSpc>
            </a:pPr>
            <a:r>
              <a:rPr lang="en-US" altLang="zh-CN" sz="1800" dirty="0">
                <a:solidFill>
                  <a:srgbClr val="333333"/>
                </a:solidFill>
                <a:latin typeface="Open Sans"/>
              </a:rPr>
              <a:t>	</a:t>
            </a:r>
            <a:r>
              <a:rPr lang="en-US" altLang="zh-CN" sz="1800" b="1" dirty="0" err="1">
                <a:solidFill>
                  <a:srgbClr val="FF0000"/>
                </a:solidFill>
                <a:latin typeface="Open Sans"/>
              </a:rPr>
              <a:t>dir</a:t>
            </a:r>
            <a:r>
              <a:rPr lang="en-US" altLang="zh-CN" sz="1800" b="1" dirty="0">
                <a:solidFill>
                  <a:srgbClr val="FF0000"/>
                </a:solidFill>
                <a:latin typeface="Open Sans"/>
              </a:rPr>
              <a:t> /var/lib/</a:t>
            </a:r>
            <a:r>
              <a:rPr lang="en-US" altLang="zh-CN" sz="1800" b="1" dirty="0" err="1">
                <a:solidFill>
                  <a:srgbClr val="FF0000"/>
                </a:solidFill>
                <a:latin typeface="Open Sans"/>
              </a:rPr>
              <a:t>redis</a:t>
            </a:r>
            <a:r>
              <a:rPr lang="en-US" altLang="zh-CN" sz="1800" b="1" dirty="0">
                <a:solidFill>
                  <a:srgbClr val="FF0000"/>
                </a:solidFill>
                <a:latin typeface="Open Sans"/>
              </a:rPr>
              <a:t>/6379</a:t>
            </a:r>
            <a:endParaRPr lang="en-US" altLang="zh-CN" sz="1800" b="1" dirty="0">
              <a:solidFill>
                <a:srgbClr val="FF0000"/>
              </a:solidFill>
              <a:latin typeface="Open Sans"/>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配置文件</a:t>
            </a:r>
            <a:r>
              <a:rPr lang="en-US" altLang="zh-CN" kern="0" dirty="0"/>
              <a:t>-</a:t>
            </a:r>
            <a:r>
              <a:rPr lang="en-US" altLang="zh-CN" kern="0" dirty="0" err="1"/>
              <a:t>snapshoting</a:t>
            </a:r>
            <a:endParaRPr lang="zh-CN" altLang="en-US" kern="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44720" y="1634323"/>
            <a:ext cx="8501717" cy="559210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buFont typeface="Arial" panose="020B0604020202020204" pitchFamily="34" charset="0"/>
              <a:buChar char="•"/>
            </a:pPr>
            <a:r>
              <a:rPr lang="en-US" altLang="zh-CN" sz="1800" dirty="0">
                <a:solidFill>
                  <a:srgbClr val="333333"/>
                </a:solidFill>
                <a:latin typeface="Open Sans"/>
              </a:rPr>
              <a:t> </a:t>
            </a:r>
            <a:r>
              <a:rPr lang="en-US" altLang="zh-CN" sz="1800" dirty="0" err="1">
                <a:solidFill>
                  <a:srgbClr val="333333"/>
                </a:solidFill>
                <a:latin typeface="Open Sans"/>
              </a:rPr>
              <a:t>appendonly</a:t>
            </a:r>
            <a:r>
              <a:rPr lang="en-US" altLang="zh-CN" sz="1800" dirty="0">
                <a:solidFill>
                  <a:srgbClr val="333333"/>
                </a:solidFill>
                <a:latin typeface="Open Sans"/>
              </a:rPr>
              <a:t> yes  # </a:t>
            </a:r>
            <a:r>
              <a:rPr lang="zh-CN" altLang="en-US" sz="1800" dirty="0">
                <a:solidFill>
                  <a:srgbClr val="333333"/>
                </a:solidFill>
                <a:latin typeface="Open Sans"/>
              </a:rPr>
              <a:t>是否使用</a:t>
            </a:r>
            <a:r>
              <a:rPr lang="en-US" altLang="zh-CN" sz="1800" dirty="0">
                <a:solidFill>
                  <a:srgbClr val="333333"/>
                </a:solidFill>
                <a:latin typeface="Open Sans"/>
              </a:rPr>
              <a:t>AOF</a:t>
            </a:r>
            <a:r>
              <a:rPr lang="zh-CN" altLang="en-US" sz="1800" dirty="0">
                <a:solidFill>
                  <a:srgbClr val="333333"/>
                </a:solidFill>
                <a:latin typeface="Open Sans"/>
              </a:rPr>
              <a:t>持久化方式。默认不使用</a:t>
            </a:r>
            <a:endParaRPr lang="en-US" altLang="zh-CN" sz="1800" dirty="0">
              <a:solidFill>
                <a:srgbClr val="333333"/>
              </a:solidFill>
              <a:latin typeface="Open Sans"/>
            </a:endParaRPr>
          </a:p>
          <a:p>
            <a:pPr algn="l" latinLnBrk="1">
              <a:lnSpc>
                <a:spcPct val="120000"/>
              </a:lnSpc>
              <a:buFont typeface="Arial" panose="020B0604020202020204" pitchFamily="34" charset="0"/>
              <a:buChar char="•"/>
            </a:pPr>
            <a:r>
              <a:rPr lang="en-US" altLang="zh-CN" sz="1800" dirty="0" err="1">
                <a:solidFill>
                  <a:srgbClr val="333333"/>
                </a:solidFill>
                <a:latin typeface="Open Sans"/>
              </a:rPr>
              <a:t>appendfilename</a:t>
            </a:r>
            <a:r>
              <a:rPr lang="en-US" altLang="zh-CN" sz="1800" dirty="0">
                <a:solidFill>
                  <a:srgbClr val="333333"/>
                </a:solidFill>
                <a:latin typeface="Open Sans"/>
              </a:rPr>
              <a:t> “appendonly6381.aof“  #</a:t>
            </a:r>
            <a:r>
              <a:rPr lang="zh-CN" altLang="en-US" sz="1800" dirty="0">
                <a:solidFill>
                  <a:srgbClr val="333333"/>
                </a:solidFill>
                <a:latin typeface="Open Sans"/>
              </a:rPr>
              <a:t>持久化的</a:t>
            </a:r>
            <a:r>
              <a:rPr lang="en-US" altLang="zh-CN" sz="1800" dirty="0">
                <a:solidFill>
                  <a:srgbClr val="333333"/>
                </a:solidFill>
                <a:latin typeface="Open Sans"/>
              </a:rPr>
              <a:t>AOF</a:t>
            </a:r>
            <a:r>
              <a:rPr lang="zh-CN" altLang="en-US" sz="1800" dirty="0">
                <a:solidFill>
                  <a:srgbClr val="333333"/>
                </a:solidFill>
                <a:latin typeface="Open Sans"/>
              </a:rPr>
              <a:t>文件名</a:t>
            </a:r>
            <a:endParaRPr lang="en-US" altLang="zh-CN" sz="1800" dirty="0">
              <a:solidFill>
                <a:srgbClr val="333333"/>
              </a:solidFill>
              <a:latin typeface="Open Sans"/>
            </a:endParaRPr>
          </a:p>
          <a:p>
            <a:pPr algn="l" latinLnBrk="1">
              <a:lnSpc>
                <a:spcPct val="120000"/>
              </a:lnSpc>
            </a:pPr>
            <a:endParaRPr lang="en-US" altLang="zh-CN" sz="1800" dirty="0">
              <a:solidFill>
                <a:srgbClr val="333333"/>
              </a:solidFill>
              <a:latin typeface="Open Sans"/>
            </a:endParaRPr>
          </a:p>
          <a:p>
            <a:pPr algn="l" latinLnBrk="1">
              <a:lnSpc>
                <a:spcPct val="120000"/>
              </a:lnSpc>
              <a:buFont typeface="Arial" panose="020B0604020202020204" pitchFamily="34" charset="0"/>
              <a:buChar char="•"/>
            </a:pPr>
            <a:r>
              <a:rPr lang="zh-CN" altLang="en-US" sz="1800" dirty="0">
                <a:solidFill>
                  <a:srgbClr val="333333"/>
                </a:solidFill>
                <a:latin typeface="Open Sans"/>
              </a:rPr>
              <a:t>在</a:t>
            </a:r>
            <a:r>
              <a:rPr lang="en-US" altLang="zh-CN" sz="1800" dirty="0">
                <a:solidFill>
                  <a:srgbClr val="333333"/>
                </a:solidFill>
                <a:latin typeface="Open Sans"/>
              </a:rPr>
              <a:t>Redis</a:t>
            </a:r>
            <a:r>
              <a:rPr lang="zh-CN" altLang="en-US" sz="1800" dirty="0">
                <a:solidFill>
                  <a:srgbClr val="333333"/>
                </a:solidFill>
                <a:latin typeface="Open Sans"/>
              </a:rPr>
              <a:t>的配置文件中存在三种</a:t>
            </a:r>
            <a:r>
              <a:rPr lang="en-US" altLang="zh-CN" sz="1800" dirty="0">
                <a:solidFill>
                  <a:srgbClr val="333333"/>
                </a:solidFill>
                <a:latin typeface="Open Sans"/>
              </a:rPr>
              <a:t>AOF</a:t>
            </a:r>
            <a:r>
              <a:rPr lang="zh-CN" altLang="en-US" sz="1800" dirty="0">
                <a:solidFill>
                  <a:srgbClr val="333333"/>
                </a:solidFill>
                <a:latin typeface="Open Sans"/>
              </a:rPr>
              <a:t>同步方式，它们分别是：</a:t>
            </a:r>
            <a:endParaRPr lang="zh-CN" altLang="en-US" sz="1800" dirty="0">
              <a:solidFill>
                <a:srgbClr val="333333"/>
              </a:solidFill>
              <a:latin typeface="Open Sans"/>
            </a:endParaRPr>
          </a:p>
          <a:p>
            <a:pPr algn="l" latinLnBrk="1">
              <a:lnSpc>
                <a:spcPct val="120000"/>
              </a:lnSpc>
              <a:buFont typeface="Arial" panose="020B0604020202020204" pitchFamily="34" charset="0"/>
              <a:buChar char="•"/>
            </a:pPr>
            <a:r>
              <a:rPr lang="en-US" altLang="zh-CN" sz="1800" dirty="0" err="1">
                <a:solidFill>
                  <a:srgbClr val="333333"/>
                </a:solidFill>
                <a:latin typeface="Open Sans"/>
              </a:rPr>
              <a:t>appendfsync</a:t>
            </a:r>
            <a:r>
              <a:rPr lang="en-US" altLang="zh-CN" sz="1800" dirty="0">
                <a:solidFill>
                  <a:srgbClr val="333333"/>
                </a:solidFill>
                <a:latin typeface="Open Sans"/>
              </a:rPr>
              <a:t> always     #</a:t>
            </a:r>
            <a:r>
              <a:rPr lang="zh-CN" altLang="en-US" sz="1800" dirty="0">
                <a:solidFill>
                  <a:srgbClr val="333333"/>
                </a:solidFill>
                <a:latin typeface="Open Sans"/>
              </a:rPr>
              <a:t>每次有数据修改发生时都会写入</a:t>
            </a:r>
            <a:r>
              <a:rPr lang="en-US" altLang="zh-CN" sz="1800" dirty="0">
                <a:solidFill>
                  <a:srgbClr val="333333"/>
                </a:solidFill>
                <a:latin typeface="Open Sans"/>
              </a:rPr>
              <a:t>AOF</a:t>
            </a:r>
            <a:r>
              <a:rPr lang="zh-CN" altLang="en-US" sz="1800" dirty="0">
                <a:solidFill>
                  <a:srgbClr val="333333"/>
                </a:solidFill>
                <a:latin typeface="Open Sans"/>
              </a:rPr>
              <a:t>文件。</a:t>
            </a:r>
            <a:endParaRPr lang="zh-CN" altLang="en-US" sz="1800" dirty="0">
              <a:solidFill>
                <a:srgbClr val="333333"/>
              </a:solidFill>
              <a:latin typeface="Open Sans"/>
            </a:endParaRPr>
          </a:p>
          <a:p>
            <a:pPr algn="l" latinLnBrk="1">
              <a:lnSpc>
                <a:spcPct val="120000"/>
              </a:lnSpc>
              <a:buFont typeface="Arial" panose="020B0604020202020204" pitchFamily="34" charset="0"/>
              <a:buChar char="•"/>
            </a:pPr>
            <a:r>
              <a:rPr lang="en-US" altLang="zh-CN" sz="1800" dirty="0" err="1">
                <a:solidFill>
                  <a:srgbClr val="333333"/>
                </a:solidFill>
                <a:latin typeface="Open Sans"/>
              </a:rPr>
              <a:t>appendfsync</a:t>
            </a:r>
            <a:r>
              <a:rPr lang="en-US" altLang="zh-CN" sz="1800" dirty="0">
                <a:solidFill>
                  <a:srgbClr val="333333"/>
                </a:solidFill>
                <a:latin typeface="Open Sans"/>
              </a:rPr>
              <a:t> </a:t>
            </a:r>
            <a:r>
              <a:rPr lang="en-US" altLang="zh-CN" sz="1800" dirty="0" err="1">
                <a:solidFill>
                  <a:srgbClr val="333333"/>
                </a:solidFill>
                <a:latin typeface="Open Sans"/>
              </a:rPr>
              <a:t>everysec</a:t>
            </a:r>
            <a:r>
              <a:rPr lang="en-US" altLang="zh-CN" sz="1800" dirty="0">
                <a:solidFill>
                  <a:srgbClr val="333333"/>
                </a:solidFill>
                <a:latin typeface="Open Sans"/>
              </a:rPr>
              <a:t>  #</a:t>
            </a:r>
            <a:r>
              <a:rPr lang="zh-CN" altLang="en-US" sz="1800" dirty="0">
                <a:solidFill>
                  <a:srgbClr val="333333"/>
                </a:solidFill>
                <a:latin typeface="Open Sans"/>
              </a:rPr>
              <a:t>每秒钟同步一次，该策略为</a:t>
            </a:r>
            <a:r>
              <a:rPr lang="en-US" altLang="zh-CN" sz="1800" dirty="0">
                <a:solidFill>
                  <a:srgbClr val="333333"/>
                </a:solidFill>
                <a:latin typeface="Open Sans"/>
              </a:rPr>
              <a:t>AOF</a:t>
            </a:r>
            <a:r>
              <a:rPr lang="zh-CN" altLang="en-US" sz="1800" dirty="0">
                <a:solidFill>
                  <a:srgbClr val="333333"/>
                </a:solidFill>
                <a:latin typeface="Open Sans"/>
              </a:rPr>
              <a:t>的缺省策略。</a:t>
            </a:r>
            <a:endParaRPr lang="zh-CN" altLang="en-US" sz="1800" dirty="0">
              <a:solidFill>
                <a:srgbClr val="333333"/>
              </a:solidFill>
              <a:latin typeface="Open Sans"/>
            </a:endParaRPr>
          </a:p>
          <a:p>
            <a:pPr algn="l" latinLnBrk="1">
              <a:lnSpc>
                <a:spcPct val="120000"/>
              </a:lnSpc>
              <a:buFont typeface="Arial" panose="020B0604020202020204" pitchFamily="34" charset="0"/>
              <a:buChar char="•"/>
            </a:pPr>
            <a:r>
              <a:rPr lang="en-US" altLang="zh-CN" sz="1800" dirty="0" err="1">
                <a:solidFill>
                  <a:srgbClr val="333333"/>
                </a:solidFill>
                <a:latin typeface="Open Sans"/>
              </a:rPr>
              <a:t>appendfsync</a:t>
            </a:r>
            <a:r>
              <a:rPr lang="en-US" altLang="zh-CN" sz="1800" dirty="0">
                <a:solidFill>
                  <a:srgbClr val="333333"/>
                </a:solidFill>
                <a:latin typeface="Open Sans"/>
              </a:rPr>
              <a:t> no          #</a:t>
            </a:r>
            <a:r>
              <a:rPr lang="zh-CN" altLang="en-US" sz="1800" dirty="0">
                <a:solidFill>
                  <a:srgbClr val="333333"/>
                </a:solidFill>
                <a:latin typeface="Open Sans"/>
              </a:rPr>
              <a:t>从不同步。高效但是数据不会被持久化。</a:t>
            </a:r>
            <a:endParaRPr lang="zh-CN" altLang="en-US" sz="1800" dirty="0">
              <a:solidFill>
                <a:srgbClr val="333333"/>
              </a:solidFill>
              <a:latin typeface="Open Sans"/>
            </a:endParaRPr>
          </a:p>
          <a:p>
            <a:pPr algn="l" latinLnBrk="1">
              <a:lnSpc>
                <a:spcPct val="120000"/>
              </a:lnSpc>
              <a:buFont typeface="Arial" panose="020B0604020202020204" pitchFamily="34" charset="0"/>
              <a:buChar char="•"/>
            </a:pPr>
            <a:endParaRPr lang="en-US" altLang="zh-CN" sz="1800" dirty="0">
              <a:solidFill>
                <a:srgbClr val="333333"/>
              </a:solidFill>
              <a:latin typeface="Open Sans"/>
            </a:endParaRPr>
          </a:p>
        </p:txBody>
      </p:sp>
      <p:sp>
        <p:nvSpPr>
          <p:cNvPr id="6" name="Rectangle 2"/>
          <p:cNvSpPr txBox="1">
            <a:spLocks noChangeArrowheads="1"/>
          </p:cNvSpPr>
          <p:nvPr/>
        </p:nvSpPr>
        <p:spPr>
          <a:xfrm>
            <a:off x="509118" y="450265"/>
            <a:ext cx="9185298"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配置文件</a:t>
            </a:r>
            <a:r>
              <a:rPr lang="en-US" altLang="zh-CN" kern="0" dirty="0"/>
              <a:t>-APPEND ONLY MODE</a:t>
            </a:r>
            <a:endParaRPr lang="zh-CN" altLang="en-US" kern="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持久化</a:t>
            </a:r>
            <a:endParaRPr lang="zh-CN" alt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00990" y="1604010"/>
            <a:ext cx="9566275" cy="475170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just">
              <a:lnSpc>
                <a:spcPct val="150000"/>
              </a:lnSpc>
            </a:pPr>
            <a:r>
              <a:rPr lang="zh-CN" altLang="en-US" sz="1800" dirty="0">
                <a:solidFill>
                  <a:srgbClr val="333333"/>
                </a:solidFill>
                <a:latin typeface="Open Sans"/>
              </a:rPr>
              <a:t>持久化的功能：</a:t>
            </a:r>
            <a:r>
              <a:rPr lang="en-US" altLang="zh-CN" sz="1800" dirty="0">
                <a:solidFill>
                  <a:srgbClr val="333333"/>
                </a:solidFill>
                <a:latin typeface="Open Sans"/>
              </a:rPr>
              <a:t>Redis</a:t>
            </a:r>
            <a:r>
              <a:rPr lang="zh-CN" altLang="en-US" sz="1800" dirty="0">
                <a:solidFill>
                  <a:srgbClr val="333333"/>
                </a:solidFill>
                <a:latin typeface="Open Sans"/>
              </a:rPr>
              <a:t>是内存数据库，数据都是存储在内存中，为了避免进程退出导致数据的永久丢失，需要定期将</a:t>
            </a:r>
            <a:r>
              <a:rPr lang="en-US" altLang="zh-CN" sz="1800" dirty="0">
                <a:solidFill>
                  <a:srgbClr val="333333"/>
                </a:solidFill>
                <a:latin typeface="Open Sans"/>
              </a:rPr>
              <a:t>Redis</a:t>
            </a:r>
            <a:r>
              <a:rPr lang="zh-CN" altLang="en-US" sz="1800" dirty="0">
                <a:solidFill>
                  <a:srgbClr val="333333"/>
                </a:solidFill>
                <a:latin typeface="Open Sans"/>
              </a:rPr>
              <a:t>中的数据以某种形式</a:t>
            </a:r>
            <a:r>
              <a:rPr lang="en-US" altLang="zh-CN" sz="1800" dirty="0">
                <a:solidFill>
                  <a:srgbClr val="333333"/>
                </a:solidFill>
                <a:latin typeface="Open Sans"/>
              </a:rPr>
              <a:t>(</a:t>
            </a:r>
            <a:r>
              <a:rPr lang="zh-CN" altLang="en-US" sz="1800" dirty="0">
                <a:solidFill>
                  <a:srgbClr val="333333"/>
                </a:solidFill>
                <a:latin typeface="Open Sans"/>
              </a:rPr>
              <a:t>数据或命令</a:t>
            </a:r>
            <a:r>
              <a:rPr lang="en-US" altLang="zh-CN" sz="1800" dirty="0">
                <a:solidFill>
                  <a:srgbClr val="333333"/>
                </a:solidFill>
                <a:latin typeface="Open Sans"/>
              </a:rPr>
              <a:t>)</a:t>
            </a:r>
            <a:r>
              <a:rPr lang="zh-CN" altLang="en-US" sz="1800" b="1" dirty="0">
                <a:solidFill>
                  <a:srgbClr val="FF0000"/>
                </a:solidFill>
                <a:latin typeface="Open Sans"/>
              </a:rPr>
              <a:t>从内存保存到硬盘</a:t>
            </a:r>
            <a:r>
              <a:rPr lang="zh-CN" altLang="en-US" sz="1800" dirty="0">
                <a:solidFill>
                  <a:srgbClr val="333333"/>
                </a:solidFill>
                <a:latin typeface="Open Sans"/>
              </a:rPr>
              <a:t>；当下次</a:t>
            </a:r>
            <a:r>
              <a:rPr lang="en-US" altLang="zh-CN" sz="1800" dirty="0">
                <a:solidFill>
                  <a:srgbClr val="333333"/>
                </a:solidFill>
                <a:latin typeface="Open Sans"/>
              </a:rPr>
              <a:t>Redis</a:t>
            </a:r>
            <a:r>
              <a:rPr lang="zh-CN" altLang="en-US" sz="1800" dirty="0">
                <a:solidFill>
                  <a:srgbClr val="333333"/>
                </a:solidFill>
                <a:latin typeface="Open Sans"/>
              </a:rPr>
              <a:t>重启时，利用持久化文件实现数据恢复。除此之外，为了进行灾难备份，可以将持久化文件拷贝到一个远程位置。</a:t>
            </a:r>
            <a:endParaRPr lang="en-US" altLang="zh-CN" sz="1800" dirty="0">
              <a:solidFill>
                <a:srgbClr val="333333"/>
              </a:solidFill>
              <a:latin typeface="Open Sans"/>
            </a:endParaRPr>
          </a:p>
          <a:p>
            <a:pPr algn="just">
              <a:lnSpc>
                <a:spcPct val="150000"/>
              </a:lnSpc>
            </a:pPr>
            <a:endParaRPr lang="en-US" altLang="zh-CN" sz="1800" dirty="0">
              <a:solidFill>
                <a:srgbClr val="333333"/>
              </a:solidFill>
              <a:latin typeface="Open Sans"/>
            </a:endParaRPr>
          </a:p>
          <a:p>
            <a:pPr algn="just">
              <a:lnSpc>
                <a:spcPct val="150000"/>
              </a:lnSpc>
            </a:pPr>
            <a:r>
              <a:rPr lang="en-US" altLang="zh-CN" sz="1800" dirty="0">
                <a:solidFill>
                  <a:srgbClr val="333333"/>
                </a:solidFill>
                <a:latin typeface="Open Sans"/>
              </a:rPr>
              <a:t>Redis</a:t>
            </a:r>
            <a:r>
              <a:rPr lang="zh-CN" altLang="en-US" sz="1800" dirty="0">
                <a:solidFill>
                  <a:srgbClr val="333333"/>
                </a:solidFill>
                <a:latin typeface="Open Sans"/>
              </a:rPr>
              <a:t>持久化分为</a:t>
            </a:r>
            <a:r>
              <a:rPr lang="en-US" altLang="zh-CN" sz="1800" b="1" dirty="0">
                <a:solidFill>
                  <a:srgbClr val="FF0000"/>
                </a:solidFill>
                <a:latin typeface="Open Sans"/>
              </a:rPr>
              <a:t>RDB</a:t>
            </a:r>
            <a:r>
              <a:rPr lang="zh-CN" altLang="en-US" sz="1800" b="1" dirty="0">
                <a:solidFill>
                  <a:srgbClr val="FF0000"/>
                </a:solidFill>
                <a:latin typeface="Open Sans"/>
              </a:rPr>
              <a:t>持久化</a:t>
            </a:r>
            <a:r>
              <a:rPr lang="zh-CN" altLang="en-US" sz="1800" dirty="0">
                <a:solidFill>
                  <a:srgbClr val="333333"/>
                </a:solidFill>
                <a:latin typeface="Open Sans"/>
              </a:rPr>
              <a:t>和</a:t>
            </a:r>
            <a:r>
              <a:rPr lang="en-US" altLang="zh-CN" sz="1800" b="1" dirty="0">
                <a:solidFill>
                  <a:srgbClr val="FF0000"/>
                </a:solidFill>
                <a:latin typeface="Open Sans"/>
              </a:rPr>
              <a:t>AOF</a:t>
            </a:r>
            <a:r>
              <a:rPr lang="zh-CN" altLang="en-US" sz="1800" b="1" dirty="0">
                <a:solidFill>
                  <a:srgbClr val="FF0000"/>
                </a:solidFill>
                <a:latin typeface="Open Sans"/>
              </a:rPr>
              <a:t>持久化</a:t>
            </a:r>
            <a:r>
              <a:rPr lang="zh-CN" altLang="en-US" sz="1800" dirty="0">
                <a:solidFill>
                  <a:srgbClr val="333333"/>
                </a:solidFill>
                <a:latin typeface="Open Sans"/>
              </a:rPr>
              <a:t>：前者将当前数据保存到硬盘（</a:t>
            </a:r>
            <a:r>
              <a:rPr lang="zh-CN" altLang="en-US" sz="1800" b="0" i="0" dirty="0">
                <a:solidFill>
                  <a:srgbClr val="4B4B4B"/>
                </a:solidFill>
                <a:effectLst/>
                <a:latin typeface="PingFang SC"/>
              </a:rPr>
              <a:t>原理是将</a:t>
            </a:r>
            <a:r>
              <a:rPr lang="en-US" altLang="zh-CN" sz="1800" b="0" i="0" dirty="0" err="1">
                <a:solidFill>
                  <a:srgbClr val="4B4B4B"/>
                </a:solidFill>
                <a:effectLst/>
                <a:latin typeface="PingFang SC"/>
              </a:rPr>
              <a:t>Reids</a:t>
            </a:r>
            <a:r>
              <a:rPr lang="zh-CN" altLang="en-US" sz="1800" b="0" i="0" dirty="0">
                <a:solidFill>
                  <a:srgbClr val="4B4B4B"/>
                </a:solidFill>
                <a:effectLst/>
                <a:latin typeface="PingFang SC"/>
              </a:rPr>
              <a:t>在内存中的数据库记录定时</a:t>
            </a:r>
            <a:r>
              <a:rPr lang="en-US" altLang="zh-CN" sz="1800" b="0" i="0" dirty="0">
                <a:solidFill>
                  <a:srgbClr val="4B4B4B"/>
                </a:solidFill>
                <a:effectLst/>
                <a:latin typeface="PingFang SC"/>
              </a:rPr>
              <a:t>dump</a:t>
            </a:r>
            <a:r>
              <a:rPr lang="zh-CN" altLang="en-US" sz="1800" b="0" i="0" dirty="0">
                <a:solidFill>
                  <a:srgbClr val="4B4B4B"/>
                </a:solidFill>
                <a:effectLst/>
                <a:latin typeface="PingFang SC"/>
              </a:rPr>
              <a:t>到磁盘上的</a:t>
            </a:r>
            <a:r>
              <a:rPr lang="en-US" altLang="zh-CN" sz="1800" b="0" i="0" dirty="0">
                <a:solidFill>
                  <a:srgbClr val="4B4B4B"/>
                </a:solidFill>
                <a:effectLst/>
                <a:latin typeface="PingFang SC"/>
              </a:rPr>
              <a:t>RDB</a:t>
            </a:r>
            <a:r>
              <a:rPr lang="zh-CN" altLang="en-US" sz="1800" b="0" i="0" dirty="0">
                <a:solidFill>
                  <a:srgbClr val="4B4B4B"/>
                </a:solidFill>
                <a:effectLst/>
                <a:latin typeface="PingFang SC"/>
              </a:rPr>
              <a:t>持久化）</a:t>
            </a:r>
            <a:r>
              <a:rPr lang="zh-CN" altLang="en-US" sz="1800" dirty="0">
                <a:solidFill>
                  <a:srgbClr val="333333"/>
                </a:solidFill>
                <a:latin typeface="Open Sans"/>
              </a:rPr>
              <a:t>，后者则是将每次执行的写命令保存到硬盘（</a:t>
            </a:r>
            <a:r>
              <a:rPr lang="zh-CN" altLang="en-US" sz="1800" b="0" i="0" dirty="0">
                <a:solidFill>
                  <a:srgbClr val="4B4B4B"/>
                </a:solidFill>
                <a:effectLst/>
                <a:latin typeface="PingFang SC"/>
              </a:rPr>
              <a:t>原理是将</a:t>
            </a:r>
            <a:r>
              <a:rPr lang="en-US" altLang="zh-CN" sz="1800" b="0" i="0" dirty="0" err="1">
                <a:solidFill>
                  <a:srgbClr val="4B4B4B"/>
                </a:solidFill>
                <a:effectLst/>
                <a:latin typeface="PingFang SC"/>
              </a:rPr>
              <a:t>Reids</a:t>
            </a:r>
            <a:r>
              <a:rPr lang="zh-CN" altLang="en-US" sz="1800" b="0" i="0" dirty="0">
                <a:solidFill>
                  <a:srgbClr val="4B4B4B"/>
                </a:solidFill>
                <a:effectLst/>
                <a:latin typeface="PingFang SC"/>
              </a:rPr>
              <a:t>的操作日志以追加的方式写入文件，</a:t>
            </a:r>
            <a:r>
              <a:rPr lang="zh-CN" altLang="en-US" sz="1800" dirty="0">
                <a:solidFill>
                  <a:srgbClr val="333333"/>
                </a:solidFill>
                <a:latin typeface="Open Sans"/>
              </a:rPr>
              <a:t>类似于</a:t>
            </a:r>
            <a:r>
              <a:rPr lang="en-US" altLang="zh-CN" sz="1800" dirty="0">
                <a:solidFill>
                  <a:srgbClr val="333333"/>
                </a:solidFill>
                <a:latin typeface="Open Sans"/>
              </a:rPr>
              <a:t>MySQL</a:t>
            </a:r>
            <a:r>
              <a:rPr lang="zh-CN" altLang="en-US" sz="1800" dirty="0">
                <a:solidFill>
                  <a:srgbClr val="333333"/>
                </a:solidFill>
                <a:latin typeface="Open Sans"/>
              </a:rPr>
              <a:t>的</a:t>
            </a:r>
            <a:r>
              <a:rPr lang="en-US" altLang="zh-CN" sz="1800" dirty="0" err="1">
                <a:solidFill>
                  <a:srgbClr val="333333"/>
                </a:solidFill>
                <a:latin typeface="Open Sans"/>
              </a:rPr>
              <a:t>binlog</a:t>
            </a:r>
            <a:r>
              <a:rPr lang="zh-CN" altLang="en-US" sz="1800" dirty="0">
                <a:solidFill>
                  <a:srgbClr val="333333"/>
                </a:solidFill>
                <a:latin typeface="Open Sans"/>
              </a:rPr>
              <a:t>）；由于</a:t>
            </a:r>
            <a:r>
              <a:rPr lang="en-US" altLang="zh-CN" sz="1800" dirty="0">
                <a:solidFill>
                  <a:srgbClr val="333333"/>
                </a:solidFill>
                <a:latin typeface="Open Sans"/>
              </a:rPr>
              <a:t>AOF</a:t>
            </a:r>
            <a:r>
              <a:rPr lang="zh-CN" altLang="en-US" sz="1800" dirty="0">
                <a:solidFill>
                  <a:srgbClr val="333333"/>
                </a:solidFill>
                <a:latin typeface="Open Sans"/>
              </a:rPr>
              <a:t>持久化的实时性更好，即当进程意外退出时丢失的数据更少，因此</a:t>
            </a:r>
            <a:r>
              <a:rPr lang="en-US" altLang="zh-CN" sz="1800" b="1" dirty="0">
                <a:solidFill>
                  <a:srgbClr val="FF0000"/>
                </a:solidFill>
                <a:latin typeface="Open Sans"/>
              </a:rPr>
              <a:t>AO</a:t>
            </a:r>
            <a:r>
              <a:rPr lang="en-US" altLang="zh-CN" sz="1800" dirty="0">
                <a:solidFill>
                  <a:srgbClr val="FF0000"/>
                </a:solidFill>
                <a:latin typeface="Open Sans"/>
              </a:rPr>
              <a:t>F</a:t>
            </a:r>
            <a:r>
              <a:rPr lang="zh-CN" altLang="en-US" sz="1800" dirty="0">
                <a:solidFill>
                  <a:srgbClr val="333333"/>
                </a:solidFill>
                <a:latin typeface="Open Sans"/>
              </a:rPr>
              <a:t>是目前</a:t>
            </a:r>
            <a:r>
              <a:rPr lang="zh-CN" altLang="en-US" sz="1800" b="1" dirty="0">
                <a:solidFill>
                  <a:srgbClr val="FF0000"/>
                </a:solidFill>
                <a:latin typeface="Open Sans"/>
              </a:rPr>
              <a:t>主流</a:t>
            </a:r>
            <a:r>
              <a:rPr lang="zh-CN" altLang="en-US" sz="1800" dirty="0">
                <a:solidFill>
                  <a:srgbClr val="333333"/>
                </a:solidFill>
                <a:latin typeface="Open Sans"/>
              </a:rPr>
              <a:t>的持久化方式，不过</a:t>
            </a:r>
            <a:r>
              <a:rPr lang="en-US" altLang="zh-CN" sz="1800" dirty="0">
                <a:solidFill>
                  <a:srgbClr val="333333"/>
                </a:solidFill>
                <a:latin typeface="Open Sans"/>
              </a:rPr>
              <a:t>RDB</a:t>
            </a:r>
            <a:r>
              <a:rPr lang="zh-CN" altLang="en-US" sz="1800" dirty="0">
                <a:solidFill>
                  <a:srgbClr val="333333"/>
                </a:solidFill>
                <a:latin typeface="Open Sans"/>
              </a:rPr>
              <a:t>持久化仍然有其用武之地</a:t>
            </a:r>
            <a:r>
              <a:rPr lang="zh-CN" altLang="en-US" sz="1600" dirty="0">
                <a:solidFill>
                  <a:srgbClr val="333333"/>
                </a:solidFill>
                <a:latin typeface="Open Sans"/>
              </a:rPr>
              <a:t>。</a:t>
            </a:r>
            <a:endParaRPr lang="zh-CN" altLang="en-US" sz="1600" dirty="0">
              <a:solidFill>
                <a:srgbClr val="333333"/>
              </a:solidFill>
              <a:latin typeface="Open Sans"/>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-persistence</a:t>
            </a:r>
            <a:endParaRPr lang="zh-CN" altLang="en-US" kern="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215" y="1604010"/>
            <a:ext cx="8502015" cy="525335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1600" b="0" i="0" dirty="0">
                <a:solidFill>
                  <a:srgbClr val="333333"/>
                </a:solidFill>
                <a:effectLst/>
                <a:latin typeface="Open Sans"/>
              </a:rPr>
              <a:t>Redis </a:t>
            </a:r>
            <a:r>
              <a:rPr lang="zh-CN" altLang="en-US" sz="1600" b="0" i="0" dirty="0">
                <a:solidFill>
                  <a:srgbClr val="333333"/>
                </a:solidFill>
                <a:effectLst/>
                <a:latin typeface="Open Sans"/>
              </a:rPr>
              <a:t>提供了不同级别的持久化方式</a:t>
            </a:r>
            <a:r>
              <a:rPr lang="en-US" altLang="zh-CN" sz="1600" b="0" i="0" dirty="0">
                <a:solidFill>
                  <a:srgbClr val="333333"/>
                </a:solidFill>
                <a:effectLst/>
                <a:latin typeface="Open Sans"/>
              </a:rPr>
              <a:t>:</a:t>
            </a: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r>
              <a:rPr lang="en-US" altLang="zh-CN" sz="1600" b="1" i="0" dirty="0">
                <a:solidFill>
                  <a:srgbClr val="FF0000"/>
                </a:solidFill>
                <a:effectLst/>
                <a:latin typeface="Open Sans"/>
              </a:rPr>
              <a:t>RDB</a:t>
            </a:r>
            <a:r>
              <a:rPr lang="zh-CN" altLang="en-US" sz="1600" b="1" i="0" dirty="0">
                <a:solidFill>
                  <a:srgbClr val="FF0000"/>
                </a:solidFill>
                <a:effectLst/>
                <a:latin typeface="Open Sans"/>
              </a:rPr>
              <a:t>持久化方式</a:t>
            </a:r>
            <a:r>
              <a:rPr lang="zh-CN" altLang="en-US" sz="1600" b="0" i="0" dirty="0">
                <a:solidFill>
                  <a:srgbClr val="333333"/>
                </a:solidFill>
                <a:effectLst/>
                <a:latin typeface="Open Sans"/>
              </a:rPr>
              <a:t>能够在指定的时间间隔能对你的数据进行快照存储</a:t>
            </a:r>
            <a:r>
              <a:rPr lang="en-US" altLang="zh-CN" sz="1600" b="0" i="0" dirty="0">
                <a:solidFill>
                  <a:srgbClr val="333333"/>
                </a:solidFill>
                <a:effectLst/>
                <a:latin typeface="Open Sans"/>
              </a:rPr>
              <a:t>.</a:t>
            </a: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r>
              <a:rPr lang="en-US" altLang="zh-CN" sz="1600" b="1" i="0" dirty="0">
                <a:solidFill>
                  <a:srgbClr val="FF0000"/>
                </a:solidFill>
                <a:effectLst/>
                <a:latin typeface="Open Sans"/>
              </a:rPr>
              <a:t>AOF</a:t>
            </a:r>
            <a:r>
              <a:rPr lang="zh-CN" altLang="en-US" sz="1600" b="1" i="0" dirty="0">
                <a:solidFill>
                  <a:srgbClr val="FF0000"/>
                </a:solidFill>
                <a:effectLst/>
                <a:latin typeface="Open Sans"/>
              </a:rPr>
              <a:t>持久化方式</a:t>
            </a:r>
            <a:r>
              <a:rPr lang="zh-CN" altLang="en-US" sz="1600" b="0" i="0" dirty="0">
                <a:solidFill>
                  <a:srgbClr val="333333"/>
                </a:solidFill>
                <a:effectLst/>
                <a:latin typeface="Open Sans"/>
              </a:rPr>
              <a:t>记录每次对服务器写的操作</a:t>
            </a:r>
            <a:r>
              <a:rPr lang="en-US" altLang="zh-CN" sz="1600" b="0" i="0" dirty="0">
                <a:solidFill>
                  <a:srgbClr val="333333"/>
                </a:solidFill>
                <a:effectLst/>
                <a:latin typeface="Open Sans"/>
              </a:rPr>
              <a:t>,</a:t>
            </a:r>
            <a:r>
              <a:rPr lang="zh-CN" altLang="en-US" sz="1600" b="0" i="0" dirty="0">
                <a:solidFill>
                  <a:srgbClr val="333333"/>
                </a:solidFill>
                <a:effectLst/>
                <a:latin typeface="Open Sans"/>
              </a:rPr>
              <a:t>当服务器重启的时候会重新执行这些命令来恢复原始的数据</a:t>
            </a:r>
            <a:r>
              <a:rPr lang="en-US" altLang="zh-CN" sz="1600" b="0" i="0" dirty="0">
                <a:solidFill>
                  <a:srgbClr val="333333"/>
                </a:solidFill>
                <a:effectLst/>
                <a:latin typeface="Open Sans"/>
              </a:rPr>
              <a:t>,AOF</a:t>
            </a:r>
            <a:r>
              <a:rPr lang="zh-CN" altLang="en-US" sz="1600" b="0" i="0" dirty="0">
                <a:solidFill>
                  <a:srgbClr val="333333"/>
                </a:solidFill>
                <a:effectLst/>
                <a:latin typeface="Open Sans"/>
              </a:rPr>
              <a:t>命令以</a:t>
            </a:r>
            <a:r>
              <a:rPr lang="en-US" altLang="zh-CN" sz="1600" b="0" i="0" dirty="0" err="1">
                <a:solidFill>
                  <a:srgbClr val="333333"/>
                </a:solidFill>
                <a:effectLst/>
                <a:latin typeface="Open Sans"/>
              </a:rPr>
              <a:t>redis</a:t>
            </a:r>
            <a:r>
              <a:rPr lang="zh-CN" altLang="en-US" sz="1600" b="0" i="0" dirty="0">
                <a:solidFill>
                  <a:srgbClr val="333333"/>
                </a:solidFill>
                <a:effectLst/>
                <a:latin typeface="Open Sans"/>
              </a:rPr>
              <a:t>协议追加</a:t>
            </a:r>
            <a:r>
              <a:rPr lang="en-US" altLang="zh-CN" sz="1600" b="0" i="0" dirty="0">
                <a:solidFill>
                  <a:srgbClr val="333333"/>
                </a:solidFill>
                <a:effectLst/>
                <a:latin typeface="Open Sans"/>
              </a:rPr>
              <a:t>.Redis</a:t>
            </a:r>
            <a:r>
              <a:rPr lang="zh-CN" altLang="en-US" sz="1600" b="0" i="0" dirty="0">
                <a:solidFill>
                  <a:srgbClr val="333333"/>
                </a:solidFill>
                <a:effectLst/>
                <a:latin typeface="Open Sans"/>
              </a:rPr>
              <a:t>还能对</a:t>
            </a:r>
            <a:r>
              <a:rPr lang="en-US" altLang="zh-CN" sz="1600" b="0" i="0" dirty="0">
                <a:solidFill>
                  <a:srgbClr val="333333"/>
                </a:solidFill>
                <a:effectLst/>
                <a:latin typeface="Open Sans"/>
              </a:rPr>
              <a:t>AOF</a:t>
            </a:r>
            <a:r>
              <a:rPr lang="zh-CN" altLang="en-US" sz="1600" b="0" i="0" dirty="0">
                <a:solidFill>
                  <a:srgbClr val="333333"/>
                </a:solidFill>
                <a:effectLst/>
                <a:latin typeface="Open Sans"/>
              </a:rPr>
              <a:t>文件进行后台重写</a:t>
            </a:r>
            <a:r>
              <a:rPr lang="en-US" altLang="zh-CN" sz="1600" b="0" i="0" dirty="0">
                <a:solidFill>
                  <a:srgbClr val="333333"/>
                </a:solidFill>
                <a:effectLst/>
                <a:latin typeface="Open Sans"/>
              </a:rPr>
              <a:t>,</a:t>
            </a:r>
            <a:r>
              <a:rPr lang="zh-CN" altLang="en-US" sz="1600" b="0" i="0" dirty="0">
                <a:solidFill>
                  <a:srgbClr val="333333"/>
                </a:solidFill>
                <a:effectLst/>
                <a:latin typeface="Open Sans"/>
              </a:rPr>
              <a:t>使得</a:t>
            </a:r>
            <a:r>
              <a:rPr lang="en-US" altLang="zh-CN" sz="1600" b="0" i="0" dirty="0">
                <a:solidFill>
                  <a:srgbClr val="333333"/>
                </a:solidFill>
                <a:effectLst/>
                <a:latin typeface="Open Sans"/>
              </a:rPr>
              <a:t>AOF</a:t>
            </a:r>
            <a:r>
              <a:rPr lang="zh-CN" altLang="en-US" sz="1600" b="0" i="0" dirty="0">
                <a:solidFill>
                  <a:srgbClr val="333333"/>
                </a:solidFill>
                <a:effectLst/>
                <a:latin typeface="Open Sans"/>
              </a:rPr>
              <a:t>文件的体积不至于过大</a:t>
            </a:r>
            <a:r>
              <a:rPr lang="en-US" altLang="zh-CN" sz="1600" b="0" i="0" dirty="0">
                <a:solidFill>
                  <a:srgbClr val="333333"/>
                </a:solidFill>
                <a:effectLst/>
                <a:latin typeface="Open Sans"/>
              </a:rPr>
              <a:t>.</a:t>
            </a:r>
            <a:r>
              <a:rPr lang="zh-CN" altLang="en-US" sz="1600" dirty="0">
                <a:solidFill>
                  <a:srgbClr val="333333"/>
                </a:solidFill>
                <a:latin typeface="Open Sans"/>
              </a:rPr>
              <a:t>保存每次写的操作到文件末尾</a:t>
            </a: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r>
              <a:rPr lang="zh-CN" altLang="en-US" sz="1600" b="0" i="0" dirty="0">
                <a:solidFill>
                  <a:srgbClr val="333333"/>
                </a:solidFill>
                <a:effectLst/>
                <a:latin typeface="Open Sans"/>
              </a:rPr>
              <a:t>如果你只希望你的数据在服务器运行的时候存在</a:t>
            </a:r>
            <a:r>
              <a:rPr lang="en-US" altLang="zh-CN" sz="1600" b="0" i="0" dirty="0">
                <a:solidFill>
                  <a:srgbClr val="333333"/>
                </a:solidFill>
                <a:effectLst/>
                <a:latin typeface="Open Sans"/>
              </a:rPr>
              <a:t>,</a:t>
            </a:r>
            <a:r>
              <a:rPr lang="zh-CN" altLang="en-US" sz="1600" b="0" i="0" dirty="0">
                <a:solidFill>
                  <a:srgbClr val="333333"/>
                </a:solidFill>
                <a:effectLst/>
                <a:latin typeface="Open Sans"/>
              </a:rPr>
              <a:t>你也可以不使用任何持久化方式</a:t>
            </a:r>
            <a:r>
              <a:rPr lang="en-US" altLang="zh-CN" sz="1600" b="0" i="0" dirty="0">
                <a:solidFill>
                  <a:srgbClr val="333333"/>
                </a:solidFill>
                <a:effectLst/>
                <a:latin typeface="Open Sans"/>
              </a:rPr>
              <a:t>.</a:t>
            </a: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r>
              <a:rPr lang="zh-CN" altLang="en-US" sz="1600" b="1" i="0" dirty="0">
                <a:solidFill>
                  <a:srgbClr val="FF0000"/>
                </a:solidFill>
                <a:effectLst/>
                <a:latin typeface="Open Sans"/>
              </a:rPr>
              <a:t>你也可以同时开启两种持久化方式</a:t>
            </a:r>
            <a:r>
              <a:rPr lang="en-US" altLang="zh-CN" sz="1600" b="0" i="0" dirty="0">
                <a:solidFill>
                  <a:srgbClr val="333333"/>
                </a:solidFill>
                <a:effectLst/>
                <a:latin typeface="Open Sans"/>
              </a:rPr>
              <a:t>, </a:t>
            </a:r>
            <a:r>
              <a:rPr lang="zh-CN" altLang="en-US" sz="1600" b="0" i="0" dirty="0">
                <a:solidFill>
                  <a:srgbClr val="333333"/>
                </a:solidFill>
                <a:effectLst/>
                <a:latin typeface="Open Sans"/>
              </a:rPr>
              <a:t>在这种情况下</a:t>
            </a:r>
            <a:r>
              <a:rPr lang="en-US" altLang="zh-CN" sz="1600" b="0" i="0" dirty="0">
                <a:solidFill>
                  <a:srgbClr val="333333"/>
                </a:solidFill>
                <a:effectLst/>
                <a:latin typeface="Open Sans"/>
              </a:rPr>
              <a:t>, </a:t>
            </a:r>
            <a:r>
              <a:rPr lang="zh-CN" altLang="en-US" sz="1600" b="0" i="0" dirty="0">
                <a:solidFill>
                  <a:srgbClr val="333333"/>
                </a:solidFill>
                <a:effectLst/>
                <a:latin typeface="Open Sans"/>
              </a:rPr>
              <a:t>当</a:t>
            </a:r>
            <a:r>
              <a:rPr lang="en-US" altLang="zh-CN" sz="1600" b="0" i="0" dirty="0" err="1">
                <a:solidFill>
                  <a:srgbClr val="333333"/>
                </a:solidFill>
                <a:effectLst/>
                <a:latin typeface="Open Sans"/>
              </a:rPr>
              <a:t>redis</a:t>
            </a:r>
            <a:r>
              <a:rPr lang="zh-CN" altLang="en-US" sz="1600" b="0" i="0" dirty="0">
                <a:solidFill>
                  <a:srgbClr val="333333"/>
                </a:solidFill>
                <a:effectLst/>
                <a:latin typeface="Open Sans"/>
              </a:rPr>
              <a:t>重启的时候会优先载入</a:t>
            </a:r>
            <a:r>
              <a:rPr lang="en-US" altLang="zh-CN" sz="1600" b="0" i="0" dirty="0">
                <a:solidFill>
                  <a:srgbClr val="333333"/>
                </a:solidFill>
                <a:effectLst/>
                <a:latin typeface="Open Sans"/>
              </a:rPr>
              <a:t>AOF</a:t>
            </a:r>
            <a:r>
              <a:rPr lang="zh-CN" altLang="en-US" sz="1600" b="0" i="0" dirty="0">
                <a:solidFill>
                  <a:srgbClr val="333333"/>
                </a:solidFill>
                <a:effectLst/>
                <a:latin typeface="Open Sans"/>
              </a:rPr>
              <a:t>文件来恢复原始的数据</a:t>
            </a:r>
            <a:r>
              <a:rPr lang="en-US" altLang="zh-CN" sz="1600" b="0" i="0" dirty="0">
                <a:solidFill>
                  <a:srgbClr val="333333"/>
                </a:solidFill>
                <a:effectLst/>
                <a:latin typeface="Open Sans"/>
              </a:rPr>
              <a:t>,</a:t>
            </a:r>
            <a:r>
              <a:rPr lang="zh-CN" altLang="en-US" sz="1600" b="0" i="0" dirty="0">
                <a:solidFill>
                  <a:srgbClr val="333333"/>
                </a:solidFill>
                <a:effectLst/>
                <a:latin typeface="Open Sans"/>
              </a:rPr>
              <a:t>因为在通常情况下</a:t>
            </a:r>
            <a:r>
              <a:rPr lang="en-US" altLang="zh-CN" sz="1600" b="0" i="0" dirty="0">
                <a:solidFill>
                  <a:srgbClr val="333333"/>
                </a:solidFill>
                <a:effectLst/>
                <a:latin typeface="Open Sans"/>
              </a:rPr>
              <a:t>AOF</a:t>
            </a:r>
            <a:r>
              <a:rPr lang="zh-CN" altLang="en-US" sz="1600" b="0" i="0" dirty="0">
                <a:solidFill>
                  <a:srgbClr val="333333"/>
                </a:solidFill>
                <a:effectLst/>
                <a:latin typeface="Open Sans"/>
              </a:rPr>
              <a:t>文件保存的数据集要比</a:t>
            </a:r>
            <a:r>
              <a:rPr lang="en-US" altLang="zh-CN" sz="1600" b="0" i="0" dirty="0">
                <a:solidFill>
                  <a:srgbClr val="333333"/>
                </a:solidFill>
                <a:effectLst/>
                <a:latin typeface="Open Sans"/>
              </a:rPr>
              <a:t>RDB</a:t>
            </a:r>
            <a:r>
              <a:rPr lang="zh-CN" altLang="en-US" sz="1600" b="0" i="0" dirty="0">
                <a:solidFill>
                  <a:srgbClr val="333333"/>
                </a:solidFill>
                <a:effectLst/>
                <a:latin typeface="Open Sans"/>
              </a:rPr>
              <a:t>文件保存的数据集要完整</a:t>
            </a:r>
            <a:r>
              <a:rPr lang="en-US" altLang="zh-CN" sz="1600" b="0" i="0" dirty="0">
                <a:solidFill>
                  <a:srgbClr val="333333"/>
                </a:solidFill>
                <a:effectLst/>
                <a:latin typeface="Open Sans"/>
              </a:rPr>
              <a:t>.</a:t>
            </a: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endParaRPr lang="en-US" altLang="zh-CN" sz="1600" b="0" i="0" dirty="0">
              <a:solidFill>
                <a:srgbClr val="333333"/>
              </a:solidFill>
              <a:effectLst/>
              <a:latin typeface="Open Sans"/>
            </a:endParaRPr>
          </a:p>
          <a:p>
            <a:pPr algn="l">
              <a:lnSpc>
                <a:spcPct val="120000"/>
              </a:lnSpc>
              <a:buFont typeface="Arial" panose="020B0604020202020204" pitchFamily="34" charset="0"/>
              <a:buChar char="•"/>
            </a:pPr>
            <a:r>
              <a:rPr lang="zh-CN" altLang="en-US" sz="1600" b="1" i="0" dirty="0">
                <a:solidFill>
                  <a:srgbClr val="333333"/>
                </a:solidFill>
                <a:effectLst/>
                <a:latin typeface="Open Sans"/>
              </a:rPr>
              <a:t>最重要的事情是了解</a:t>
            </a:r>
            <a:r>
              <a:rPr lang="en-US" altLang="zh-CN" sz="1600" b="1" i="0" dirty="0">
                <a:solidFill>
                  <a:srgbClr val="333333"/>
                </a:solidFill>
                <a:effectLst/>
                <a:latin typeface="Open Sans"/>
              </a:rPr>
              <a:t>RDB</a:t>
            </a:r>
            <a:r>
              <a:rPr lang="zh-CN" altLang="en-US" sz="1600" b="1" i="0" dirty="0">
                <a:solidFill>
                  <a:srgbClr val="333333"/>
                </a:solidFill>
                <a:effectLst/>
                <a:latin typeface="Open Sans"/>
              </a:rPr>
              <a:t>和</a:t>
            </a:r>
            <a:r>
              <a:rPr lang="en-US" altLang="zh-CN" sz="1600" b="1" i="0" dirty="0">
                <a:solidFill>
                  <a:srgbClr val="333333"/>
                </a:solidFill>
                <a:effectLst/>
                <a:latin typeface="Open Sans"/>
              </a:rPr>
              <a:t>AOF</a:t>
            </a:r>
            <a:r>
              <a:rPr lang="zh-CN" altLang="en-US" sz="1600" b="1" i="0" dirty="0">
                <a:solidFill>
                  <a:srgbClr val="333333"/>
                </a:solidFill>
                <a:effectLst/>
                <a:latin typeface="Open Sans"/>
              </a:rPr>
              <a:t>持久化方式的不同</a:t>
            </a:r>
            <a:endParaRPr lang="zh-CN" altLang="en-US" sz="1600" b="1" i="0" dirty="0">
              <a:solidFill>
                <a:srgbClr val="333333"/>
              </a:solidFill>
              <a:effectLst/>
              <a:latin typeface="Open Sans"/>
            </a:endParaRPr>
          </a:p>
        </p:txBody>
      </p:sp>
      <p:sp>
        <p:nvSpPr>
          <p:cNvPr id="6" name="Rectangle 2"/>
          <p:cNvSpPr txBox="1">
            <a:spLocks noChangeArrowheads="1"/>
          </p:cNvSpPr>
          <p:nvPr/>
        </p:nvSpPr>
        <p:spPr>
          <a:xfrm>
            <a:off x="509118" y="450265"/>
            <a:ext cx="8443106" cy="89501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-persistence</a:t>
            </a:r>
            <a:endParaRPr lang="zh-CN" altLang="en-US" kern="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2056595"/>
            <a:ext cx="8501717" cy="4219917"/>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5000"/>
              </a:lnSpc>
            </a:pPr>
            <a:r>
              <a:rPr lang="en-US" altLang="zh-CN" sz="1600" dirty="0">
                <a:solidFill>
                  <a:srgbClr val="333333"/>
                </a:solidFill>
                <a:latin typeface="Open Sans"/>
              </a:rPr>
              <a:t>RDB</a:t>
            </a:r>
            <a:r>
              <a:rPr lang="zh-CN" altLang="en-US" sz="1600" dirty="0">
                <a:solidFill>
                  <a:srgbClr val="333333"/>
                </a:solidFill>
                <a:latin typeface="Open Sans"/>
              </a:rPr>
              <a:t>是</a:t>
            </a:r>
            <a:r>
              <a:rPr lang="en-US" altLang="zh-CN" sz="1600" dirty="0">
                <a:solidFill>
                  <a:srgbClr val="333333"/>
                </a:solidFill>
                <a:latin typeface="Open Sans"/>
              </a:rPr>
              <a:t>Redis </a:t>
            </a:r>
            <a:r>
              <a:rPr lang="zh-CN" altLang="en-US" sz="1600" dirty="0">
                <a:solidFill>
                  <a:srgbClr val="333333"/>
                </a:solidFill>
                <a:latin typeface="Open Sans"/>
              </a:rPr>
              <a:t>默认的持久化方案。在指定的</a:t>
            </a:r>
            <a:r>
              <a:rPr lang="zh-CN" altLang="en-US" sz="1600" b="1" dirty="0">
                <a:solidFill>
                  <a:srgbClr val="FF0000"/>
                </a:solidFill>
                <a:latin typeface="Open Sans"/>
              </a:rPr>
              <a:t>时间间隔内</a:t>
            </a:r>
            <a:r>
              <a:rPr lang="zh-CN" altLang="en-US" sz="1600" dirty="0">
                <a:solidFill>
                  <a:srgbClr val="333333"/>
                </a:solidFill>
                <a:latin typeface="Open Sans"/>
              </a:rPr>
              <a:t>，执行指定次数的写操作，则会将内存中的数据写入到磁盘中。即在指定目录下生成一个</a:t>
            </a:r>
            <a:r>
              <a:rPr lang="en-US" altLang="zh-CN" sz="1600" dirty="0" err="1">
                <a:solidFill>
                  <a:srgbClr val="333333"/>
                </a:solidFill>
                <a:latin typeface="Open Sans"/>
              </a:rPr>
              <a:t>dump.rdb</a:t>
            </a:r>
            <a:r>
              <a:rPr lang="zh-CN" altLang="en-US" sz="1600" dirty="0">
                <a:solidFill>
                  <a:srgbClr val="333333"/>
                </a:solidFill>
                <a:latin typeface="Open Sans"/>
              </a:rPr>
              <a:t>文件。</a:t>
            </a:r>
            <a:r>
              <a:rPr lang="en-US" altLang="zh-CN" sz="1600" dirty="0">
                <a:solidFill>
                  <a:srgbClr val="333333"/>
                </a:solidFill>
                <a:latin typeface="Open Sans"/>
              </a:rPr>
              <a:t>Redis </a:t>
            </a:r>
            <a:r>
              <a:rPr lang="zh-CN" altLang="en-US" sz="1600" dirty="0">
                <a:solidFill>
                  <a:srgbClr val="333333"/>
                </a:solidFill>
                <a:latin typeface="Open Sans"/>
              </a:rPr>
              <a:t>重启会通过加载</a:t>
            </a:r>
            <a:r>
              <a:rPr lang="en-US" altLang="zh-CN" sz="1600" dirty="0" err="1">
                <a:solidFill>
                  <a:srgbClr val="333333"/>
                </a:solidFill>
                <a:latin typeface="Open Sans"/>
              </a:rPr>
              <a:t>dump.rdb</a:t>
            </a:r>
            <a:r>
              <a:rPr lang="zh-CN" altLang="en-US" sz="1600" dirty="0">
                <a:solidFill>
                  <a:srgbClr val="333333"/>
                </a:solidFill>
                <a:latin typeface="Open Sans"/>
              </a:rPr>
              <a:t>文件恢复数据。（</a:t>
            </a:r>
            <a:r>
              <a:rPr lang="en-US" altLang="zh-CN" sz="1600" dirty="0">
                <a:solidFill>
                  <a:srgbClr val="333333"/>
                </a:solidFill>
                <a:latin typeface="Open Sans"/>
              </a:rPr>
              <a:t>/var/lib/redis/6379</a:t>
            </a:r>
            <a:r>
              <a:rPr lang="zh-CN" altLang="en-US" sz="1600" dirty="0">
                <a:solidFill>
                  <a:srgbClr val="333333"/>
                </a:solidFill>
                <a:latin typeface="Open Sans"/>
              </a:rPr>
              <a:t>）</a:t>
            </a:r>
            <a:endParaRPr lang="en-US" altLang="zh-CN" sz="1600" dirty="0">
              <a:solidFill>
                <a:srgbClr val="333333"/>
              </a:solidFill>
              <a:latin typeface="Open Sans"/>
            </a:endParaRPr>
          </a:p>
          <a:p>
            <a:pPr algn="l"/>
            <a:endParaRPr lang="en-US" altLang="zh-CN" sz="2000" b="1" dirty="0">
              <a:solidFill>
                <a:srgbClr val="FF0000"/>
              </a:solidFill>
              <a:latin typeface="Open Sans"/>
            </a:endParaRPr>
          </a:p>
          <a:p>
            <a:pPr algn="l"/>
            <a:r>
              <a:rPr lang="zh-CN" altLang="en-US" sz="2000" b="1" dirty="0">
                <a:solidFill>
                  <a:srgbClr val="FF0000"/>
                </a:solidFill>
                <a:latin typeface="Open Sans"/>
              </a:rPr>
              <a:t>触发</a:t>
            </a:r>
            <a:r>
              <a:rPr lang="en-US" altLang="zh-CN" sz="2000" b="1" dirty="0">
                <a:solidFill>
                  <a:srgbClr val="FF0000"/>
                </a:solidFill>
                <a:latin typeface="Open Sans"/>
              </a:rPr>
              <a:t>RDB</a:t>
            </a:r>
            <a:r>
              <a:rPr lang="zh-CN" altLang="en-US" sz="2000" b="1" dirty="0">
                <a:solidFill>
                  <a:srgbClr val="FF0000"/>
                </a:solidFill>
                <a:latin typeface="Open Sans"/>
              </a:rPr>
              <a:t>快照</a:t>
            </a:r>
            <a:endParaRPr lang="en-US" altLang="zh-CN" sz="2000" b="1" dirty="0">
              <a:solidFill>
                <a:srgbClr val="FF0000"/>
              </a:solidFill>
              <a:latin typeface="Open Sans"/>
            </a:endParaRPr>
          </a:p>
          <a:p>
            <a:pPr algn="l"/>
            <a:endParaRPr lang="zh-CN" altLang="en-US" sz="2000" b="1" dirty="0">
              <a:solidFill>
                <a:srgbClr val="FF0000"/>
              </a:solidFill>
              <a:latin typeface="Open Sans"/>
            </a:endParaRPr>
          </a:p>
          <a:p>
            <a:pPr algn="l">
              <a:lnSpc>
                <a:spcPct val="125000"/>
              </a:lnSpc>
            </a:pPr>
            <a:r>
              <a:rPr lang="en-US" altLang="zh-CN" sz="1600" dirty="0">
                <a:solidFill>
                  <a:srgbClr val="333333"/>
                </a:solidFill>
                <a:latin typeface="Open Sans"/>
              </a:rPr>
              <a:t>1 </a:t>
            </a:r>
            <a:r>
              <a:rPr lang="zh-CN" altLang="en-US" sz="1600" dirty="0">
                <a:solidFill>
                  <a:srgbClr val="FF0000"/>
                </a:solidFill>
                <a:latin typeface="Open Sans"/>
              </a:rPr>
              <a:t>在指定的时间间隔内，执行指定次数的写操作</a:t>
            </a:r>
            <a:br>
              <a:rPr lang="zh-CN" altLang="en-US" sz="1600" dirty="0">
                <a:solidFill>
                  <a:srgbClr val="333333"/>
                </a:solidFill>
                <a:latin typeface="Open Sans"/>
              </a:rPr>
            </a:br>
            <a:r>
              <a:rPr lang="en-US" altLang="zh-CN" sz="1600" dirty="0">
                <a:solidFill>
                  <a:srgbClr val="333333"/>
                </a:solidFill>
                <a:latin typeface="Open Sans"/>
              </a:rPr>
              <a:t>2 </a:t>
            </a:r>
            <a:r>
              <a:rPr lang="zh-CN" altLang="en-US" sz="1600" dirty="0">
                <a:solidFill>
                  <a:srgbClr val="333333"/>
                </a:solidFill>
                <a:latin typeface="Open Sans"/>
              </a:rPr>
              <a:t>执行</a:t>
            </a:r>
            <a:r>
              <a:rPr lang="en-US" altLang="zh-CN" sz="1600" dirty="0">
                <a:solidFill>
                  <a:srgbClr val="333333"/>
                </a:solidFill>
                <a:latin typeface="Open Sans"/>
              </a:rPr>
              <a:t>save</a:t>
            </a:r>
            <a:r>
              <a:rPr lang="zh-CN" altLang="en-US" sz="1600" dirty="0">
                <a:solidFill>
                  <a:srgbClr val="333333"/>
                </a:solidFill>
                <a:latin typeface="Open Sans"/>
              </a:rPr>
              <a:t>（阻塞， 只管保存快照，其他的等待） 或者是</a:t>
            </a:r>
            <a:r>
              <a:rPr lang="en-US" altLang="zh-CN" sz="1600" dirty="0" err="1">
                <a:solidFill>
                  <a:srgbClr val="333333"/>
                </a:solidFill>
                <a:latin typeface="Open Sans"/>
              </a:rPr>
              <a:t>bgsave</a:t>
            </a:r>
            <a:r>
              <a:rPr lang="en-US" altLang="zh-CN" sz="1600" dirty="0">
                <a:solidFill>
                  <a:srgbClr val="333333"/>
                </a:solidFill>
                <a:latin typeface="Open Sans"/>
              </a:rPr>
              <a:t> </a:t>
            </a:r>
            <a:r>
              <a:rPr lang="zh-CN" altLang="en-US" sz="1600" dirty="0">
                <a:solidFill>
                  <a:srgbClr val="333333"/>
                </a:solidFill>
                <a:latin typeface="Open Sans"/>
              </a:rPr>
              <a:t>（异步）命令</a:t>
            </a:r>
            <a:br>
              <a:rPr lang="zh-CN" altLang="en-US" sz="1600" dirty="0">
                <a:solidFill>
                  <a:srgbClr val="333333"/>
                </a:solidFill>
                <a:latin typeface="Open Sans"/>
              </a:rPr>
            </a:br>
            <a:r>
              <a:rPr lang="en-US" altLang="zh-CN" sz="1600" dirty="0">
                <a:solidFill>
                  <a:srgbClr val="333333"/>
                </a:solidFill>
                <a:latin typeface="Open Sans"/>
              </a:rPr>
              <a:t>3 </a:t>
            </a:r>
            <a:r>
              <a:rPr lang="zh-CN" altLang="en-US" sz="1600" dirty="0">
                <a:solidFill>
                  <a:srgbClr val="333333"/>
                </a:solidFill>
                <a:latin typeface="Open Sans"/>
              </a:rPr>
              <a:t>执行</a:t>
            </a:r>
            <a:r>
              <a:rPr lang="en-US" altLang="zh-CN" sz="1600" dirty="0" err="1">
                <a:solidFill>
                  <a:srgbClr val="333333"/>
                </a:solidFill>
                <a:latin typeface="Open Sans"/>
              </a:rPr>
              <a:t>flushall</a:t>
            </a:r>
            <a:r>
              <a:rPr lang="en-US" altLang="zh-CN" sz="1600" dirty="0">
                <a:solidFill>
                  <a:srgbClr val="333333"/>
                </a:solidFill>
                <a:latin typeface="Open Sans"/>
              </a:rPr>
              <a:t> </a:t>
            </a:r>
            <a:r>
              <a:rPr lang="zh-CN" altLang="en-US" sz="1600" dirty="0">
                <a:solidFill>
                  <a:srgbClr val="333333"/>
                </a:solidFill>
                <a:latin typeface="Open Sans"/>
              </a:rPr>
              <a:t>命令，清空数据库所有数据，意义不大</a:t>
            </a:r>
            <a:br>
              <a:rPr lang="zh-CN" altLang="en-US" sz="1600" dirty="0">
                <a:solidFill>
                  <a:srgbClr val="333333"/>
                </a:solidFill>
                <a:latin typeface="Open Sans"/>
              </a:rPr>
            </a:br>
            <a:r>
              <a:rPr lang="en-US" altLang="zh-CN" sz="1600" dirty="0">
                <a:solidFill>
                  <a:srgbClr val="333333"/>
                </a:solidFill>
                <a:latin typeface="Open Sans"/>
              </a:rPr>
              <a:t>4 </a:t>
            </a:r>
            <a:r>
              <a:rPr lang="zh-CN" altLang="en-US" sz="1600" dirty="0">
                <a:solidFill>
                  <a:srgbClr val="333333"/>
                </a:solidFill>
                <a:latin typeface="Open Sans"/>
              </a:rPr>
              <a:t>执行</a:t>
            </a:r>
            <a:r>
              <a:rPr lang="en-US" altLang="zh-CN" sz="1600" dirty="0">
                <a:solidFill>
                  <a:srgbClr val="333333"/>
                </a:solidFill>
                <a:latin typeface="Open Sans"/>
              </a:rPr>
              <a:t>shutdown </a:t>
            </a:r>
            <a:r>
              <a:rPr lang="zh-CN" altLang="en-US" sz="1600" dirty="0">
                <a:solidFill>
                  <a:srgbClr val="333333"/>
                </a:solidFill>
                <a:latin typeface="Open Sans"/>
              </a:rPr>
              <a:t>命令，保证服务器正常关闭且不丢失任何数据，意义不大。</a:t>
            </a:r>
            <a:endParaRPr lang="zh-CN" altLang="en-US" sz="1600" dirty="0">
              <a:solidFill>
                <a:srgbClr val="333333"/>
              </a:solidFill>
              <a:latin typeface="Open Sans"/>
            </a:endParaRPr>
          </a:p>
          <a:p>
            <a:pPr algn="l"/>
            <a:endParaRPr lang="en-US" altLang="zh-CN" sz="1600" dirty="0">
              <a:solidFill>
                <a:srgbClr val="333333"/>
              </a:solidFill>
              <a:latin typeface="Open Sans"/>
            </a:endParaRPr>
          </a:p>
          <a:p>
            <a:pPr algn="l">
              <a:lnSpc>
                <a:spcPct val="120000"/>
              </a:lnSpc>
            </a:pPr>
            <a:endParaRPr lang="en-US" altLang="zh-CN" sz="1600" dirty="0">
              <a:solidFill>
                <a:srgbClr val="333333"/>
              </a:solidFill>
              <a:latin typeface="Open Sans"/>
            </a:endParaRPr>
          </a:p>
          <a:p>
            <a:pPr algn="l">
              <a:lnSpc>
                <a:spcPct val="120000"/>
              </a:lnSpc>
            </a:pPr>
            <a:endParaRPr lang="zh-CN" altLang="en-US" sz="1600" b="1" i="0" dirty="0">
              <a:solidFill>
                <a:srgbClr val="333333"/>
              </a:solidFill>
              <a:effectLst/>
              <a:latin typeface="Open Sans"/>
            </a:endParaRPr>
          </a:p>
        </p:txBody>
      </p:sp>
      <p:sp>
        <p:nvSpPr>
          <p:cNvPr id="6" name="Rectangle 2"/>
          <p:cNvSpPr txBox="1">
            <a:spLocks noChangeArrowheads="1"/>
          </p:cNvSpPr>
          <p:nvPr/>
        </p:nvSpPr>
        <p:spPr>
          <a:xfrm>
            <a:off x="509118" y="450265"/>
            <a:ext cx="8443106" cy="131639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-RDB</a:t>
            </a:r>
            <a:r>
              <a:rPr lang="zh-CN" altLang="en-US" kern="0" dirty="0"/>
              <a:t>方式</a:t>
            </a:r>
            <a:endParaRPr lang="en-US" altLang="zh-CN" kern="0" dirty="0"/>
          </a:p>
          <a:p>
            <a:pPr eaLnBrk="1" hangingPunct="1"/>
            <a:r>
              <a:rPr lang="en-US" altLang="zh-CN" sz="4000" i="0" dirty="0">
                <a:solidFill>
                  <a:srgbClr val="333333"/>
                </a:solidFill>
                <a:effectLst/>
                <a:latin typeface="Open Sans"/>
              </a:rPr>
              <a:t>RDB-Redis </a:t>
            </a:r>
            <a:r>
              <a:rPr lang="en-US" altLang="zh-CN" sz="4000" i="0" dirty="0" err="1">
                <a:solidFill>
                  <a:srgbClr val="333333"/>
                </a:solidFill>
                <a:effectLst/>
                <a:latin typeface="Open Sans"/>
              </a:rPr>
              <a:t>DataBase</a:t>
            </a:r>
            <a:endParaRPr lang="en-US" altLang="zh-CN" sz="4000" i="0" dirty="0">
              <a:solidFill>
                <a:srgbClr val="333333"/>
              </a:solidFill>
              <a:effectLst/>
              <a:latin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300990" y="1649095"/>
            <a:ext cx="9218295" cy="480695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r>
              <a:rPr lang="en-US" altLang="zh-CN" sz="2000" b="1" dirty="0">
                <a:solidFill>
                  <a:srgbClr val="FF0000"/>
                </a:solidFill>
                <a:latin typeface="Open Sans"/>
              </a:rPr>
              <a:t>RDB</a:t>
            </a:r>
            <a:r>
              <a:rPr lang="zh-CN" altLang="en-US" sz="2000" b="1" dirty="0">
                <a:solidFill>
                  <a:srgbClr val="FF0000"/>
                </a:solidFill>
                <a:latin typeface="Open Sans"/>
              </a:rPr>
              <a:t>方式的优点</a:t>
            </a:r>
            <a:endParaRPr lang="en-US" altLang="zh-CN" sz="2000" b="1" dirty="0">
              <a:solidFill>
                <a:srgbClr val="FF0000"/>
              </a:solidFill>
              <a:latin typeface="Open Sans"/>
            </a:endParaRPr>
          </a:p>
          <a:p>
            <a:pPr algn="l">
              <a:lnSpc>
                <a:spcPct val="120000"/>
              </a:lnSpc>
            </a:pPr>
            <a:br>
              <a:rPr lang="zh-CN" altLang="en-US" sz="1600" dirty="0">
                <a:solidFill>
                  <a:srgbClr val="333333"/>
                </a:solidFill>
                <a:latin typeface="Open Sans"/>
              </a:rPr>
            </a:br>
            <a:r>
              <a:rPr lang="en-US" altLang="zh-CN" sz="1800" dirty="0">
                <a:solidFill>
                  <a:srgbClr val="333333"/>
                </a:solidFill>
                <a:latin typeface="Open Sans"/>
              </a:rPr>
              <a:t>1 </a:t>
            </a:r>
            <a:r>
              <a:rPr lang="zh-CN" altLang="en-US" sz="1800" dirty="0">
                <a:solidFill>
                  <a:srgbClr val="333333"/>
                </a:solidFill>
                <a:latin typeface="Open Sans"/>
              </a:rPr>
              <a:t>适合大规模的数据恢复，与</a:t>
            </a:r>
            <a:r>
              <a:rPr lang="en-US" altLang="zh-CN" sz="1800" dirty="0">
                <a:solidFill>
                  <a:srgbClr val="333333"/>
                </a:solidFill>
                <a:latin typeface="Open Sans"/>
              </a:rPr>
              <a:t>AOF</a:t>
            </a:r>
            <a:r>
              <a:rPr lang="zh-CN" altLang="en-US" sz="1800" dirty="0">
                <a:solidFill>
                  <a:srgbClr val="333333"/>
                </a:solidFill>
                <a:latin typeface="Open Sans"/>
              </a:rPr>
              <a:t>相比</a:t>
            </a:r>
            <a:r>
              <a:rPr lang="en-US" altLang="zh-CN" sz="1800" dirty="0">
                <a:solidFill>
                  <a:srgbClr val="333333"/>
                </a:solidFill>
                <a:latin typeface="Open Sans"/>
              </a:rPr>
              <a:t>,</a:t>
            </a:r>
            <a:r>
              <a:rPr lang="zh-CN" altLang="en-US" sz="1800" dirty="0">
                <a:solidFill>
                  <a:srgbClr val="333333"/>
                </a:solidFill>
                <a:latin typeface="Open Sans"/>
              </a:rPr>
              <a:t>在恢复大的数据集的时候，</a:t>
            </a:r>
            <a:r>
              <a:rPr lang="en-US" altLang="zh-CN" sz="1800" dirty="0">
                <a:solidFill>
                  <a:srgbClr val="333333"/>
                </a:solidFill>
                <a:latin typeface="Open Sans"/>
              </a:rPr>
              <a:t>RDB</a:t>
            </a:r>
            <a:r>
              <a:rPr lang="zh-CN" altLang="en-US" sz="1800" dirty="0">
                <a:solidFill>
                  <a:srgbClr val="333333"/>
                </a:solidFill>
                <a:latin typeface="Open Sans"/>
              </a:rPr>
              <a:t>方式会更快一些</a:t>
            </a:r>
            <a:br>
              <a:rPr lang="zh-CN" altLang="en-US" sz="1800" dirty="0">
                <a:solidFill>
                  <a:srgbClr val="333333"/>
                </a:solidFill>
                <a:latin typeface="Open Sans"/>
              </a:rPr>
            </a:br>
            <a:r>
              <a:rPr lang="en-US" altLang="zh-CN" sz="1800" dirty="0">
                <a:solidFill>
                  <a:srgbClr val="333333"/>
                </a:solidFill>
                <a:latin typeface="Open Sans"/>
              </a:rPr>
              <a:t>2 </a:t>
            </a:r>
            <a:r>
              <a:rPr lang="zh-CN" altLang="en-US" sz="1800" dirty="0">
                <a:solidFill>
                  <a:srgbClr val="333333"/>
                </a:solidFill>
                <a:latin typeface="Open Sans"/>
              </a:rPr>
              <a:t>如果业务对数据完整性和一致性要求不高，</a:t>
            </a:r>
            <a:r>
              <a:rPr lang="en-US" altLang="zh-CN" sz="1800" dirty="0">
                <a:solidFill>
                  <a:srgbClr val="333333"/>
                </a:solidFill>
                <a:latin typeface="Open Sans"/>
              </a:rPr>
              <a:t>RDB</a:t>
            </a:r>
            <a:r>
              <a:rPr lang="zh-CN" altLang="en-US" sz="1800" dirty="0">
                <a:solidFill>
                  <a:srgbClr val="333333"/>
                </a:solidFill>
                <a:latin typeface="Open Sans"/>
              </a:rPr>
              <a:t>是很好的选择。</a:t>
            </a:r>
            <a:endParaRPr lang="en-US" altLang="zh-CN" sz="1600" dirty="0">
              <a:solidFill>
                <a:srgbClr val="333333"/>
              </a:solidFill>
              <a:latin typeface="Open Sans"/>
            </a:endParaRPr>
          </a:p>
          <a:p>
            <a:pPr algn="l"/>
            <a:endParaRPr lang="en-US" altLang="zh-CN" sz="1600" dirty="0">
              <a:solidFill>
                <a:srgbClr val="333333"/>
              </a:solidFill>
              <a:latin typeface="Open Sans"/>
            </a:endParaRPr>
          </a:p>
          <a:p>
            <a:pPr algn="l"/>
            <a:r>
              <a:rPr lang="en-US" altLang="zh-CN" sz="2000" b="1" dirty="0">
                <a:solidFill>
                  <a:srgbClr val="FF0000"/>
                </a:solidFill>
                <a:latin typeface="Open Sans"/>
              </a:rPr>
              <a:t>RDB</a:t>
            </a:r>
            <a:r>
              <a:rPr lang="zh-CN" altLang="en-US" sz="2000" b="1" dirty="0">
                <a:solidFill>
                  <a:srgbClr val="FF0000"/>
                </a:solidFill>
                <a:latin typeface="Open Sans"/>
              </a:rPr>
              <a:t>方式的缺点</a:t>
            </a:r>
            <a:endParaRPr lang="en-US" altLang="zh-CN" sz="2000" b="1" dirty="0">
              <a:solidFill>
                <a:srgbClr val="FF0000"/>
              </a:solidFill>
              <a:latin typeface="Open Sans"/>
            </a:endParaRPr>
          </a:p>
          <a:p>
            <a:pPr algn="l">
              <a:lnSpc>
                <a:spcPct val="120000"/>
              </a:lnSpc>
            </a:pPr>
            <a:br>
              <a:rPr lang="zh-CN" altLang="en-US" sz="2000" b="1" dirty="0">
                <a:solidFill>
                  <a:srgbClr val="FF0000"/>
                </a:solidFill>
                <a:latin typeface="Open Sans"/>
              </a:rPr>
            </a:br>
            <a:r>
              <a:rPr lang="en-US" altLang="zh-CN" sz="1800" dirty="0">
                <a:solidFill>
                  <a:srgbClr val="333333"/>
                </a:solidFill>
                <a:latin typeface="Open Sans"/>
              </a:rPr>
              <a:t>1 </a:t>
            </a:r>
            <a:r>
              <a:rPr lang="zh-CN" altLang="en-US" sz="1800" dirty="0">
                <a:solidFill>
                  <a:srgbClr val="333333"/>
                </a:solidFill>
                <a:latin typeface="Open Sans"/>
              </a:rPr>
              <a:t>数据的完整性和一致性不高，因为</a:t>
            </a:r>
            <a:r>
              <a:rPr lang="en-US" altLang="zh-CN" sz="1800" dirty="0">
                <a:solidFill>
                  <a:srgbClr val="333333"/>
                </a:solidFill>
                <a:latin typeface="Open Sans"/>
              </a:rPr>
              <a:t>RDB</a:t>
            </a:r>
            <a:r>
              <a:rPr lang="zh-CN" altLang="en-US" sz="1800" dirty="0">
                <a:solidFill>
                  <a:srgbClr val="333333"/>
                </a:solidFill>
                <a:latin typeface="Open Sans"/>
              </a:rPr>
              <a:t>可能在最后一次备份时宕机了。</a:t>
            </a:r>
            <a:br>
              <a:rPr lang="zh-CN" altLang="en-US" sz="1800" dirty="0">
                <a:solidFill>
                  <a:srgbClr val="333333"/>
                </a:solidFill>
                <a:latin typeface="Open Sans"/>
              </a:rPr>
            </a:br>
            <a:r>
              <a:rPr lang="en-US" altLang="zh-CN" sz="1800" dirty="0">
                <a:solidFill>
                  <a:srgbClr val="333333"/>
                </a:solidFill>
                <a:latin typeface="Open Sans"/>
              </a:rPr>
              <a:t>2 </a:t>
            </a:r>
            <a:r>
              <a:rPr lang="zh-CN" altLang="en-US" sz="1800" dirty="0">
                <a:solidFill>
                  <a:srgbClr val="333333"/>
                </a:solidFill>
                <a:latin typeface="Open Sans"/>
              </a:rPr>
              <a:t>备份时占用内存，因为</a:t>
            </a:r>
            <a:r>
              <a:rPr lang="en-US" altLang="zh-CN" sz="1800" dirty="0">
                <a:solidFill>
                  <a:srgbClr val="333333"/>
                </a:solidFill>
                <a:latin typeface="Open Sans"/>
              </a:rPr>
              <a:t>Redis </a:t>
            </a:r>
            <a:r>
              <a:rPr lang="zh-CN" altLang="en-US" sz="1800" dirty="0">
                <a:solidFill>
                  <a:srgbClr val="333333"/>
                </a:solidFill>
                <a:latin typeface="Open Sans"/>
              </a:rPr>
              <a:t>在备份时会独立创建一个</a:t>
            </a:r>
            <a:r>
              <a:rPr lang="en-US" altLang="zh-CN" sz="1800" dirty="0">
                <a:solidFill>
                  <a:srgbClr val="FF0000"/>
                </a:solidFill>
                <a:latin typeface="Open Sans"/>
              </a:rPr>
              <a:t>fork</a:t>
            </a:r>
            <a:r>
              <a:rPr lang="zh-CN" altLang="en-US" sz="1800" dirty="0">
                <a:solidFill>
                  <a:srgbClr val="333333"/>
                </a:solidFill>
                <a:latin typeface="Open Sans"/>
              </a:rPr>
              <a:t>子进程，将数据写入到一个临时文件（此时内存中的数据是原来的两倍哦），最后再将临时文件替换之前的备份文件。</a:t>
            </a:r>
            <a:br>
              <a:rPr lang="zh-CN" altLang="en-US" sz="1800" dirty="0">
                <a:solidFill>
                  <a:srgbClr val="333333"/>
                </a:solidFill>
                <a:latin typeface="Open Sans"/>
              </a:rPr>
            </a:br>
            <a:r>
              <a:rPr lang="zh-CN" altLang="en-US" sz="1800" dirty="0">
                <a:solidFill>
                  <a:srgbClr val="333333"/>
                </a:solidFill>
                <a:latin typeface="Open Sans"/>
              </a:rPr>
              <a:t>所以</a:t>
            </a:r>
            <a:r>
              <a:rPr lang="en-US" altLang="zh-CN" sz="1800" dirty="0">
                <a:solidFill>
                  <a:srgbClr val="333333"/>
                </a:solidFill>
                <a:latin typeface="Open Sans"/>
              </a:rPr>
              <a:t>Redis </a:t>
            </a:r>
            <a:r>
              <a:rPr lang="zh-CN" altLang="en-US" sz="1800" dirty="0">
                <a:solidFill>
                  <a:srgbClr val="333333"/>
                </a:solidFill>
                <a:latin typeface="Open Sans"/>
              </a:rPr>
              <a:t>的持久化和数据的恢复要选择在夜深人静的时候执行是比较合理的。</a:t>
            </a:r>
            <a:endParaRPr lang="en-US" altLang="zh-CN" sz="1600" dirty="0">
              <a:solidFill>
                <a:srgbClr val="333333"/>
              </a:solidFill>
              <a:latin typeface="Open Sans"/>
            </a:endParaRPr>
          </a:p>
          <a:p>
            <a:pPr algn="l">
              <a:lnSpc>
                <a:spcPct val="120000"/>
              </a:lnSpc>
            </a:pPr>
            <a:endParaRPr lang="en-US" altLang="zh-CN" sz="1600" dirty="0">
              <a:solidFill>
                <a:srgbClr val="333333"/>
              </a:solidFill>
              <a:latin typeface="Open Sans"/>
            </a:endParaRPr>
          </a:p>
          <a:p>
            <a:pPr algn="l">
              <a:lnSpc>
                <a:spcPct val="120000"/>
              </a:lnSpc>
            </a:pPr>
            <a:endParaRPr lang="zh-CN" altLang="en-US" sz="1600" b="1" i="0" dirty="0">
              <a:solidFill>
                <a:srgbClr val="333333"/>
              </a:solidFill>
              <a:effectLst/>
              <a:latin typeface="Open Sans"/>
            </a:endParaRPr>
          </a:p>
        </p:txBody>
      </p:sp>
      <p:sp>
        <p:nvSpPr>
          <p:cNvPr id="6" name="Rectangle 2"/>
          <p:cNvSpPr txBox="1">
            <a:spLocks noChangeArrowheads="1"/>
          </p:cNvSpPr>
          <p:nvPr/>
        </p:nvSpPr>
        <p:spPr>
          <a:xfrm>
            <a:off x="509270" y="450215"/>
            <a:ext cx="8442960" cy="101854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-RDB</a:t>
            </a:r>
            <a:r>
              <a:rPr lang="zh-CN" altLang="en-US" kern="0" dirty="0"/>
              <a:t>方式</a:t>
            </a:r>
            <a:endParaRPr lang="en-US" altLang="zh-CN" kern="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2112885"/>
            <a:ext cx="8501717" cy="4219917"/>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2000" b="1" dirty="0">
                <a:solidFill>
                  <a:srgbClr val="FF0000"/>
                </a:solidFill>
                <a:latin typeface="Open Sans"/>
              </a:rPr>
              <a:t>RDB</a:t>
            </a:r>
            <a:r>
              <a:rPr lang="zh-CN" altLang="en-US" sz="2000" b="1" dirty="0">
                <a:solidFill>
                  <a:srgbClr val="FF0000"/>
                </a:solidFill>
                <a:latin typeface="Open Sans"/>
              </a:rPr>
              <a:t>方式的缺点</a:t>
            </a:r>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如果你希望在</a:t>
            </a:r>
            <a:r>
              <a:rPr lang="en-US" altLang="zh-CN" sz="1800" dirty="0" err="1">
                <a:solidFill>
                  <a:srgbClr val="333333"/>
                </a:solidFill>
                <a:latin typeface="Open Sans"/>
              </a:rPr>
              <a:t>redis</a:t>
            </a:r>
            <a:r>
              <a:rPr lang="zh-CN" altLang="en-US" sz="1800" dirty="0">
                <a:solidFill>
                  <a:srgbClr val="333333"/>
                </a:solidFill>
                <a:latin typeface="Open Sans"/>
              </a:rPr>
              <a:t>意外停止工作（例如电源中断）的情况下丢失的数据最少的话，那么</a:t>
            </a:r>
            <a:r>
              <a:rPr lang="en-US" altLang="zh-CN" sz="1800" dirty="0">
                <a:solidFill>
                  <a:srgbClr val="333333"/>
                </a:solidFill>
                <a:latin typeface="Open Sans"/>
              </a:rPr>
              <a:t>RDB</a:t>
            </a:r>
            <a:r>
              <a:rPr lang="zh-CN" altLang="en-US" sz="1800" dirty="0">
                <a:solidFill>
                  <a:srgbClr val="333333"/>
                </a:solidFill>
                <a:latin typeface="Open Sans"/>
              </a:rPr>
              <a:t>不适合你</a:t>
            </a:r>
            <a:r>
              <a:rPr lang="en-US" altLang="zh-CN" sz="1800" dirty="0">
                <a:solidFill>
                  <a:srgbClr val="333333"/>
                </a:solidFill>
                <a:latin typeface="Open Sans"/>
              </a:rPr>
              <a:t>.</a:t>
            </a:r>
            <a:r>
              <a:rPr lang="zh-CN" altLang="en-US" sz="1800" dirty="0">
                <a:solidFill>
                  <a:srgbClr val="333333"/>
                </a:solidFill>
                <a:latin typeface="Open Sans"/>
              </a:rPr>
              <a:t>虽然你可以配置不同的</a:t>
            </a:r>
            <a:r>
              <a:rPr lang="en-US" altLang="zh-CN" sz="1800" dirty="0">
                <a:solidFill>
                  <a:srgbClr val="333333"/>
                </a:solidFill>
                <a:latin typeface="Open Sans"/>
              </a:rPr>
              <a:t>save</a:t>
            </a:r>
            <a:r>
              <a:rPr lang="zh-CN" altLang="en-US" sz="1800" dirty="0">
                <a:solidFill>
                  <a:srgbClr val="333333"/>
                </a:solidFill>
                <a:latin typeface="Open Sans"/>
              </a:rPr>
              <a:t>时间点</a:t>
            </a:r>
            <a:r>
              <a:rPr lang="en-US" altLang="zh-CN" sz="1800" dirty="0">
                <a:solidFill>
                  <a:srgbClr val="333333"/>
                </a:solidFill>
                <a:latin typeface="Open Sans"/>
              </a:rPr>
              <a:t>(</a:t>
            </a:r>
            <a:r>
              <a:rPr lang="zh-CN" altLang="en-US" sz="1800" dirty="0">
                <a:solidFill>
                  <a:srgbClr val="333333"/>
                </a:solidFill>
                <a:latin typeface="Open Sans"/>
              </a:rPr>
              <a:t>例如每隔</a:t>
            </a:r>
            <a:r>
              <a:rPr lang="en-US" altLang="zh-CN" sz="1800" dirty="0">
                <a:solidFill>
                  <a:srgbClr val="333333"/>
                </a:solidFill>
                <a:latin typeface="Open Sans"/>
              </a:rPr>
              <a:t>5</a:t>
            </a:r>
            <a:r>
              <a:rPr lang="zh-CN" altLang="en-US" sz="1800" dirty="0">
                <a:solidFill>
                  <a:srgbClr val="333333"/>
                </a:solidFill>
                <a:latin typeface="Open Sans"/>
              </a:rPr>
              <a:t>分钟并且对数据集有</a:t>
            </a:r>
            <a:r>
              <a:rPr lang="en-US" altLang="zh-CN" sz="1800" dirty="0">
                <a:solidFill>
                  <a:srgbClr val="333333"/>
                </a:solidFill>
                <a:latin typeface="Open Sans"/>
              </a:rPr>
              <a:t>100</a:t>
            </a:r>
            <a:r>
              <a:rPr lang="zh-CN" altLang="en-US" sz="1800" dirty="0">
                <a:solidFill>
                  <a:srgbClr val="333333"/>
                </a:solidFill>
                <a:latin typeface="Open Sans"/>
              </a:rPr>
              <a:t>个写的操作</a:t>
            </a:r>
            <a:r>
              <a:rPr lang="en-US" altLang="zh-CN" sz="1800" dirty="0">
                <a:solidFill>
                  <a:srgbClr val="333333"/>
                </a:solidFill>
                <a:latin typeface="Open Sans"/>
              </a:rPr>
              <a:t>)</a:t>
            </a:r>
            <a:r>
              <a:rPr lang="zh-CN" altLang="en-US" sz="1800" dirty="0">
                <a:solidFill>
                  <a:srgbClr val="333333"/>
                </a:solidFill>
                <a:latin typeface="Open Sans"/>
              </a:rPr>
              <a:t>，</a:t>
            </a:r>
            <a:r>
              <a:rPr lang="en-US" altLang="zh-CN" sz="1800" dirty="0">
                <a:solidFill>
                  <a:srgbClr val="333333"/>
                </a:solidFill>
                <a:latin typeface="Open Sans"/>
              </a:rPr>
              <a:t>Redis</a:t>
            </a:r>
            <a:r>
              <a:rPr lang="zh-CN" altLang="en-US" sz="1800" dirty="0">
                <a:solidFill>
                  <a:srgbClr val="333333"/>
                </a:solidFill>
                <a:latin typeface="Open Sans"/>
              </a:rPr>
              <a:t>要完整的保存整个数据集是一个比较繁重的工作</a:t>
            </a:r>
            <a:r>
              <a:rPr lang="en-US" altLang="zh-CN" sz="1800" dirty="0">
                <a:solidFill>
                  <a:srgbClr val="333333"/>
                </a:solidFill>
                <a:latin typeface="Open Sans"/>
              </a:rPr>
              <a:t>,</a:t>
            </a:r>
            <a:r>
              <a:rPr lang="zh-CN" altLang="en-US" sz="1800" dirty="0">
                <a:solidFill>
                  <a:srgbClr val="333333"/>
                </a:solidFill>
                <a:latin typeface="Open Sans"/>
              </a:rPr>
              <a:t>你通常会每隔</a:t>
            </a:r>
            <a:r>
              <a:rPr lang="en-US" altLang="zh-CN" sz="1800" dirty="0">
                <a:solidFill>
                  <a:srgbClr val="333333"/>
                </a:solidFill>
                <a:latin typeface="Open Sans"/>
              </a:rPr>
              <a:t>5</a:t>
            </a:r>
            <a:r>
              <a:rPr lang="zh-CN" altLang="en-US" sz="1800" dirty="0">
                <a:solidFill>
                  <a:srgbClr val="333333"/>
                </a:solidFill>
                <a:latin typeface="Open Sans"/>
              </a:rPr>
              <a:t>分钟或者更久做一次完整的保存</a:t>
            </a:r>
            <a:r>
              <a:rPr lang="en-US" altLang="zh-CN" sz="1800" dirty="0">
                <a:solidFill>
                  <a:srgbClr val="333333"/>
                </a:solidFill>
                <a:latin typeface="Open Sans"/>
              </a:rPr>
              <a:t>,</a:t>
            </a:r>
            <a:r>
              <a:rPr lang="zh-CN" altLang="en-US" sz="1800" dirty="0">
                <a:solidFill>
                  <a:srgbClr val="333333"/>
                </a:solidFill>
                <a:latin typeface="Open Sans"/>
              </a:rPr>
              <a:t>万一在</a:t>
            </a:r>
            <a:r>
              <a:rPr lang="en-US" altLang="zh-CN" sz="1800" dirty="0">
                <a:solidFill>
                  <a:srgbClr val="333333"/>
                </a:solidFill>
                <a:latin typeface="Open Sans"/>
              </a:rPr>
              <a:t>Redis</a:t>
            </a:r>
            <a:r>
              <a:rPr lang="zh-CN" altLang="en-US" sz="1800" dirty="0">
                <a:solidFill>
                  <a:srgbClr val="333333"/>
                </a:solidFill>
                <a:latin typeface="Open Sans"/>
              </a:rPr>
              <a:t>意外宕机</a:t>
            </a:r>
            <a:r>
              <a:rPr lang="en-US" altLang="zh-CN" sz="1800" dirty="0">
                <a:solidFill>
                  <a:srgbClr val="333333"/>
                </a:solidFill>
                <a:latin typeface="Open Sans"/>
              </a:rPr>
              <a:t>,</a:t>
            </a:r>
            <a:r>
              <a:rPr lang="zh-CN" altLang="en-US" sz="1800" dirty="0">
                <a:solidFill>
                  <a:srgbClr val="333333"/>
                </a:solidFill>
                <a:latin typeface="Open Sans"/>
              </a:rPr>
              <a:t>你可能会丢失几分钟的数据</a:t>
            </a:r>
            <a:r>
              <a:rPr lang="en-US" altLang="zh-CN" sz="1800" dirty="0">
                <a:solidFill>
                  <a:srgbClr val="333333"/>
                </a:solidFill>
                <a:latin typeface="Open Sans"/>
              </a:rPr>
              <a:t>.</a:t>
            </a:r>
            <a:endParaRPr lang="en-US" altLang="zh-CN" sz="1800" dirty="0">
              <a:solidFill>
                <a:srgbClr val="333333"/>
              </a:solidFill>
              <a:latin typeface="Open Sans"/>
            </a:endParaRPr>
          </a:p>
          <a:p>
            <a:pPr algn="l">
              <a:lnSpc>
                <a:spcPct val="120000"/>
              </a:lnSpc>
              <a:buFont typeface="Arial" panose="020B0604020202020204" pitchFamily="34" charset="0"/>
              <a:buChar char="•"/>
            </a:pPr>
            <a:endParaRPr lang="en-US" altLang="zh-CN" sz="1800" dirty="0">
              <a:solidFill>
                <a:srgbClr val="333333"/>
              </a:solidFill>
              <a:latin typeface="Open Sans"/>
            </a:endParaRPr>
          </a:p>
          <a:p>
            <a:pPr algn="l">
              <a:lnSpc>
                <a:spcPct val="120000"/>
              </a:lnSpc>
              <a:buFont typeface="Arial" panose="020B0604020202020204" pitchFamily="34" charset="0"/>
              <a:buChar char="•"/>
            </a:pPr>
            <a:r>
              <a:rPr lang="en-US" altLang="zh-CN" sz="1800" dirty="0">
                <a:solidFill>
                  <a:srgbClr val="333333"/>
                </a:solidFill>
                <a:latin typeface="Open Sans"/>
              </a:rPr>
              <a:t>RDB </a:t>
            </a:r>
            <a:r>
              <a:rPr lang="zh-CN" altLang="en-US" sz="1800" dirty="0">
                <a:solidFill>
                  <a:srgbClr val="333333"/>
                </a:solidFill>
                <a:latin typeface="Open Sans"/>
              </a:rPr>
              <a:t>需要经常</a:t>
            </a:r>
            <a:r>
              <a:rPr lang="en-US" altLang="zh-CN" sz="1800" b="1" dirty="0">
                <a:solidFill>
                  <a:srgbClr val="FF0000"/>
                </a:solidFill>
                <a:latin typeface="Open Sans"/>
              </a:rPr>
              <a:t>fork</a:t>
            </a:r>
            <a:r>
              <a:rPr lang="zh-CN" altLang="en-US" sz="1800" b="1" dirty="0">
                <a:solidFill>
                  <a:srgbClr val="FF0000"/>
                </a:solidFill>
                <a:latin typeface="Open Sans"/>
              </a:rPr>
              <a:t>子进程</a:t>
            </a:r>
            <a:r>
              <a:rPr lang="zh-CN" altLang="en-US" sz="1800" dirty="0">
                <a:solidFill>
                  <a:srgbClr val="333333"/>
                </a:solidFill>
                <a:latin typeface="Open Sans"/>
              </a:rPr>
              <a:t>来保存数据集到硬盘上</a:t>
            </a:r>
            <a:r>
              <a:rPr lang="en-US" altLang="zh-CN" sz="1800" dirty="0">
                <a:solidFill>
                  <a:srgbClr val="333333"/>
                </a:solidFill>
                <a:latin typeface="Open Sans"/>
              </a:rPr>
              <a:t>,</a:t>
            </a:r>
            <a:r>
              <a:rPr lang="zh-CN" altLang="en-US" sz="1800" dirty="0">
                <a:solidFill>
                  <a:srgbClr val="333333"/>
                </a:solidFill>
                <a:latin typeface="Open Sans"/>
              </a:rPr>
              <a:t>当数据集比较大的时候</a:t>
            </a:r>
            <a:r>
              <a:rPr lang="en-US" altLang="zh-CN" sz="1800" dirty="0">
                <a:solidFill>
                  <a:srgbClr val="333333"/>
                </a:solidFill>
                <a:latin typeface="Open Sans"/>
              </a:rPr>
              <a:t>,fork</a:t>
            </a:r>
            <a:r>
              <a:rPr lang="zh-CN" altLang="en-US" sz="1800" dirty="0">
                <a:solidFill>
                  <a:srgbClr val="333333"/>
                </a:solidFill>
                <a:latin typeface="Open Sans"/>
              </a:rPr>
              <a:t>的过程是非常耗时的</a:t>
            </a:r>
            <a:r>
              <a:rPr lang="en-US" altLang="zh-CN" sz="1800" dirty="0">
                <a:solidFill>
                  <a:srgbClr val="333333"/>
                </a:solidFill>
                <a:latin typeface="Open Sans"/>
              </a:rPr>
              <a:t>,</a:t>
            </a:r>
            <a:r>
              <a:rPr lang="zh-CN" altLang="en-US" sz="1800" dirty="0">
                <a:solidFill>
                  <a:srgbClr val="333333"/>
                </a:solidFill>
                <a:latin typeface="Open Sans"/>
              </a:rPr>
              <a:t>可能会导致</a:t>
            </a:r>
            <a:r>
              <a:rPr lang="en-US" altLang="zh-CN" sz="1800" dirty="0">
                <a:solidFill>
                  <a:srgbClr val="333333"/>
                </a:solidFill>
                <a:latin typeface="Open Sans"/>
              </a:rPr>
              <a:t>Redis</a:t>
            </a:r>
            <a:r>
              <a:rPr lang="zh-CN" altLang="en-US" sz="1800" dirty="0">
                <a:solidFill>
                  <a:srgbClr val="333333"/>
                </a:solidFill>
                <a:latin typeface="Open Sans"/>
              </a:rPr>
              <a:t>在一些毫秒级内不能响应客户端的请求</a:t>
            </a:r>
            <a:r>
              <a:rPr lang="en-US" altLang="zh-CN" sz="1800" dirty="0">
                <a:solidFill>
                  <a:srgbClr val="333333"/>
                </a:solidFill>
                <a:latin typeface="Open Sans"/>
              </a:rPr>
              <a:t>.</a:t>
            </a:r>
            <a:r>
              <a:rPr lang="zh-CN" altLang="en-US" sz="1800" dirty="0">
                <a:solidFill>
                  <a:srgbClr val="333333"/>
                </a:solidFill>
                <a:latin typeface="Open Sans"/>
              </a:rPr>
              <a:t>如果数据集巨大并且</a:t>
            </a:r>
            <a:r>
              <a:rPr lang="en-US" altLang="zh-CN" sz="1800" dirty="0">
                <a:solidFill>
                  <a:srgbClr val="333333"/>
                </a:solidFill>
                <a:latin typeface="Open Sans"/>
              </a:rPr>
              <a:t>CPU</a:t>
            </a:r>
            <a:r>
              <a:rPr lang="zh-CN" altLang="en-US" sz="1800" dirty="0">
                <a:solidFill>
                  <a:srgbClr val="333333"/>
                </a:solidFill>
                <a:latin typeface="Open Sans"/>
              </a:rPr>
              <a:t>性能不是很好的情况下</a:t>
            </a:r>
            <a:r>
              <a:rPr lang="en-US" altLang="zh-CN" sz="1800" dirty="0">
                <a:solidFill>
                  <a:srgbClr val="333333"/>
                </a:solidFill>
                <a:latin typeface="Open Sans"/>
              </a:rPr>
              <a:t>,</a:t>
            </a:r>
            <a:r>
              <a:rPr lang="zh-CN" altLang="en-US" sz="1800" dirty="0">
                <a:solidFill>
                  <a:srgbClr val="333333"/>
                </a:solidFill>
                <a:latin typeface="Open Sans"/>
              </a:rPr>
              <a:t>这种情况会持续</a:t>
            </a:r>
            <a:r>
              <a:rPr lang="en-US" altLang="zh-CN" sz="1800" dirty="0">
                <a:solidFill>
                  <a:srgbClr val="333333"/>
                </a:solidFill>
                <a:latin typeface="Open Sans"/>
              </a:rPr>
              <a:t>1</a:t>
            </a:r>
            <a:r>
              <a:rPr lang="zh-CN" altLang="en-US" sz="1800" dirty="0">
                <a:solidFill>
                  <a:srgbClr val="333333"/>
                </a:solidFill>
                <a:latin typeface="Open Sans"/>
              </a:rPr>
              <a:t>秒</a:t>
            </a:r>
            <a:r>
              <a:rPr lang="en-US" altLang="zh-CN" sz="1800" dirty="0">
                <a:solidFill>
                  <a:srgbClr val="333333"/>
                </a:solidFill>
                <a:latin typeface="Open Sans"/>
              </a:rPr>
              <a:t>,AOF</a:t>
            </a:r>
            <a:r>
              <a:rPr lang="zh-CN" altLang="en-US" sz="1800" dirty="0">
                <a:solidFill>
                  <a:srgbClr val="333333"/>
                </a:solidFill>
                <a:latin typeface="Open Sans"/>
              </a:rPr>
              <a:t>也需要</a:t>
            </a:r>
            <a:r>
              <a:rPr lang="en-US" altLang="zh-CN" sz="1800" dirty="0">
                <a:solidFill>
                  <a:srgbClr val="333333"/>
                </a:solidFill>
                <a:latin typeface="Open Sans"/>
              </a:rPr>
              <a:t>fork,</a:t>
            </a:r>
            <a:r>
              <a:rPr lang="zh-CN" altLang="en-US" sz="1800" dirty="0">
                <a:solidFill>
                  <a:srgbClr val="333333"/>
                </a:solidFill>
                <a:latin typeface="Open Sans"/>
              </a:rPr>
              <a:t>但是你可以调节重写日志文件的频率来提高数据集的耐久度</a:t>
            </a:r>
            <a:r>
              <a:rPr lang="en-US" altLang="zh-CN" sz="1800" dirty="0">
                <a:solidFill>
                  <a:srgbClr val="333333"/>
                </a:solidFill>
                <a:latin typeface="Open Sans"/>
              </a:rPr>
              <a:t>.</a:t>
            </a:r>
            <a:endParaRPr lang="en-US" altLang="zh-CN" sz="1800" dirty="0">
              <a:solidFill>
                <a:srgbClr val="333333"/>
              </a:solidFill>
              <a:latin typeface="Open Sans"/>
            </a:endParaRPr>
          </a:p>
        </p:txBody>
      </p:sp>
      <p:sp>
        <p:nvSpPr>
          <p:cNvPr id="6" name="Rectangle 2"/>
          <p:cNvSpPr txBox="1">
            <a:spLocks noChangeArrowheads="1"/>
          </p:cNvSpPr>
          <p:nvPr/>
        </p:nvSpPr>
        <p:spPr>
          <a:xfrm>
            <a:off x="509118" y="450265"/>
            <a:ext cx="8443106" cy="166262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-RDB</a:t>
            </a:r>
            <a:r>
              <a:rPr lang="zh-CN" altLang="en-US" kern="0" dirty="0"/>
              <a:t>方式</a:t>
            </a:r>
            <a:endParaRPr lang="en-US" altLang="zh-CN" kern="0" dirty="0"/>
          </a:p>
          <a:p>
            <a:pPr eaLnBrk="1" hangingPunct="1"/>
            <a:r>
              <a:rPr lang="en-US" altLang="zh-CN" sz="4000" i="0" dirty="0">
                <a:solidFill>
                  <a:srgbClr val="333333"/>
                </a:solidFill>
                <a:effectLst/>
                <a:latin typeface="Open Sans"/>
              </a:rPr>
              <a:t>RDB-Redis </a:t>
            </a:r>
            <a:r>
              <a:rPr lang="en-US" altLang="zh-CN" sz="4000" i="0" dirty="0" err="1">
                <a:solidFill>
                  <a:srgbClr val="333333"/>
                </a:solidFill>
                <a:effectLst/>
                <a:latin typeface="Open Sans"/>
              </a:rPr>
              <a:t>DataBase</a:t>
            </a:r>
            <a:endParaRPr lang="en-US" altLang="zh-CN" sz="4000" i="0" dirty="0">
              <a:solidFill>
                <a:srgbClr val="333333"/>
              </a:solidFill>
              <a:effectLst/>
              <a:latin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415290" y="954405"/>
            <a:ext cx="9049385" cy="46901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4790" y="1002030"/>
            <a:ext cx="9112250" cy="51943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72790" y="2043072"/>
            <a:ext cx="8501717" cy="431744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zh-CN" altLang="en-US" sz="1800" dirty="0">
                <a:solidFill>
                  <a:srgbClr val="333333"/>
                </a:solidFill>
                <a:latin typeface="Open Sans"/>
              </a:rPr>
              <a:t>如前面介绍的，</a:t>
            </a:r>
            <a:r>
              <a:rPr lang="en-US" altLang="zh-CN" sz="1800" dirty="0">
                <a:solidFill>
                  <a:srgbClr val="333333"/>
                </a:solidFill>
                <a:latin typeface="Open Sans"/>
              </a:rPr>
              <a:t>AOF</a:t>
            </a:r>
            <a:r>
              <a:rPr lang="zh-CN" altLang="en-US" sz="1800" dirty="0">
                <a:solidFill>
                  <a:srgbClr val="333333"/>
                </a:solidFill>
                <a:latin typeface="Open Sans"/>
              </a:rPr>
              <a:t>方式是将执行过的</a:t>
            </a:r>
            <a:r>
              <a:rPr lang="zh-CN" altLang="en-US" sz="1800" b="1" dirty="0">
                <a:solidFill>
                  <a:srgbClr val="FF0000"/>
                </a:solidFill>
                <a:latin typeface="Open Sans"/>
              </a:rPr>
              <a:t>写指令</a:t>
            </a:r>
            <a:r>
              <a:rPr lang="zh-CN" altLang="en-US" sz="1800" dirty="0">
                <a:solidFill>
                  <a:srgbClr val="333333"/>
                </a:solidFill>
                <a:latin typeface="Open Sans"/>
              </a:rPr>
              <a:t>记录下来，在数据恢复时按照从前到后的顺序再将指令都执行一遍，就这么简单。</a:t>
            </a:r>
            <a:endParaRPr lang="en-US" altLang="zh-CN" sz="1800" dirty="0">
              <a:solidFill>
                <a:srgbClr val="333333"/>
              </a:solidFill>
              <a:latin typeface="Open Sans"/>
            </a:endParaRPr>
          </a:p>
          <a:p>
            <a:pPr algn="l">
              <a:lnSpc>
                <a:spcPct val="120000"/>
              </a:lnSpc>
            </a:pPr>
            <a:endParaRPr lang="en-US" altLang="zh-CN" sz="1800" dirty="0">
              <a:solidFill>
                <a:srgbClr val="333333"/>
              </a:solidFill>
              <a:latin typeface="Open Sans"/>
            </a:endParaRPr>
          </a:p>
          <a:p>
            <a:pPr algn="l">
              <a:lnSpc>
                <a:spcPct val="120000"/>
              </a:lnSpc>
            </a:pPr>
            <a:r>
              <a:rPr lang="zh-CN" altLang="en-US" sz="1800" dirty="0">
                <a:solidFill>
                  <a:srgbClr val="333333"/>
                </a:solidFill>
                <a:latin typeface="Open Sans"/>
              </a:rPr>
              <a:t>默认是没有开启</a:t>
            </a:r>
            <a:r>
              <a:rPr lang="en-US" altLang="zh-CN" sz="1800" dirty="0">
                <a:solidFill>
                  <a:srgbClr val="333333"/>
                </a:solidFill>
                <a:latin typeface="Open Sans"/>
              </a:rPr>
              <a:t>AOF</a:t>
            </a:r>
            <a:r>
              <a:rPr lang="zh-CN" altLang="en-US" sz="1800" dirty="0">
                <a:solidFill>
                  <a:srgbClr val="333333"/>
                </a:solidFill>
                <a:latin typeface="Open Sans"/>
              </a:rPr>
              <a:t>持久化方式的，通过设置配置文件可以打开，我们通过配置</a:t>
            </a:r>
            <a:r>
              <a:rPr lang="en-US" altLang="zh-CN" sz="1800" dirty="0" err="1">
                <a:solidFill>
                  <a:srgbClr val="333333"/>
                </a:solidFill>
                <a:latin typeface="Open Sans"/>
              </a:rPr>
              <a:t>redis.conf</a:t>
            </a:r>
            <a:r>
              <a:rPr lang="zh-CN" altLang="en-US" sz="1800" dirty="0">
                <a:solidFill>
                  <a:srgbClr val="333333"/>
                </a:solidFill>
                <a:latin typeface="Open Sans"/>
              </a:rPr>
              <a:t>中的</a:t>
            </a:r>
            <a:r>
              <a:rPr lang="en-US" altLang="zh-CN" sz="1800" dirty="0" err="1">
                <a:solidFill>
                  <a:srgbClr val="333333"/>
                </a:solidFill>
                <a:latin typeface="Open Sans"/>
              </a:rPr>
              <a:t>appendonly</a:t>
            </a:r>
            <a:r>
              <a:rPr lang="en-US" altLang="zh-CN" sz="1800" dirty="0">
                <a:solidFill>
                  <a:srgbClr val="333333"/>
                </a:solidFill>
                <a:latin typeface="Open Sans"/>
              </a:rPr>
              <a:t> yes</a:t>
            </a:r>
            <a:r>
              <a:rPr lang="zh-CN" altLang="en-US" sz="1800" dirty="0">
                <a:solidFill>
                  <a:srgbClr val="333333"/>
                </a:solidFill>
                <a:latin typeface="Open Sans"/>
              </a:rPr>
              <a:t>就可以打开</a:t>
            </a:r>
            <a:r>
              <a:rPr lang="en-US" altLang="zh-CN" sz="1800" dirty="0">
                <a:solidFill>
                  <a:srgbClr val="333333"/>
                </a:solidFill>
                <a:latin typeface="Open Sans"/>
              </a:rPr>
              <a:t>AOF</a:t>
            </a:r>
            <a:r>
              <a:rPr lang="zh-CN" altLang="en-US" sz="1800" dirty="0">
                <a:solidFill>
                  <a:srgbClr val="333333"/>
                </a:solidFill>
                <a:latin typeface="Open Sans"/>
              </a:rPr>
              <a:t>功能。如果有写操作（如</a:t>
            </a:r>
            <a:r>
              <a:rPr lang="en-US" altLang="zh-CN" sz="1800" dirty="0">
                <a:solidFill>
                  <a:srgbClr val="333333"/>
                </a:solidFill>
                <a:latin typeface="Open Sans"/>
              </a:rPr>
              <a:t>SET</a:t>
            </a:r>
            <a:r>
              <a:rPr lang="zh-CN" altLang="en-US" sz="1800" dirty="0">
                <a:solidFill>
                  <a:srgbClr val="333333"/>
                </a:solidFill>
                <a:latin typeface="Open Sans"/>
              </a:rPr>
              <a:t>等），</a:t>
            </a:r>
            <a:r>
              <a:rPr lang="en-US" altLang="zh-CN" sz="1800" dirty="0" err="1">
                <a:solidFill>
                  <a:srgbClr val="333333"/>
                </a:solidFill>
                <a:latin typeface="Open Sans"/>
              </a:rPr>
              <a:t>redis</a:t>
            </a:r>
            <a:r>
              <a:rPr lang="zh-CN" altLang="en-US" sz="1800" dirty="0">
                <a:solidFill>
                  <a:srgbClr val="333333"/>
                </a:solidFill>
                <a:latin typeface="Open Sans"/>
              </a:rPr>
              <a:t>就会被追加到</a:t>
            </a:r>
            <a:r>
              <a:rPr lang="en-US" altLang="zh-CN" sz="1800" dirty="0">
                <a:solidFill>
                  <a:srgbClr val="333333"/>
                </a:solidFill>
                <a:latin typeface="Open Sans"/>
              </a:rPr>
              <a:t>AOF</a:t>
            </a:r>
            <a:r>
              <a:rPr lang="zh-CN" altLang="en-US" sz="1800" dirty="0">
                <a:solidFill>
                  <a:srgbClr val="333333"/>
                </a:solidFill>
                <a:latin typeface="Open Sans"/>
              </a:rPr>
              <a:t>文件的末尾。默认的</a:t>
            </a:r>
            <a:r>
              <a:rPr lang="en-US" altLang="zh-CN" sz="1800" dirty="0">
                <a:solidFill>
                  <a:srgbClr val="333333"/>
                </a:solidFill>
                <a:latin typeface="Open Sans"/>
              </a:rPr>
              <a:t>AOF</a:t>
            </a:r>
            <a:r>
              <a:rPr lang="zh-CN" altLang="en-US" sz="1800" dirty="0">
                <a:solidFill>
                  <a:srgbClr val="333333"/>
                </a:solidFill>
                <a:latin typeface="Open Sans"/>
              </a:rPr>
              <a:t>持久化策略是每秒钟</a:t>
            </a:r>
            <a:r>
              <a:rPr lang="en-US" altLang="zh-CN" sz="1800" dirty="0" err="1">
                <a:solidFill>
                  <a:srgbClr val="333333"/>
                </a:solidFill>
                <a:latin typeface="Open Sans"/>
              </a:rPr>
              <a:t>fsync</a:t>
            </a:r>
            <a:r>
              <a:rPr lang="zh-CN" altLang="en-US" sz="1800" dirty="0">
                <a:solidFill>
                  <a:srgbClr val="333333"/>
                </a:solidFill>
                <a:latin typeface="Open Sans"/>
              </a:rPr>
              <a:t>一次（</a:t>
            </a:r>
            <a:r>
              <a:rPr lang="en-US" altLang="zh-CN" sz="1800" dirty="0" err="1">
                <a:solidFill>
                  <a:srgbClr val="333333"/>
                </a:solidFill>
                <a:latin typeface="Open Sans"/>
              </a:rPr>
              <a:t>fsync</a:t>
            </a:r>
            <a:r>
              <a:rPr lang="zh-CN" altLang="en-US" sz="1800" dirty="0">
                <a:solidFill>
                  <a:srgbClr val="333333"/>
                </a:solidFill>
                <a:latin typeface="Open Sans"/>
              </a:rPr>
              <a:t>是指把缓存中的写指令记录到磁盘中），因为在这种情况下，</a:t>
            </a:r>
            <a:r>
              <a:rPr lang="en-US" altLang="zh-CN" sz="1800" dirty="0" err="1">
                <a:solidFill>
                  <a:srgbClr val="333333"/>
                </a:solidFill>
                <a:latin typeface="Open Sans"/>
              </a:rPr>
              <a:t>redis</a:t>
            </a:r>
            <a:r>
              <a:rPr lang="zh-CN" altLang="en-US" sz="1800" dirty="0">
                <a:solidFill>
                  <a:srgbClr val="333333"/>
                </a:solidFill>
                <a:latin typeface="Open Sans"/>
              </a:rPr>
              <a:t>仍然可以保持很好的处理性能，即使</a:t>
            </a:r>
            <a:r>
              <a:rPr lang="en-US" altLang="zh-CN" sz="1800" dirty="0" err="1">
                <a:solidFill>
                  <a:srgbClr val="333333"/>
                </a:solidFill>
                <a:latin typeface="Open Sans"/>
              </a:rPr>
              <a:t>redis</a:t>
            </a:r>
            <a:r>
              <a:rPr lang="zh-CN" altLang="en-US" sz="1800" dirty="0">
                <a:solidFill>
                  <a:srgbClr val="333333"/>
                </a:solidFill>
                <a:latin typeface="Open Sans"/>
              </a:rPr>
              <a:t>故障，也只会</a:t>
            </a:r>
            <a:r>
              <a:rPr lang="zh-CN" altLang="en-US" sz="1800" dirty="0">
                <a:solidFill>
                  <a:srgbClr val="FF0000"/>
                </a:solidFill>
                <a:latin typeface="Open Sans"/>
              </a:rPr>
              <a:t>丢失最近</a:t>
            </a:r>
            <a:r>
              <a:rPr lang="en-US" altLang="zh-CN" sz="1800" dirty="0">
                <a:solidFill>
                  <a:srgbClr val="FF0000"/>
                </a:solidFill>
                <a:latin typeface="Open Sans"/>
              </a:rPr>
              <a:t>1</a:t>
            </a:r>
            <a:r>
              <a:rPr lang="zh-CN" altLang="en-US" sz="1800" dirty="0">
                <a:solidFill>
                  <a:srgbClr val="FF0000"/>
                </a:solidFill>
                <a:latin typeface="Open Sans"/>
              </a:rPr>
              <a:t>秒钟的数据</a:t>
            </a:r>
            <a:r>
              <a:rPr lang="zh-CN" altLang="en-US" sz="1800" dirty="0">
                <a:solidFill>
                  <a:srgbClr val="333333"/>
                </a:solidFill>
                <a:latin typeface="Open Sans"/>
              </a:rPr>
              <a:t>。</a:t>
            </a:r>
            <a:endParaRPr lang="zh-CN" altLang="en-US" sz="1800" dirty="0">
              <a:solidFill>
                <a:srgbClr val="333333"/>
              </a:solidFill>
              <a:latin typeface="Open Sans"/>
            </a:endParaRPr>
          </a:p>
          <a:p>
            <a:pPr algn="l">
              <a:lnSpc>
                <a:spcPct val="120000"/>
              </a:lnSpc>
            </a:pPr>
            <a:endParaRPr lang="en-US" altLang="zh-CN" sz="1600" dirty="0">
              <a:solidFill>
                <a:srgbClr val="333333"/>
              </a:solidFill>
              <a:latin typeface="Open Sans"/>
            </a:endParaRPr>
          </a:p>
          <a:p>
            <a:pPr algn="l">
              <a:lnSpc>
                <a:spcPct val="120000"/>
              </a:lnSpc>
            </a:pPr>
            <a:endParaRPr lang="en-US" altLang="zh-CN" sz="1600" dirty="0">
              <a:solidFill>
                <a:srgbClr val="333333"/>
              </a:solidFill>
              <a:latin typeface="Open Sans"/>
            </a:endParaRPr>
          </a:p>
        </p:txBody>
      </p:sp>
      <p:sp>
        <p:nvSpPr>
          <p:cNvPr id="6" name="Rectangle 2"/>
          <p:cNvSpPr txBox="1">
            <a:spLocks noChangeArrowheads="1"/>
          </p:cNvSpPr>
          <p:nvPr/>
        </p:nvSpPr>
        <p:spPr>
          <a:xfrm>
            <a:off x="705060" y="375620"/>
            <a:ext cx="8443106" cy="166262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-AOF</a:t>
            </a:r>
            <a:r>
              <a:rPr lang="zh-CN" altLang="en-US" kern="0" dirty="0"/>
              <a:t>方式</a:t>
            </a:r>
            <a:endParaRPr lang="en-US" altLang="zh-CN" kern="0" dirty="0"/>
          </a:p>
          <a:p>
            <a:pPr eaLnBrk="1" hangingPunct="1"/>
            <a:r>
              <a:rPr lang="en-US" altLang="zh-CN" kern="0" dirty="0"/>
              <a:t>AOF-Append Only File</a:t>
            </a:r>
            <a:endParaRPr lang="en-US" altLang="zh-CN" kern="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130175" y="1157605"/>
            <a:ext cx="9806305" cy="556450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zh-CN" altLang="en-US" sz="1800" dirty="0">
                <a:solidFill>
                  <a:srgbClr val="333333"/>
                </a:solidFill>
                <a:latin typeface="Open Sans"/>
              </a:rPr>
              <a:t>因为 </a:t>
            </a:r>
            <a:r>
              <a:rPr lang="en-US" altLang="zh-CN" sz="1800" dirty="0">
                <a:solidFill>
                  <a:srgbClr val="333333"/>
                </a:solidFill>
                <a:latin typeface="Open Sans"/>
              </a:rPr>
              <a:t>AOF </a:t>
            </a:r>
            <a:r>
              <a:rPr lang="zh-CN" altLang="en-US" sz="1800" dirty="0">
                <a:solidFill>
                  <a:srgbClr val="333333"/>
                </a:solidFill>
                <a:latin typeface="Open Sans"/>
              </a:rPr>
              <a:t>的运作方式是不断地将命令追加到文件的末尾， 所以随着写入命令的不断增加， </a:t>
            </a:r>
            <a:r>
              <a:rPr lang="en-US" altLang="zh-CN" sz="1800" dirty="0">
                <a:solidFill>
                  <a:srgbClr val="333333"/>
                </a:solidFill>
                <a:latin typeface="Open Sans"/>
              </a:rPr>
              <a:t>AOF </a:t>
            </a:r>
            <a:r>
              <a:rPr lang="zh-CN" altLang="en-US" sz="1800" dirty="0">
                <a:solidFill>
                  <a:srgbClr val="333333"/>
                </a:solidFill>
                <a:latin typeface="Open Sans"/>
              </a:rPr>
              <a:t>文件的体积也会变得越来越大。举个例子， 如果你对一个计数器调用了 </a:t>
            </a:r>
            <a:r>
              <a:rPr lang="en-US" altLang="zh-CN" sz="1800" dirty="0">
                <a:solidFill>
                  <a:srgbClr val="333333"/>
                </a:solidFill>
                <a:latin typeface="Open Sans"/>
              </a:rPr>
              <a:t>100 </a:t>
            </a:r>
            <a:r>
              <a:rPr lang="zh-CN" altLang="en-US" sz="1800" dirty="0">
                <a:solidFill>
                  <a:srgbClr val="333333"/>
                </a:solidFill>
                <a:latin typeface="Open Sans"/>
              </a:rPr>
              <a:t>次 </a:t>
            </a:r>
            <a:r>
              <a:rPr lang="en-US" altLang="zh-CN" sz="1800" dirty="0">
                <a:solidFill>
                  <a:srgbClr val="333333"/>
                </a:solidFill>
                <a:latin typeface="Open Sans"/>
              </a:rPr>
              <a:t>INCR </a:t>
            </a:r>
            <a:r>
              <a:rPr lang="zh-CN" altLang="en-US" sz="1800" dirty="0">
                <a:solidFill>
                  <a:srgbClr val="333333"/>
                </a:solidFill>
                <a:latin typeface="Open Sans"/>
              </a:rPr>
              <a:t>， 那么仅仅是为了保存这个计数器的当前值， </a:t>
            </a:r>
            <a:r>
              <a:rPr lang="en-US" altLang="zh-CN" sz="1800" dirty="0">
                <a:solidFill>
                  <a:srgbClr val="333333"/>
                </a:solidFill>
                <a:latin typeface="Open Sans"/>
              </a:rPr>
              <a:t>AOF </a:t>
            </a:r>
            <a:r>
              <a:rPr lang="zh-CN" altLang="en-US" sz="1800" dirty="0">
                <a:solidFill>
                  <a:srgbClr val="333333"/>
                </a:solidFill>
                <a:latin typeface="Open Sans"/>
              </a:rPr>
              <a:t>文件就需要使用 </a:t>
            </a:r>
            <a:r>
              <a:rPr lang="en-US" altLang="zh-CN" sz="1800" dirty="0">
                <a:solidFill>
                  <a:srgbClr val="333333"/>
                </a:solidFill>
                <a:latin typeface="Open Sans"/>
              </a:rPr>
              <a:t>100 </a:t>
            </a:r>
            <a:r>
              <a:rPr lang="zh-CN" altLang="en-US" sz="1800" dirty="0">
                <a:solidFill>
                  <a:srgbClr val="333333"/>
                </a:solidFill>
                <a:latin typeface="Open Sans"/>
              </a:rPr>
              <a:t>条记录（</a:t>
            </a:r>
            <a:r>
              <a:rPr lang="en-US" altLang="zh-CN" sz="1800" dirty="0">
                <a:solidFill>
                  <a:srgbClr val="333333"/>
                </a:solidFill>
                <a:latin typeface="Open Sans"/>
              </a:rPr>
              <a:t>entry</a:t>
            </a:r>
            <a:r>
              <a:rPr lang="zh-CN" altLang="en-US" sz="1800" dirty="0">
                <a:solidFill>
                  <a:srgbClr val="333333"/>
                </a:solidFill>
                <a:latin typeface="Open Sans"/>
              </a:rPr>
              <a:t>）。然而在实际上，只使用一条 </a:t>
            </a:r>
            <a:r>
              <a:rPr lang="en-US" altLang="zh-CN" sz="1800" dirty="0">
                <a:solidFill>
                  <a:srgbClr val="333333"/>
                </a:solidFill>
                <a:latin typeface="Open Sans"/>
              </a:rPr>
              <a:t>SET </a:t>
            </a:r>
            <a:r>
              <a:rPr lang="zh-CN" altLang="en-US" sz="1800" dirty="0">
                <a:solidFill>
                  <a:srgbClr val="333333"/>
                </a:solidFill>
                <a:latin typeface="Open Sans"/>
              </a:rPr>
              <a:t>命令已经足以保存计数器的当前值了， 其余 </a:t>
            </a:r>
            <a:r>
              <a:rPr lang="en-US" altLang="zh-CN" sz="1800" dirty="0">
                <a:solidFill>
                  <a:srgbClr val="333333"/>
                </a:solidFill>
                <a:latin typeface="Open Sans"/>
              </a:rPr>
              <a:t>99 </a:t>
            </a:r>
            <a:r>
              <a:rPr lang="zh-CN" altLang="en-US" sz="1800" dirty="0">
                <a:solidFill>
                  <a:srgbClr val="333333"/>
                </a:solidFill>
                <a:latin typeface="Open Sans"/>
              </a:rPr>
              <a:t>条记录实际上都是多余的。</a:t>
            </a:r>
            <a:endParaRPr lang="zh-CN" altLang="en-US" sz="1800" dirty="0">
              <a:solidFill>
                <a:srgbClr val="333333"/>
              </a:solidFill>
              <a:latin typeface="Open Sans"/>
            </a:endParaRPr>
          </a:p>
          <a:p>
            <a:pPr algn="l">
              <a:lnSpc>
                <a:spcPct val="120000"/>
              </a:lnSpc>
            </a:pPr>
            <a:r>
              <a:rPr lang="zh-CN" altLang="en-US" sz="1800" dirty="0">
                <a:solidFill>
                  <a:srgbClr val="333333"/>
                </a:solidFill>
                <a:latin typeface="Open Sans"/>
              </a:rPr>
              <a:t>为了处理这种情况， </a:t>
            </a:r>
            <a:r>
              <a:rPr lang="en-US" altLang="zh-CN" sz="1800" dirty="0">
                <a:solidFill>
                  <a:srgbClr val="333333"/>
                </a:solidFill>
                <a:latin typeface="Open Sans"/>
              </a:rPr>
              <a:t>Redis </a:t>
            </a:r>
            <a:r>
              <a:rPr lang="zh-CN" altLang="en-US" sz="1800" dirty="0">
                <a:solidFill>
                  <a:srgbClr val="333333"/>
                </a:solidFill>
                <a:latin typeface="Open Sans"/>
              </a:rPr>
              <a:t>支持一种有趣的特性： 可以在不打断服务客户端的情况下， 对 </a:t>
            </a:r>
            <a:r>
              <a:rPr lang="en-US" altLang="zh-CN" sz="1800" dirty="0">
                <a:solidFill>
                  <a:srgbClr val="333333"/>
                </a:solidFill>
                <a:latin typeface="Open Sans"/>
              </a:rPr>
              <a:t>AOF </a:t>
            </a:r>
            <a:r>
              <a:rPr lang="zh-CN" altLang="en-US" sz="1800" dirty="0">
                <a:solidFill>
                  <a:srgbClr val="333333"/>
                </a:solidFill>
                <a:latin typeface="Open Sans"/>
              </a:rPr>
              <a:t>文件进行重建（</a:t>
            </a:r>
            <a:r>
              <a:rPr lang="en-US" altLang="zh-CN" sz="1800" dirty="0">
                <a:solidFill>
                  <a:srgbClr val="333333"/>
                </a:solidFill>
                <a:latin typeface="Open Sans"/>
              </a:rPr>
              <a:t>rebuild</a:t>
            </a:r>
            <a:r>
              <a:rPr lang="zh-CN" altLang="en-US" sz="1800" dirty="0">
                <a:solidFill>
                  <a:srgbClr val="333333"/>
                </a:solidFill>
                <a:latin typeface="Open Sans"/>
              </a:rPr>
              <a:t>）。执行 </a:t>
            </a:r>
            <a:r>
              <a:rPr lang="en-US" altLang="zh-CN" sz="1800" dirty="0">
                <a:solidFill>
                  <a:srgbClr val="FF0000"/>
                </a:solidFill>
                <a:latin typeface="Consolas" panose="020B0609020204030204" charset="0"/>
                <a:cs typeface="Consolas" panose="020B0609020204030204" charset="0"/>
              </a:rPr>
              <a:t>BGREWRITEAOF</a:t>
            </a:r>
            <a:r>
              <a:rPr lang="zh-CN" altLang="en-US" sz="1800" dirty="0">
                <a:solidFill>
                  <a:srgbClr val="FF0000"/>
                </a:solidFill>
                <a:latin typeface="Open Sans"/>
              </a:rPr>
              <a:t>命令</a:t>
            </a:r>
            <a:r>
              <a:rPr lang="zh-CN" altLang="en-US" sz="1800" dirty="0">
                <a:solidFill>
                  <a:srgbClr val="333333"/>
                </a:solidFill>
                <a:latin typeface="Open Sans"/>
              </a:rPr>
              <a:t>， </a:t>
            </a:r>
            <a:r>
              <a:rPr lang="en-US" altLang="zh-CN" sz="1800" dirty="0">
                <a:solidFill>
                  <a:srgbClr val="333333"/>
                </a:solidFill>
                <a:latin typeface="Open Sans"/>
              </a:rPr>
              <a:t>Redis </a:t>
            </a:r>
            <a:r>
              <a:rPr lang="zh-CN" altLang="en-US" sz="1800" dirty="0">
                <a:solidFill>
                  <a:srgbClr val="333333"/>
                </a:solidFill>
                <a:latin typeface="Open Sans"/>
              </a:rPr>
              <a:t>将生成一个新的 </a:t>
            </a:r>
            <a:r>
              <a:rPr lang="en-US" altLang="zh-CN" sz="1800" dirty="0">
                <a:solidFill>
                  <a:srgbClr val="333333"/>
                </a:solidFill>
                <a:latin typeface="Open Sans"/>
              </a:rPr>
              <a:t>AOF </a:t>
            </a:r>
            <a:r>
              <a:rPr lang="zh-CN" altLang="en-US" sz="1800" dirty="0">
                <a:solidFill>
                  <a:srgbClr val="333333"/>
                </a:solidFill>
                <a:latin typeface="Open Sans"/>
              </a:rPr>
              <a:t>文件， 这个文件包含重建当前数据集所需的最少命令。</a:t>
            </a:r>
            <a:r>
              <a:rPr lang="en-US" altLang="zh-CN" sz="1800" dirty="0">
                <a:solidFill>
                  <a:srgbClr val="333333"/>
                </a:solidFill>
                <a:latin typeface="Open Sans"/>
              </a:rPr>
              <a:t>Redis 2.2 </a:t>
            </a:r>
            <a:r>
              <a:rPr lang="zh-CN" altLang="en-US" sz="1800" dirty="0">
                <a:solidFill>
                  <a:srgbClr val="333333"/>
                </a:solidFill>
                <a:latin typeface="Open Sans"/>
              </a:rPr>
              <a:t>需要自己手动执行 </a:t>
            </a:r>
            <a:r>
              <a:rPr lang="en-US" altLang="zh-CN" sz="1800" dirty="0">
                <a:solidFill>
                  <a:srgbClr val="333333"/>
                </a:solidFill>
                <a:latin typeface="Open Sans"/>
              </a:rPr>
              <a:t>BGREWRITEAOF </a:t>
            </a:r>
            <a:r>
              <a:rPr lang="zh-CN" altLang="en-US" sz="1800" dirty="0">
                <a:solidFill>
                  <a:srgbClr val="333333"/>
                </a:solidFill>
                <a:latin typeface="Open Sans"/>
              </a:rPr>
              <a:t>命令； </a:t>
            </a:r>
            <a:r>
              <a:rPr lang="en-US" altLang="zh-CN" sz="1800" dirty="0">
                <a:solidFill>
                  <a:srgbClr val="333333"/>
                </a:solidFill>
                <a:latin typeface="Open Sans"/>
              </a:rPr>
              <a:t>Redis 2.4 </a:t>
            </a:r>
            <a:r>
              <a:rPr lang="zh-CN" altLang="en-US" sz="1800" dirty="0">
                <a:solidFill>
                  <a:srgbClr val="333333"/>
                </a:solidFill>
                <a:latin typeface="Open Sans"/>
              </a:rPr>
              <a:t>则可以自动触发 </a:t>
            </a:r>
            <a:r>
              <a:rPr lang="en-US" altLang="zh-CN" sz="1800" dirty="0">
                <a:solidFill>
                  <a:srgbClr val="333333"/>
                </a:solidFill>
                <a:latin typeface="Open Sans"/>
              </a:rPr>
              <a:t>AOF </a:t>
            </a:r>
            <a:r>
              <a:rPr lang="zh-CN" altLang="en-US" sz="1800" dirty="0">
                <a:solidFill>
                  <a:srgbClr val="333333"/>
                </a:solidFill>
                <a:latin typeface="Open Sans"/>
              </a:rPr>
              <a:t>重写， 具体信息请查看 配置文件。</a:t>
            </a:r>
            <a:endParaRPr lang="en-US" altLang="zh-CN" sz="1800" dirty="0">
              <a:solidFill>
                <a:srgbClr val="333333"/>
              </a:solidFill>
              <a:latin typeface="Open Sans"/>
            </a:endParaRPr>
          </a:p>
          <a:p>
            <a:pPr algn="l">
              <a:lnSpc>
                <a:spcPct val="120000"/>
              </a:lnSpc>
            </a:pPr>
            <a:r>
              <a:rPr lang="en-US" altLang="zh-CN" sz="1800" dirty="0">
                <a:solidFill>
                  <a:srgbClr val="FF0000"/>
                </a:solidFill>
                <a:latin typeface="Open Sans"/>
              </a:rPr>
              <a:t>Redis</a:t>
            </a:r>
            <a:r>
              <a:rPr lang="zh-CN" altLang="en-US" sz="1800" dirty="0">
                <a:solidFill>
                  <a:srgbClr val="FF0000"/>
                </a:solidFill>
                <a:latin typeface="Open Sans"/>
              </a:rPr>
              <a:t>会记录上次重写时的</a:t>
            </a:r>
            <a:r>
              <a:rPr lang="en-US" altLang="zh-CN" sz="1800" dirty="0">
                <a:solidFill>
                  <a:srgbClr val="FF0000"/>
                </a:solidFill>
                <a:latin typeface="Open Sans"/>
              </a:rPr>
              <a:t>AOF</a:t>
            </a:r>
            <a:r>
              <a:rPr lang="zh-CN" altLang="en-US" sz="1800" dirty="0">
                <a:solidFill>
                  <a:srgbClr val="FF0000"/>
                </a:solidFill>
                <a:latin typeface="Open Sans"/>
              </a:rPr>
              <a:t>大小，默认配置是当</a:t>
            </a:r>
            <a:r>
              <a:rPr lang="en-US" altLang="zh-CN" sz="1800" dirty="0">
                <a:solidFill>
                  <a:srgbClr val="FF0000"/>
                </a:solidFill>
                <a:latin typeface="Open Sans"/>
              </a:rPr>
              <a:t>AOF</a:t>
            </a:r>
            <a:r>
              <a:rPr lang="zh-CN" altLang="en-US" sz="1800" dirty="0">
                <a:solidFill>
                  <a:srgbClr val="FF0000"/>
                </a:solidFill>
                <a:latin typeface="Open Sans"/>
              </a:rPr>
              <a:t>文件大小是上次</a:t>
            </a:r>
            <a:r>
              <a:rPr lang="en-US" altLang="zh-CN" sz="1800" dirty="0">
                <a:solidFill>
                  <a:srgbClr val="FF0000"/>
                </a:solidFill>
                <a:latin typeface="Open Sans"/>
              </a:rPr>
              <a:t>rewrite</a:t>
            </a:r>
            <a:r>
              <a:rPr lang="zh-CN" altLang="en-US" sz="1800" dirty="0">
                <a:solidFill>
                  <a:srgbClr val="FF0000"/>
                </a:solidFill>
                <a:latin typeface="Open Sans"/>
              </a:rPr>
              <a:t>后大小的一倍且文件大于</a:t>
            </a:r>
            <a:r>
              <a:rPr lang="en-US" altLang="zh-CN" sz="1800" dirty="0">
                <a:solidFill>
                  <a:srgbClr val="FF0000"/>
                </a:solidFill>
                <a:latin typeface="Open Sans"/>
              </a:rPr>
              <a:t>64M</a:t>
            </a:r>
            <a:r>
              <a:rPr lang="zh-CN" altLang="en-US" sz="1800" dirty="0">
                <a:solidFill>
                  <a:srgbClr val="FF0000"/>
                </a:solidFill>
                <a:latin typeface="Open Sans"/>
              </a:rPr>
              <a:t>时触发</a:t>
            </a:r>
            <a:endParaRPr lang="en-US" altLang="zh-CN" sz="1800" dirty="0">
              <a:solidFill>
                <a:srgbClr val="FF0000"/>
              </a:solidFill>
              <a:latin typeface="Open Sans"/>
            </a:endParaRPr>
          </a:p>
          <a:p>
            <a:pPr algn="l">
              <a:lnSpc>
                <a:spcPct val="120000"/>
              </a:lnSpc>
            </a:pPr>
            <a:r>
              <a:rPr lang="en-US" altLang="zh-CN" sz="1800" dirty="0">
                <a:solidFill>
                  <a:srgbClr val="333333"/>
                </a:solidFill>
                <a:latin typeface="Consolas" panose="020B0609020204030204" charset="0"/>
                <a:cs typeface="Consolas" panose="020B0609020204030204" charset="0"/>
              </a:rPr>
              <a:t>auto-</a:t>
            </a:r>
            <a:r>
              <a:rPr lang="en-US" altLang="zh-CN" sz="1800" dirty="0" err="1">
                <a:solidFill>
                  <a:srgbClr val="333333"/>
                </a:solidFill>
                <a:latin typeface="Consolas" panose="020B0609020204030204" charset="0"/>
                <a:cs typeface="Consolas" panose="020B0609020204030204" charset="0"/>
              </a:rPr>
              <a:t>aof</a:t>
            </a:r>
            <a:r>
              <a:rPr lang="en-US" altLang="zh-CN" sz="1800" dirty="0">
                <a:solidFill>
                  <a:srgbClr val="333333"/>
                </a:solidFill>
                <a:latin typeface="Consolas" panose="020B0609020204030204" charset="0"/>
                <a:cs typeface="Consolas" panose="020B0609020204030204" charset="0"/>
              </a:rPr>
              <a:t>-rewrite-percentage 100</a:t>
            </a:r>
            <a:endParaRPr lang="en-US" altLang="zh-CN" sz="1800" dirty="0">
              <a:solidFill>
                <a:srgbClr val="333333"/>
              </a:solidFill>
              <a:latin typeface="Consolas" panose="020B0609020204030204" charset="0"/>
              <a:cs typeface="Consolas" panose="020B0609020204030204" charset="0"/>
            </a:endParaRPr>
          </a:p>
          <a:p>
            <a:pPr algn="l">
              <a:lnSpc>
                <a:spcPct val="120000"/>
              </a:lnSpc>
            </a:pPr>
            <a:r>
              <a:rPr lang="en-US" altLang="zh-CN" sz="1800" dirty="0">
                <a:solidFill>
                  <a:srgbClr val="333333"/>
                </a:solidFill>
                <a:latin typeface="Consolas" panose="020B0609020204030204" charset="0"/>
                <a:cs typeface="Consolas" panose="020B0609020204030204" charset="0"/>
              </a:rPr>
              <a:t>auto-</a:t>
            </a:r>
            <a:r>
              <a:rPr lang="en-US" altLang="zh-CN" sz="1800" dirty="0" err="1">
                <a:solidFill>
                  <a:srgbClr val="333333"/>
                </a:solidFill>
                <a:latin typeface="Consolas" panose="020B0609020204030204" charset="0"/>
                <a:cs typeface="Consolas" panose="020B0609020204030204" charset="0"/>
              </a:rPr>
              <a:t>aof</a:t>
            </a:r>
            <a:r>
              <a:rPr lang="en-US" altLang="zh-CN" sz="1800" dirty="0">
                <a:solidFill>
                  <a:srgbClr val="333333"/>
                </a:solidFill>
                <a:latin typeface="Consolas" panose="020B0609020204030204" charset="0"/>
                <a:cs typeface="Consolas" panose="020B0609020204030204" charset="0"/>
              </a:rPr>
              <a:t>-rewrite-min-size</a:t>
            </a:r>
            <a:r>
              <a:rPr lang="en-US" altLang="zh-CN" sz="1800" dirty="0">
                <a:solidFill>
                  <a:srgbClr val="333333"/>
                </a:solidFill>
                <a:latin typeface="Consolas" panose="020B0609020204030204" charset="0"/>
                <a:cs typeface="Consolas" panose="020B0609020204030204" charset="0"/>
              </a:rPr>
              <a:t> 64mb</a:t>
            </a:r>
            <a:endParaRPr lang="zh-CN" altLang="en-US" sz="1800" dirty="0">
              <a:solidFill>
                <a:srgbClr val="333333"/>
              </a:solidFill>
              <a:latin typeface="Open Sans"/>
            </a:endParaRPr>
          </a:p>
          <a:p>
            <a:pPr algn="l">
              <a:lnSpc>
                <a:spcPct val="120000"/>
              </a:lnSpc>
              <a:buFont typeface="Arial" panose="020B0604020202020204" pitchFamily="34" charset="0"/>
              <a:buChar char="•"/>
            </a:pPr>
            <a:endParaRPr lang="en-US" altLang="zh-CN" sz="1800" dirty="0">
              <a:solidFill>
                <a:srgbClr val="333333"/>
              </a:solidFill>
              <a:latin typeface="Open Sans"/>
            </a:endParaRPr>
          </a:p>
        </p:txBody>
      </p:sp>
      <p:sp>
        <p:nvSpPr>
          <p:cNvPr id="6" name="Rectangle 2"/>
          <p:cNvSpPr txBox="1">
            <a:spLocks noChangeArrowheads="1"/>
          </p:cNvSpPr>
          <p:nvPr/>
        </p:nvSpPr>
        <p:spPr>
          <a:xfrm>
            <a:off x="489433" y="141655"/>
            <a:ext cx="8443106" cy="925774"/>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-AOF</a:t>
            </a:r>
            <a:r>
              <a:rPr lang="zh-CN" altLang="en-US" kern="0" dirty="0"/>
              <a:t>重写（</a:t>
            </a:r>
            <a:r>
              <a:rPr lang="en-US" altLang="zh-CN" kern="0" dirty="0"/>
              <a:t>rewrite</a:t>
            </a:r>
            <a:r>
              <a:rPr lang="zh-CN" altLang="en-US" kern="0" dirty="0"/>
              <a:t>）</a:t>
            </a:r>
            <a:endParaRPr lang="zh-CN" altLang="en-US" kern="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333375" y="574675"/>
            <a:ext cx="8968740" cy="49828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62305" y="778510"/>
            <a:ext cx="8591550" cy="52609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33491"/>
            <a:ext cx="8501717" cy="3932807"/>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r>
              <a:rPr lang="en-US" altLang="zh-CN" sz="2000" b="1" dirty="0">
                <a:solidFill>
                  <a:srgbClr val="FF0000"/>
                </a:solidFill>
                <a:latin typeface="Open Sans"/>
              </a:rPr>
              <a:t>AOF </a:t>
            </a:r>
            <a:r>
              <a:rPr lang="zh-CN" altLang="en-US" sz="2000" b="1" dirty="0">
                <a:solidFill>
                  <a:srgbClr val="FF0000"/>
                </a:solidFill>
                <a:latin typeface="Open Sans"/>
              </a:rPr>
              <a:t>方式的优点</a:t>
            </a:r>
            <a:endParaRPr lang="en-US" altLang="zh-CN" sz="2000" b="1" dirty="0">
              <a:solidFill>
                <a:srgbClr val="FF0000"/>
              </a:solidFill>
              <a:latin typeface="Open Sans"/>
            </a:endParaRPr>
          </a:p>
          <a:p>
            <a:pPr algn="l"/>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zh-CN" altLang="en-US" sz="1600" dirty="0">
                <a:solidFill>
                  <a:srgbClr val="333333"/>
                </a:solidFill>
                <a:latin typeface="Open Sans"/>
              </a:rPr>
              <a:t>使用</a:t>
            </a:r>
            <a:r>
              <a:rPr lang="en-US" altLang="zh-CN" sz="1600" dirty="0">
                <a:solidFill>
                  <a:srgbClr val="333333"/>
                </a:solidFill>
                <a:latin typeface="Open Sans"/>
              </a:rPr>
              <a:t>AOF </a:t>
            </a:r>
            <a:r>
              <a:rPr lang="zh-CN" altLang="en-US" sz="1600" dirty="0">
                <a:solidFill>
                  <a:srgbClr val="333333"/>
                </a:solidFill>
                <a:latin typeface="Open Sans"/>
              </a:rPr>
              <a:t>会让你的</a:t>
            </a:r>
            <a:r>
              <a:rPr lang="en-US" altLang="zh-CN" sz="1600" dirty="0">
                <a:solidFill>
                  <a:srgbClr val="333333"/>
                </a:solidFill>
                <a:latin typeface="Open Sans"/>
              </a:rPr>
              <a:t>Redis</a:t>
            </a:r>
            <a:r>
              <a:rPr lang="zh-CN" altLang="en-US" sz="1600" dirty="0">
                <a:solidFill>
                  <a:srgbClr val="333333"/>
                </a:solidFill>
                <a:latin typeface="Open Sans"/>
              </a:rPr>
              <a:t>更加耐久</a:t>
            </a:r>
            <a:r>
              <a:rPr lang="en-US" altLang="zh-CN" sz="1600" dirty="0">
                <a:solidFill>
                  <a:srgbClr val="333333"/>
                </a:solidFill>
                <a:latin typeface="Open Sans"/>
              </a:rPr>
              <a:t>: </a:t>
            </a:r>
            <a:r>
              <a:rPr lang="zh-CN" altLang="en-US" sz="1600" dirty="0">
                <a:solidFill>
                  <a:srgbClr val="333333"/>
                </a:solidFill>
                <a:latin typeface="Open Sans"/>
              </a:rPr>
              <a:t>你可以使用不同的</a:t>
            </a:r>
            <a:r>
              <a:rPr lang="en-US" altLang="zh-CN" sz="1600" dirty="0" err="1">
                <a:solidFill>
                  <a:srgbClr val="333333"/>
                </a:solidFill>
                <a:latin typeface="Open Sans"/>
              </a:rPr>
              <a:t>fsync</a:t>
            </a:r>
            <a:r>
              <a:rPr lang="zh-CN" altLang="en-US" sz="1600" dirty="0">
                <a:solidFill>
                  <a:srgbClr val="333333"/>
                </a:solidFill>
                <a:latin typeface="Open Sans"/>
              </a:rPr>
              <a:t>策略：无</a:t>
            </a:r>
            <a:r>
              <a:rPr lang="en-US" altLang="zh-CN" sz="1600" dirty="0" err="1">
                <a:solidFill>
                  <a:srgbClr val="333333"/>
                </a:solidFill>
                <a:latin typeface="Open Sans"/>
              </a:rPr>
              <a:t>fsync</a:t>
            </a:r>
            <a:r>
              <a:rPr lang="en-US" altLang="zh-CN" sz="1600" dirty="0">
                <a:solidFill>
                  <a:srgbClr val="333333"/>
                </a:solidFill>
                <a:latin typeface="Open Sans"/>
              </a:rPr>
              <a:t>,</a:t>
            </a:r>
            <a:r>
              <a:rPr lang="zh-CN" altLang="en-US" sz="1600" dirty="0">
                <a:solidFill>
                  <a:srgbClr val="333333"/>
                </a:solidFill>
                <a:latin typeface="Open Sans"/>
              </a:rPr>
              <a:t>每秒</a:t>
            </a:r>
            <a:r>
              <a:rPr lang="en-US" altLang="zh-CN" sz="1600" dirty="0" err="1">
                <a:solidFill>
                  <a:srgbClr val="333333"/>
                </a:solidFill>
                <a:latin typeface="Open Sans"/>
              </a:rPr>
              <a:t>fsync</a:t>
            </a:r>
            <a:r>
              <a:rPr lang="en-US" altLang="zh-CN" sz="1600" dirty="0">
                <a:solidFill>
                  <a:srgbClr val="333333"/>
                </a:solidFill>
                <a:latin typeface="Open Sans"/>
              </a:rPr>
              <a:t>,</a:t>
            </a:r>
            <a:r>
              <a:rPr lang="zh-CN" altLang="en-US" sz="1600" dirty="0">
                <a:solidFill>
                  <a:srgbClr val="333333"/>
                </a:solidFill>
                <a:latin typeface="Open Sans"/>
              </a:rPr>
              <a:t>每次写的时候</a:t>
            </a:r>
            <a:r>
              <a:rPr lang="en-US" altLang="zh-CN" sz="1600" dirty="0" err="1">
                <a:solidFill>
                  <a:srgbClr val="333333"/>
                </a:solidFill>
                <a:latin typeface="Open Sans"/>
              </a:rPr>
              <a:t>fsync</a:t>
            </a:r>
            <a:r>
              <a:rPr lang="en-US" altLang="zh-CN" sz="1600" dirty="0">
                <a:solidFill>
                  <a:srgbClr val="333333"/>
                </a:solidFill>
                <a:latin typeface="Open Sans"/>
              </a:rPr>
              <a:t>.</a:t>
            </a:r>
            <a:r>
              <a:rPr lang="zh-CN" altLang="en-US" sz="1600" dirty="0">
                <a:solidFill>
                  <a:srgbClr val="333333"/>
                </a:solidFill>
                <a:latin typeface="Open Sans"/>
              </a:rPr>
              <a:t>使用默认的每秒</a:t>
            </a:r>
            <a:r>
              <a:rPr lang="en-US" altLang="zh-CN" sz="1600" dirty="0" err="1">
                <a:solidFill>
                  <a:srgbClr val="333333"/>
                </a:solidFill>
                <a:latin typeface="Open Sans"/>
              </a:rPr>
              <a:t>fsync</a:t>
            </a:r>
            <a:r>
              <a:rPr lang="zh-CN" altLang="en-US" sz="1600" dirty="0">
                <a:solidFill>
                  <a:srgbClr val="333333"/>
                </a:solidFill>
                <a:latin typeface="Open Sans"/>
              </a:rPr>
              <a:t>策略</a:t>
            </a:r>
            <a:r>
              <a:rPr lang="en-US" altLang="zh-CN" sz="1600" dirty="0">
                <a:solidFill>
                  <a:srgbClr val="333333"/>
                </a:solidFill>
                <a:latin typeface="Open Sans"/>
              </a:rPr>
              <a:t>,Redis</a:t>
            </a:r>
            <a:r>
              <a:rPr lang="zh-CN" altLang="en-US" sz="1600" dirty="0">
                <a:solidFill>
                  <a:srgbClr val="333333"/>
                </a:solidFill>
                <a:latin typeface="Open Sans"/>
              </a:rPr>
              <a:t>的性能依然很好</a:t>
            </a:r>
            <a:r>
              <a:rPr lang="en-US" altLang="zh-CN" sz="1600" dirty="0">
                <a:solidFill>
                  <a:srgbClr val="333333"/>
                </a:solidFill>
                <a:latin typeface="Open Sans"/>
              </a:rPr>
              <a:t>(</a:t>
            </a:r>
            <a:r>
              <a:rPr lang="en-US" altLang="zh-CN" sz="1600" dirty="0" err="1">
                <a:solidFill>
                  <a:srgbClr val="333333"/>
                </a:solidFill>
                <a:latin typeface="Open Sans"/>
              </a:rPr>
              <a:t>fsync</a:t>
            </a:r>
            <a:r>
              <a:rPr lang="zh-CN" altLang="en-US" sz="1600" dirty="0">
                <a:solidFill>
                  <a:srgbClr val="333333"/>
                </a:solidFill>
                <a:latin typeface="Open Sans"/>
              </a:rPr>
              <a:t>是由后台线程进行处理的</a:t>
            </a:r>
            <a:r>
              <a:rPr lang="en-US" altLang="zh-CN" sz="1600" dirty="0">
                <a:solidFill>
                  <a:srgbClr val="333333"/>
                </a:solidFill>
                <a:latin typeface="Open Sans"/>
              </a:rPr>
              <a:t>,</a:t>
            </a:r>
            <a:r>
              <a:rPr lang="zh-CN" altLang="en-US" sz="1600" dirty="0">
                <a:solidFill>
                  <a:srgbClr val="333333"/>
                </a:solidFill>
                <a:latin typeface="Open Sans"/>
              </a:rPr>
              <a:t>主线程会尽力处理客户端请求</a:t>
            </a:r>
            <a:r>
              <a:rPr lang="en-US" altLang="zh-CN" sz="1600" dirty="0">
                <a:solidFill>
                  <a:srgbClr val="333333"/>
                </a:solidFill>
                <a:latin typeface="Open Sans"/>
              </a:rPr>
              <a:t>),</a:t>
            </a:r>
            <a:r>
              <a:rPr lang="zh-CN" altLang="en-US" sz="1600" dirty="0">
                <a:solidFill>
                  <a:srgbClr val="333333"/>
                </a:solidFill>
                <a:latin typeface="Open Sans"/>
              </a:rPr>
              <a:t>一旦出现故障，你最多丢失</a:t>
            </a:r>
            <a:r>
              <a:rPr lang="en-US" altLang="zh-CN" sz="1600" dirty="0">
                <a:solidFill>
                  <a:srgbClr val="333333"/>
                </a:solidFill>
                <a:latin typeface="Open Sans"/>
              </a:rPr>
              <a:t>1</a:t>
            </a:r>
            <a:r>
              <a:rPr lang="zh-CN" altLang="en-US" sz="1600" dirty="0">
                <a:solidFill>
                  <a:srgbClr val="333333"/>
                </a:solidFill>
                <a:latin typeface="Open Sans"/>
              </a:rPr>
              <a:t>秒的数据。</a:t>
            </a:r>
            <a:endParaRPr lang="en-US" altLang="zh-CN"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a:p>
            <a:pPr algn="l">
              <a:lnSpc>
                <a:spcPct val="120000"/>
              </a:lnSpc>
              <a:buFont typeface="Arial" panose="020B0604020202020204" pitchFamily="34" charset="0"/>
              <a:buChar char="•"/>
            </a:pPr>
            <a:r>
              <a:rPr lang="en-US" altLang="zh-CN" sz="1600" dirty="0">
                <a:solidFill>
                  <a:srgbClr val="333333"/>
                </a:solidFill>
                <a:latin typeface="Open Sans"/>
              </a:rPr>
              <a:t>AOF</a:t>
            </a:r>
            <a:r>
              <a:rPr lang="zh-CN" altLang="en-US" sz="1600" dirty="0">
                <a:solidFill>
                  <a:srgbClr val="333333"/>
                </a:solidFill>
                <a:latin typeface="Open Sans"/>
              </a:rPr>
              <a:t>文件是一个只进行追加的日志文件</a:t>
            </a:r>
            <a:r>
              <a:rPr lang="en-US" altLang="zh-CN" sz="1600" dirty="0">
                <a:solidFill>
                  <a:srgbClr val="333333"/>
                </a:solidFill>
                <a:latin typeface="Open Sans"/>
              </a:rPr>
              <a:t>,</a:t>
            </a:r>
            <a:r>
              <a:rPr lang="zh-CN" altLang="en-US" sz="1600" dirty="0">
                <a:solidFill>
                  <a:srgbClr val="333333"/>
                </a:solidFill>
                <a:latin typeface="Open Sans"/>
              </a:rPr>
              <a:t>所以不需要写入</a:t>
            </a:r>
            <a:r>
              <a:rPr lang="en-US" altLang="zh-CN" sz="1600" dirty="0">
                <a:solidFill>
                  <a:srgbClr val="333333"/>
                </a:solidFill>
                <a:latin typeface="Open Sans"/>
              </a:rPr>
              <a:t>seek,</a:t>
            </a:r>
            <a:r>
              <a:rPr lang="zh-CN" altLang="en-US" sz="1600" dirty="0">
                <a:solidFill>
                  <a:srgbClr val="333333"/>
                </a:solidFill>
                <a:latin typeface="Open Sans"/>
              </a:rPr>
              <a:t>即使由于某些原因</a:t>
            </a:r>
            <a:r>
              <a:rPr lang="en-US" altLang="zh-CN" sz="1600" dirty="0">
                <a:solidFill>
                  <a:srgbClr val="333333"/>
                </a:solidFill>
                <a:latin typeface="Open Sans"/>
              </a:rPr>
              <a:t>(</a:t>
            </a:r>
            <a:r>
              <a:rPr lang="zh-CN" altLang="en-US" sz="1600" dirty="0">
                <a:solidFill>
                  <a:srgbClr val="333333"/>
                </a:solidFill>
                <a:latin typeface="Open Sans"/>
              </a:rPr>
              <a:t>磁盘空间已满，写的过程中宕机等等</a:t>
            </a:r>
            <a:r>
              <a:rPr lang="en-US" altLang="zh-CN" sz="1600" dirty="0">
                <a:solidFill>
                  <a:srgbClr val="333333"/>
                </a:solidFill>
                <a:latin typeface="Open Sans"/>
              </a:rPr>
              <a:t>)</a:t>
            </a:r>
            <a:r>
              <a:rPr lang="zh-CN" altLang="en-US" sz="1600" dirty="0">
                <a:solidFill>
                  <a:srgbClr val="333333"/>
                </a:solidFill>
                <a:latin typeface="Open Sans"/>
              </a:rPr>
              <a:t>未执行完整的写入命令</a:t>
            </a:r>
            <a:r>
              <a:rPr lang="en-US" altLang="zh-CN" sz="1600" dirty="0">
                <a:solidFill>
                  <a:srgbClr val="333333"/>
                </a:solidFill>
                <a:latin typeface="Open Sans"/>
              </a:rPr>
              <a:t>,</a:t>
            </a:r>
            <a:r>
              <a:rPr lang="zh-CN" altLang="en-US" sz="1600" dirty="0">
                <a:solidFill>
                  <a:srgbClr val="333333"/>
                </a:solidFill>
                <a:latin typeface="Open Sans"/>
              </a:rPr>
              <a:t>你也也可使用</a:t>
            </a:r>
            <a:r>
              <a:rPr lang="en-US" altLang="zh-CN" sz="1600" dirty="0" err="1">
                <a:solidFill>
                  <a:srgbClr val="FF0000"/>
                </a:solidFill>
                <a:latin typeface="Open Sans"/>
              </a:rPr>
              <a:t>redis</a:t>
            </a:r>
            <a:r>
              <a:rPr lang="en-US" altLang="zh-CN" sz="1600" dirty="0">
                <a:solidFill>
                  <a:srgbClr val="FF0000"/>
                </a:solidFill>
                <a:latin typeface="Open Sans"/>
              </a:rPr>
              <a:t>-check-</a:t>
            </a:r>
            <a:r>
              <a:rPr lang="en-US" altLang="zh-CN" sz="1600" dirty="0" err="1">
                <a:solidFill>
                  <a:srgbClr val="FF0000"/>
                </a:solidFill>
                <a:latin typeface="Open Sans"/>
              </a:rPr>
              <a:t>aof</a:t>
            </a:r>
            <a:r>
              <a:rPr lang="zh-CN" altLang="en-US" sz="1600" dirty="0">
                <a:solidFill>
                  <a:srgbClr val="333333"/>
                </a:solidFill>
                <a:latin typeface="Open Sans"/>
              </a:rPr>
              <a:t>工具修复这些问题。</a:t>
            </a:r>
            <a:endParaRPr lang="en-US" altLang="zh-CN"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-AOF</a:t>
            </a:r>
            <a:r>
              <a:rPr lang="zh-CN" altLang="en-US" kern="0" dirty="0"/>
              <a:t>方式</a:t>
            </a:r>
            <a:endParaRPr lang="en-US" altLang="zh-CN" kern="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328"/>
            <a:ext cx="8501717" cy="4754023"/>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r>
              <a:rPr lang="en-US" altLang="zh-CN" sz="2000" b="1" dirty="0">
                <a:solidFill>
                  <a:srgbClr val="FF0000"/>
                </a:solidFill>
                <a:latin typeface="Open Sans"/>
              </a:rPr>
              <a:t>AOF </a:t>
            </a:r>
            <a:r>
              <a:rPr lang="zh-CN" altLang="en-US" sz="2000" b="1" dirty="0">
                <a:solidFill>
                  <a:srgbClr val="FF0000"/>
                </a:solidFill>
                <a:latin typeface="Open Sans"/>
              </a:rPr>
              <a:t>方式的优点</a:t>
            </a:r>
            <a:endParaRPr lang="en-US" altLang="zh-CN" sz="2000" b="1" dirty="0">
              <a:solidFill>
                <a:srgbClr val="FF0000"/>
              </a:solidFill>
              <a:latin typeface="Open Sans"/>
            </a:endParaRPr>
          </a:p>
          <a:p>
            <a:pPr algn="l"/>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en-US" altLang="zh-CN" sz="1600" dirty="0">
                <a:solidFill>
                  <a:srgbClr val="333333"/>
                </a:solidFill>
                <a:latin typeface="Open Sans"/>
              </a:rPr>
              <a:t>Redis </a:t>
            </a:r>
            <a:r>
              <a:rPr lang="zh-CN" altLang="en-US" sz="1600" dirty="0">
                <a:solidFill>
                  <a:srgbClr val="333333"/>
                </a:solidFill>
                <a:latin typeface="Open Sans"/>
              </a:rPr>
              <a:t>可以在 </a:t>
            </a:r>
            <a:r>
              <a:rPr lang="en-US" altLang="zh-CN" sz="1600" dirty="0">
                <a:solidFill>
                  <a:srgbClr val="333333"/>
                </a:solidFill>
                <a:latin typeface="Open Sans"/>
              </a:rPr>
              <a:t>AOF </a:t>
            </a:r>
            <a:r>
              <a:rPr lang="zh-CN" altLang="en-US" sz="1600" dirty="0">
                <a:solidFill>
                  <a:srgbClr val="333333"/>
                </a:solidFill>
                <a:latin typeface="Open Sans"/>
              </a:rPr>
              <a:t>文件体积变得过大时，自动地在后台对 </a:t>
            </a:r>
            <a:r>
              <a:rPr lang="en-US" altLang="zh-CN" sz="1600" dirty="0">
                <a:solidFill>
                  <a:srgbClr val="333333"/>
                </a:solidFill>
                <a:latin typeface="Open Sans"/>
              </a:rPr>
              <a:t>AOF </a:t>
            </a:r>
            <a:r>
              <a:rPr lang="zh-CN" altLang="en-US" sz="1600" dirty="0">
                <a:solidFill>
                  <a:srgbClr val="333333"/>
                </a:solidFill>
                <a:latin typeface="Open Sans"/>
              </a:rPr>
              <a:t>进行重写： 重写后的新 </a:t>
            </a:r>
            <a:r>
              <a:rPr lang="en-US" altLang="zh-CN" sz="1600" dirty="0">
                <a:solidFill>
                  <a:srgbClr val="333333"/>
                </a:solidFill>
                <a:latin typeface="Open Sans"/>
              </a:rPr>
              <a:t>AOF </a:t>
            </a:r>
            <a:r>
              <a:rPr lang="zh-CN" altLang="en-US" sz="1600" dirty="0">
                <a:solidFill>
                  <a:srgbClr val="333333"/>
                </a:solidFill>
                <a:latin typeface="Open Sans"/>
              </a:rPr>
              <a:t>文件包含了恢复当前数据集所需的最小命令集合。 整个重写操作是绝对安全的，因为 </a:t>
            </a:r>
            <a:r>
              <a:rPr lang="en-US" altLang="zh-CN" sz="1600" dirty="0">
                <a:solidFill>
                  <a:srgbClr val="333333"/>
                </a:solidFill>
                <a:latin typeface="Open Sans"/>
              </a:rPr>
              <a:t>Redis </a:t>
            </a:r>
            <a:r>
              <a:rPr lang="zh-CN" altLang="en-US" sz="1600" dirty="0">
                <a:solidFill>
                  <a:srgbClr val="333333"/>
                </a:solidFill>
                <a:latin typeface="Open Sans"/>
              </a:rPr>
              <a:t>在创建新 </a:t>
            </a:r>
            <a:r>
              <a:rPr lang="en-US" altLang="zh-CN" sz="1600" dirty="0">
                <a:solidFill>
                  <a:srgbClr val="333333"/>
                </a:solidFill>
                <a:latin typeface="Open Sans"/>
              </a:rPr>
              <a:t>AOF </a:t>
            </a:r>
            <a:r>
              <a:rPr lang="zh-CN" altLang="en-US" sz="1600" dirty="0">
                <a:solidFill>
                  <a:srgbClr val="333333"/>
                </a:solidFill>
                <a:latin typeface="Open Sans"/>
              </a:rPr>
              <a:t>文件的过程中，会继续将命令</a:t>
            </a:r>
            <a:r>
              <a:rPr lang="zh-CN" altLang="en-US" sz="1600" b="1" dirty="0">
                <a:solidFill>
                  <a:srgbClr val="FF0000"/>
                </a:solidFill>
                <a:latin typeface="Open Sans"/>
              </a:rPr>
              <a:t>追加</a:t>
            </a:r>
            <a:r>
              <a:rPr lang="zh-CN" altLang="en-US" sz="1600" dirty="0">
                <a:solidFill>
                  <a:srgbClr val="333333"/>
                </a:solidFill>
                <a:latin typeface="Open Sans"/>
              </a:rPr>
              <a:t>到现有的 </a:t>
            </a:r>
            <a:r>
              <a:rPr lang="en-US" altLang="zh-CN" sz="1600" dirty="0">
                <a:solidFill>
                  <a:srgbClr val="333333"/>
                </a:solidFill>
                <a:latin typeface="Open Sans"/>
              </a:rPr>
              <a:t>AOF </a:t>
            </a:r>
            <a:r>
              <a:rPr lang="zh-CN" altLang="en-US" sz="1600" dirty="0">
                <a:solidFill>
                  <a:srgbClr val="333333"/>
                </a:solidFill>
                <a:latin typeface="Open Sans"/>
              </a:rPr>
              <a:t>文件里面，即使重写过程中发生停机，现有的 </a:t>
            </a:r>
            <a:r>
              <a:rPr lang="en-US" altLang="zh-CN" sz="1600" dirty="0">
                <a:solidFill>
                  <a:srgbClr val="333333"/>
                </a:solidFill>
                <a:latin typeface="Open Sans"/>
              </a:rPr>
              <a:t>AOF </a:t>
            </a:r>
            <a:r>
              <a:rPr lang="zh-CN" altLang="en-US" sz="1600" dirty="0">
                <a:solidFill>
                  <a:srgbClr val="333333"/>
                </a:solidFill>
                <a:latin typeface="Open Sans"/>
              </a:rPr>
              <a:t>文件也不会丢失。 而一旦新 </a:t>
            </a:r>
            <a:r>
              <a:rPr lang="en-US" altLang="zh-CN" sz="1600" dirty="0">
                <a:solidFill>
                  <a:srgbClr val="333333"/>
                </a:solidFill>
                <a:latin typeface="Open Sans"/>
              </a:rPr>
              <a:t>AOF </a:t>
            </a:r>
            <a:r>
              <a:rPr lang="zh-CN" altLang="en-US" sz="1600" dirty="0">
                <a:solidFill>
                  <a:srgbClr val="333333"/>
                </a:solidFill>
                <a:latin typeface="Open Sans"/>
              </a:rPr>
              <a:t>文件创建完毕，</a:t>
            </a:r>
            <a:r>
              <a:rPr lang="en-US" altLang="zh-CN" sz="1600" dirty="0">
                <a:solidFill>
                  <a:srgbClr val="333333"/>
                </a:solidFill>
                <a:latin typeface="Open Sans"/>
              </a:rPr>
              <a:t>Redis </a:t>
            </a:r>
            <a:r>
              <a:rPr lang="zh-CN" altLang="en-US" sz="1600" dirty="0">
                <a:solidFill>
                  <a:srgbClr val="333333"/>
                </a:solidFill>
                <a:latin typeface="Open Sans"/>
              </a:rPr>
              <a:t>就会从旧 </a:t>
            </a:r>
            <a:r>
              <a:rPr lang="en-US" altLang="zh-CN" sz="1600" dirty="0">
                <a:solidFill>
                  <a:srgbClr val="333333"/>
                </a:solidFill>
                <a:latin typeface="Open Sans"/>
              </a:rPr>
              <a:t>AOF </a:t>
            </a:r>
            <a:r>
              <a:rPr lang="zh-CN" altLang="en-US" sz="1600" dirty="0">
                <a:solidFill>
                  <a:srgbClr val="333333"/>
                </a:solidFill>
                <a:latin typeface="Open Sans"/>
              </a:rPr>
              <a:t>文件切换到新 </a:t>
            </a:r>
            <a:r>
              <a:rPr lang="en-US" altLang="zh-CN" sz="1600" dirty="0">
                <a:solidFill>
                  <a:srgbClr val="333333"/>
                </a:solidFill>
                <a:latin typeface="Open Sans"/>
              </a:rPr>
              <a:t>AOF </a:t>
            </a:r>
            <a:r>
              <a:rPr lang="zh-CN" altLang="en-US" sz="1600" dirty="0">
                <a:solidFill>
                  <a:srgbClr val="333333"/>
                </a:solidFill>
                <a:latin typeface="Open Sans"/>
              </a:rPr>
              <a:t>文件，并开始对新 </a:t>
            </a:r>
            <a:r>
              <a:rPr lang="en-US" altLang="zh-CN" sz="1600" dirty="0">
                <a:solidFill>
                  <a:srgbClr val="333333"/>
                </a:solidFill>
                <a:latin typeface="Open Sans"/>
              </a:rPr>
              <a:t>AOF </a:t>
            </a:r>
            <a:r>
              <a:rPr lang="zh-CN" altLang="en-US" sz="1600" dirty="0">
                <a:solidFill>
                  <a:srgbClr val="333333"/>
                </a:solidFill>
                <a:latin typeface="Open Sans"/>
              </a:rPr>
              <a:t>文件进行追加操作。</a:t>
            </a:r>
            <a:endParaRPr lang="en-US" altLang="zh-CN" sz="1600" dirty="0">
              <a:solidFill>
                <a:srgbClr val="333333"/>
              </a:solidFill>
              <a:latin typeface="Open Sans"/>
            </a:endParaRPr>
          </a:p>
          <a:p>
            <a:pPr algn="l">
              <a:lnSpc>
                <a:spcPct val="120000"/>
              </a:lnSpc>
              <a:buFont typeface="Arial" panose="020B0604020202020204" pitchFamily="34" charset="0"/>
              <a:buChar char="•"/>
            </a:pPr>
            <a:endParaRPr lang="zh-CN" altLang="en-US" sz="1600" dirty="0">
              <a:solidFill>
                <a:srgbClr val="333333"/>
              </a:solidFill>
              <a:latin typeface="Open Sans"/>
            </a:endParaRPr>
          </a:p>
          <a:p>
            <a:pPr algn="l">
              <a:lnSpc>
                <a:spcPct val="120000"/>
              </a:lnSpc>
              <a:buFont typeface="Arial" panose="020B0604020202020204" pitchFamily="34" charset="0"/>
              <a:buChar char="•"/>
            </a:pPr>
            <a:r>
              <a:rPr lang="en-US" altLang="zh-CN" sz="1600" dirty="0">
                <a:solidFill>
                  <a:srgbClr val="333333"/>
                </a:solidFill>
                <a:latin typeface="Open Sans"/>
              </a:rPr>
              <a:t>AOF </a:t>
            </a:r>
            <a:r>
              <a:rPr lang="zh-CN" altLang="en-US" sz="1600" dirty="0">
                <a:solidFill>
                  <a:srgbClr val="333333"/>
                </a:solidFill>
                <a:latin typeface="Open Sans"/>
              </a:rPr>
              <a:t>文件有序地保存了对数据库执行的所有写入操作， 这些写入操作以 </a:t>
            </a:r>
            <a:r>
              <a:rPr lang="en-US" altLang="zh-CN" sz="1600" dirty="0">
                <a:solidFill>
                  <a:srgbClr val="333333"/>
                </a:solidFill>
                <a:latin typeface="Open Sans"/>
              </a:rPr>
              <a:t>Redis </a:t>
            </a:r>
            <a:r>
              <a:rPr lang="zh-CN" altLang="en-US" sz="1600" dirty="0">
                <a:solidFill>
                  <a:srgbClr val="333333"/>
                </a:solidFill>
                <a:latin typeface="Open Sans"/>
              </a:rPr>
              <a:t>协议的格式保存， 因此 </a:t>
            </a:r>
            <a:r>
              <a:rPr lang="en-US" altLang="zh-CN" sz="1600" dirty="0">
                <a:solidFill>
                  <a:srgbClr val="333333"/>
                </a:solidFill>
                <a:latin typeface="Open Sans"/>
              </a:rPr>
              <a:t>AOF </a:t>
            </a:r>
            <a:r>
              <a:rPr lang="zh-CN" altLang="en-US" sz="1600" dirty="0">
                <a:solidFill>
                  <a:srgbClr val="333333"/>
                </a:solidFill>
                <a:latin typeface="Open Sans"/>
              </a:rPr>
              <a:t>文件的内容非常容易被人读懂， 对文件进行分析（</a:t>
            </a:r>
            <a:r>
              <a:rPr lang="en-US" altLang="zh-CN" sz="1600" dirty="0">
                <a:solidFill>
                  <a:srgbClr val="333333"/>
                </a:solidFill>
                <a:latin typeface="Open Sans"/>
              </a:rPr>
              <a:t>parse</a:t>
            </a:r>
            <a:r>
              <a:rPr lang="zh-CN" altLang="en-US" sz="1600" dirty="0">
                <a:solidFill>
                  <a:srgbClr val="333333"/>
                </a:solidFill>
                <a:latin typeface="Open Sans"/>
              </a:rPr>
              <a:t>）也很轻松。 导出（</a:t>
            </a:r>
            <a:r>
              <a:rPr lang="en-US" altLang="zh-CN" sz="1600" dirty="0">
                <a:solidFill>
                  <a:srgbClr val="333333"/>
                </a:solidFill>
                <a:latin typeface="Open Sans"/>
              </a:rPr>
              <a:t>export</a:t>
            </a:r>
            <a:r>
              <a:rPr lang="zh-CN" altLang="en-US" sz="1600" dirty="0">
                <a:solidFill>
                  <a:srgbClr val="333333"/>
                </a:solidFill>
                <a:latin typeface="Open Sans"/>
              </a:rPr>
              <a:t>） </a:t>
            </a:r>
            <a:r>
              <a:rPr lang="en-US" altLang="zh-CN" sz="1600" dirty="0">
                <a:solidFill>
                  <a:srgbClr val="333333"/>
                </a:solidFill>
                <a:latin typeface="Open Sans"/>
              </a:rPr>
              <a:t>AOF </a:t>
            </a:r>
            <a:r>
              <a:rPr lang="zh-CN" altLang="en-US" sz="1600" dirty="0">
                <a:solidFill>
                  <a:srgbClr val="333333"/>
                </a:solidFill>
                <a:latin typeface="Open Sans"/>
              </a:rPr>
              <a:t>文件也非常简单： 举个例子， 如果你不小心执行了 </a:t>
            </a:r>
            <a:r>
              <a:rPr lang="en-US" altLang="zh-CN" sz="1600" dirty="0">
                <a:solidFill>
                  <a:srgbClr val="333333"/>
                </a:solidFill>
                <a:latin typeface="Open Sans"/>
              </a:rPr>
              <a:t>FLUSHALL </a:t>
            </a:r>
            <a:r>
              <a:rPr lang="zh-CN" altLang="en-US" sz="1600" dirty="0">
                <a:solidFill>
                  <a:srgbClr val="333333"/>
                </a:solidFill>
                <a:latin typeface="Open Sans"/>
              </a:rPr>
              <a:t>命令， 但只要 </a:t>
            </a:r>
            <a:r>
              <a:rPr lang="en-US" altLang="zh-CN" sz="1600" dirty="0">
                <a:solidFill>
                  <a:srgbClr val="333333"/>
                </a:solidFill>
                <a:latin typeface="Open Sans"/>
              </a:rPr>
              <a:t>AOF </a:t>
            </a:r>
            <a:r>
              <a:rPr lang="zh-CN" altLang="en-US" sz="1600" dirty="0">
                <a:solidFill>
                  <a:srgbClr val="333333"/>
                </a:solidFill>
                <a:latin typeface="Open Sans"/>
              </a:rPr>
              <a:t>文件未被重写， 那么只要停止服务器， 移除 </a:t>
            </a:r>
            <a:r>
              <a:rPr lang="en-US" altLang="zh-CN" sz="1600" dirty="0">
                <a:solidFill>
                  <a:srgbClr val="333333"/>
                </a:solidFill>
                <a:latin typeface="Open Sans"/>
              </a:rPr>
              <a:t>AOF </a:t>
            </a:r>
            <a:r>
              <a:rPr lang="zh-CN" altLang="en-US" sz="1600" dirty="0">
                <a:solidFill>
                  <a:srgbClr val="333333"/>
                </a:solidFill>
                <a:latin typeface="Open Sans"/>
              </a:rPr>
              <a:t>文件末尾的 </a:t>
            </a:r>
            <a:r>
              <a:rPr lang="en-US" altLang="zh-CN" sz="1600" dirty="0">
                <a:solidFill>
                  <a:srgbClr val="333333"/>
                </a:solidFill>
                <a:latin typeface="Open Sans"/>
              </a:rPr>
              <a:t>FLUSHALL</a:t>
            </a:r>
            <a:r>
              <a:rPr lang="zh-CN" altLang="en-US" sz="1600" dirty="0">
                <a:solidFill>
                  <a:srgbClr val="333333"/>
                </a:solidFill>
                <a:latin typeface="Open Sans"/>
              </a:rPr>
              <a:t>命令，并重启 </a:t>
            </a:r>
            <a:r>
              <a:rPr lang="en-US" altLang="zh-CN" sz="1600" dirty="0">
                <a:solidFill>
                  <a:srgbClr val="333333"/>
                </a:solidFill>
                <a:latin typeface="Open Sans"/>
              </a:rPr>
              <a:t>Redis</a:t>
            </a:r>
            <a:r>
              <a:rPr lang="zh-CN" altLang="en-US" sz="1600" dirty="0">
                <a:solidFill>
                  <a:srgbClr val="333333"/>
                </a:solidFill>
                <a:latin typeface="Open Sans"/>
              </a:rPr>
              <a:t>，就可以将数据集恢复到 </a:t>
            </a:r>
            <a:r>
              <a:rPr lang="en-US" altLang="zh-CN" sz="1600" dirty="0">
                <a:solidFill>
                  <a:srgbClr val="333333"/>
                </a:solidFill>
                <a:latin typeface="Open Sans"/>
              </a:rPr>
              <a:t>FLUSHALL </a:t>
            </a:r>
            <a:r>
              <a:rPr lang="zh-CN" altLang="en-US" sz="1600" dirty="0">
                <a:solidFill>
                  <a:srgbClr val="333333"/>
                </a:solidFill>
                <a:latin typeface="Open Sans"/>
              </a:rPr>
              <a:t>执行之前的状态。</a:t>
            </a:r>
            <a:endParaRPr lang="zh-CN" altLang="en-US"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-AOF</a:t>
            </a:r>
            <a:r>
              <a:rPr lang="zh-CN" altLang="en-US" kern="0" dirty="0"/>
              <a:t>方式</a:t>
            </a:r>
            <a:endParaRPr lang="en-US" altLang="zh-CN" kern="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365319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r>
              <a:rPr lang="en-US" altLang="zh-CN" sz="2000" b="1" dirty="0">
                <a:solidFill>
                  <a:srgbClr val="FF0000"/>
                </a:solidFill>
                <a:latin typeface="Open Sans"/>
              </a:rPr>
              <a:t>AOF </a:t>
            </a:r>
            <a:r>
              <a:rPr lang="zh-CN" altLang="en-US" sz="2000" b="1" dirty="0">
                <a:solidFill>
                  <a:srgbClr val="FF0000"/>
                </a:solidFill>
                <a:latin typeface="Open Sans"/>
              </a:rPr>
              <a:t>方式的缺点</a:t>
            </a:r>
            <a:endParaRPr lang="en-US" altLang="zh-CN" sz="2000" b="1" dirty="0">
              <a:solidFill>
                <a:srgbClr val="FF0000"/>
              </a:solidFill>
              <a:latin typeface="Open Sans"/>
            </a:endParaRPr>
          </a:p>
          <a:p>
            <a:pPr algn="l">
              <a:lnSpc>
                <a:spcPct val="120000"/>
              </a:lnSpc>
            </a:pPr>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zh-CN" altLang="en-US" sz="1600" dirty="0">
                <a:solidFill>
                  <a:srgbClr val="333333"/>
                </a:solidFill>
                <a:latin typeface="Open Sans"/>
              </a:rPr>
              <a:t>对于相同的数据集来说，</a:t>
            </a:r>
            <a:r>
              <a:rPr lang="en-US" altLang="zh-CN" sz="1600" dirty="0">
                <a:solidFill>
                  <a:srgbClr val="333333"/>
                </a:solidFill>
                <a:latin typeface="Open Sans"/>
              </a:rPr>
              <a:t>AOF </a:t>
            </a:r>
            <a:r>
              <a:rPr lang="zh-CN" altLang="en-US" sz="1600" dirty="0">
                <a:solidFill>
                  <a:srgbClr val="333333"/>
                </a:solidFill>
                <a:latin typeface="Open Sans"/>
              </a:rPr>
              <a:t>文件的体积通常要大于 </a:t>
            </a:r>
            <a:r>
              <a:rPr lang="en-US" altLang="zh-CN" sz="1600" dirty="0">
                <a:solidFill>
                  <a:srgbClr val="333333"/>
                </a:solidFill>
                <a:latin typeface="Open Sans"/>
              </a:rPr>
              <a:t>RDB </a:t>
            </a:r>
            <a:r>
              <a:rPr lang="zh-CN" altLang="en-US" sz="1600" dirty="0">
                <a:solidFill>
                  <a:srgbClr val="333333"/>
                </a:solidFill>
                <a:latin typeface="Open Sans"/>
              </a:rPr>
              <a:t>文件的体积。</a:t>
            </a:r>
            <a:endParaRPr lang="en-US" altLang="zh-CN" sz="1600" dirty="0">
              <a:solidFill>
                <a:srgbClr val="333333"/>
              </a:solidFill>
              <a:latin typeface="Open Sans"/>
            </a:endParaRPr>
          </a:p>
          <a:p>
            <a:pPr algn="l">
              <a:lnSpc>
                <a:spcPct val="120000"/>
              </a:lnSpc>
              <a:buFont typeface="Arial" panose="020B0604020202020204" pitchFamily="34" charset="0"/>
              <a:buChar char="•"/>
            </a:pPr>
            <a:endParaRPr lang="zh-CN" altLang="en-US" sz="1600" dirty="0">
              <a:solidFill>
                <a:srgbClr val="333333"/>
              </a:solidFill>
              <a:latin typeface="Open Sans"/>
            </a:endParaRPr>
          </a:p>
          <a:p>
            <a:pPr algn="l">
              <a:lnSpc>
                <a:spcPct val="120000"/>
              </a:lnSpc>
              <a:buFont typeface="Arial" panose="020B0604020202020204" pitchFamily="34" charset="0"/>
              <a:buChar char="•"/>
            </a:pPr>
            <a:r>
              <a:rPr lang="zh-CN" altLang="en-US" sz="1600" dirty="0">
                <a:solidFill>
                  <a:srgbClr val="333333"/>
                </a:solidFill>
                <a:latin typeface="Open Sans"/>
              </a:rPr>
              <a:t>根据所使用的 </a:t>
            </a:r>
            <a:r>
              <a:rPr lang="en-US" altLang="zh-CN" sz="1600" dirty="0" err="1">
                <a:solidFill>
                  <a:srgbClr val="333333"/>
                </a:solidFill>
                <a:latin typeface="Open Sans"/>
              </a:rPr>
              <a:t>fsync</a:t>
            </a:r>
            <a:r>
              <a:rPr lang="en-US" altLang="zh-CN" sz="1600" dirty="0">
                <a:solidFill>
                  <a:srgbClr val="333333"/>
                </a:solidFill>
                <a:latin typeface="Open Sans"/>
              </a:rPr>
              <a:t> </a:t>
            </a:r>
            <a:r>
              <a:rPr lang="zh-CN" altLang="en-US" sz="1600" dirty="0">
                <a:solidFill>
                  <a:srgbClr val="333333"/>
                </a:solidFill>
                <a:latin typeface="Open Sans"/>
              </a:rPr>
              <a:t>策略，</a:t>
            </a:r>
            <a:r>
              <a:rPr lang="en-US" altLang="zh-CN" sz="1600" dirty="0">
                <a:solidFill>
                  <a:srgbClr val="333333"/>
                </a:solidFill>
                <a:latin typeface="Open Sans"/>
              </a:rPr>
              <a:t>AOF </a:t>
            </a:r>
            <a:r>
              <a:rPr lang="zh-CN" altLang="en-US" sz="1600" dirty="0">
                <a:solidFill>
                  <a:srgbClr val="333333"/>
                </a:solidFill>
                <a:latin typeface="Open Sans"/>
              </a:rPr>
              <a:t>的速度可能会慢于 </a:t>
            </a:r>
            <a:r>
              <a:rPr lang="en-US" altLang="zh-CN" sz="1600" dirty="0">
                <a:solidFill>
                  <a:srgbClr val="333333"/>
                </a:solidFill>
                <a:latin typeface="Open Sans"/>
              </a:rPr>
              <a:t>RDB </a:t>
            </a:r>
            <a:r>
              <a:rPr lang="zh-CN" altLang="en-US" sz="1600" dirty="0">
                <a:solidFill>
                  <a:srgbClr val="333333"/>
                </a:solidFill>
                <a:latin typeface="Open Sans"/>
              </a:rPr>
              <a:t>。 在一般情况下， 每秒 </a:t>
            </a:r>
            <a:r>
              <a:rPr lang="en-US" altLang="zh-CN" sz="1600" dirty="0" err="1">
                <a:solidFill>
                  <a:srgbClr val="333333"/>
                </a:solidFill>
                <a:latin typeface="Open Sans"/>
              </a:rPr>
              <a:t>fsync</a:t>
            </a:r>
            <a:r>
              <a:rPr lang="en-US" altLang="zh-CN" sz="1600" dirty="0">
                <a:solidFill>
                  <a:srgbClr val="333333"/>
                </a:solidFill>
                <a:latin typeface="Open Sans"/>
              </a:rPr>
              <a:t> </a:t>
            </a:r>
            <a:r>
              <a:rPr lang="zh-CN" altLang="en-US" sz="1600" dirty="0">
                <a:solidFill>
                  <a:srgbClr val="333333"/>
                </a:solidFill>
                <a:latin typeface="Open Sans"/>
              </a:rPr>
              <a:t>的性能依然非常高， 而关闭 </a:t>
            </a:r>
            <a:r>
              <a:rPr lang="en-US" altLang="zh-CN" sz="1600" dirty="0" err="1">
                <a:solidFill>
                  <a:srgbClr val="333333"/>
                </a:solidFill>
                <a:latin typeface="Open Sans"/>
              </a:rPr>
              <a:t>fsync</a:t>
            </a:r>
            <a:r>
              <a:rPr lang="en-US" altLang="zh-CN" sz="1600" dirty="0">
                <a:solidFill>
                  <a:srgbClr val="333333"/>
                </a:solidFill>
                <a:latin typeface="Open Sans"/>
              </a:rPr>
              <a:t> </a:t>
            </a:r>
            <a:r>
              <a:rPr lang="zh-CN" altLang="en-US" sz="1600" dirty="0">
                <a:solidFill>
                  <a:srgbClr val="333333"/>
                </a:solidFill>
                <a:latin typeface="Open Sans"/>
              </a:rPr>
              <a:t>可以让 </a:t>
            </a:r>
            <a:r>
              <a:rPr lang="en-US" altLang="zh-CN" sz="1600" dirty="0">
                <a:solidFill>
                  <a:srgbClr val="333333"/>
                </a:solidFill>
                <a:latin typeface="Open Sans"/>
              </a:rPr>
              <a:t>AOF </a:t>
            </a:r>
            <a:r>
              <a:rPr lang="zh-CN" altLang="en-US" sz="1600" dirty="0">
                <a:solidFill>
                  <a:srgbClr val="333333"/>
                </a:solidFill>
                <a:latin typeface="Open Sans"/>
              </a:rPr>
              <a:t>的速度和 </a:t>
            </a:r>
            <a:r>
              <a:rPr lang="en-US" altLang="zh-CN" sz="1600" dirty="0">
                <a:solidFill>
                  <a:srgbClr val="333333"/>
                </a:solidFill>
                <a:latin typeface="Open Sans"/>
              </a:rPr>
              <a:t>RDB </a:t>
            </a:r>
            <a:r>
              <a:rPr lang="zh-CN" altLang="en-US" sz="1600" dirty="0">
                <a:solidFill>
                  <a:srgbClr val="333333"/>
                </a:solidFill>
                <a:latin typeface="Open Sans"/>
              </a:rPr>
              <a:t>一样快， 即使在高负荷之下也是如此。 不过在处理巨大的写入载入时，</a:t>
            </a:r>
            <a:r>
              <a:rPr lang="en-US" altLang="zh-CN" sz="1600" dirty="0">
                <a:solidFill>
                  <a:srgbClr val="333333"/>
                </a:solidFill>
                <a:latin typeface="Open Sans"/>
              </a:rPr>
              <a:t>RDB </a:t>
            </a:r>
            <a:r>
              <a:rPr lang="zh-CN" altLang="en-US" sz="1600" dirty="0">
                <a:solidFill>
                  <a:srgbClr val="333333"/>
                </a:solidFill>
                <a:latin typeface="Open Sans"/>
              </a:rPr>
              <a:t>可以提供更有保证的最大延迟时间（</a:t>
            </a:r>
            <a:r>
              <a:rPr lang="en-US" altLang="zh-CN" sz="1600" dirty="0">
                <a:solidFill>
                  <a:srgbClr val="333333"/>
                </a:solidFill>
                <a:latin typeface="Open Sans"/>
              </a:rPr>
              <a:t>latency</a:t>
            </a:r>
            <a:r>
              <a:rPr lang="zh-CN" altLang="en-US" sz="1600" dirty="0">
                <a:solidFill>
                  <a:srgbClr val="333333"/>
                </a:solidFill>
                <a:latin typeface="Open Sans"/>
              </a:rPr>
              <a:t>）。</a:t>
            </a:r>
            <a:endParaRPr lang="zh-CN" altLang="en-US" sz="1600" dirty="0">
              <a:solidFill>
                <a:srgbClr val="333333"/>
              </a:solidFill>
              <a:latin typeface="Open Sans"/>
            </a:endParaRPr>
          </a:p>
          <a:p>
            <a:pPr algn="l">
              <a:lnSpc>
                <a:spcPct val="120000"/>
              </a:lnSpc>
            </a:pPr>
            <a:endParaRPr lang="zh-CN" altLang="en-US"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-AOF</a:t>
            </a:r>
            <a:r>
              <a:rPr lang="zh-CN" altLang="en-US" kern="0" dirty="0"/>
              <a:t>方式</a:t>
            </a:r>
            <a:endParaRPr lang="en-US" altLang="zh-CN" kern="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365319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两种持久化方式如何选择？</a:t>
            </a:r>
            <a:endParaRPr lang="en-US" altLang="zh-CN" sz="1800" dirty="0">
              <a:solidFill>
                <a:srgbClr val="333333"/>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两种持久化方式能不能同时使用？如果能，</a:t>
            </a:r>
            <a:r>
              <a:rPr lang="en-US" altLang="zh-CN" sz="1800" dirty="0" err="1">
                <a:solidFill>
                  <a:srgbClr val="333333"/>
                </a:solidFill>
                <a:latin typeface="Open Sans"/>
              </a:rPr>
              <a:t>redis</a:t>
            </a:r>
            <a:r>
              <a:rPr lang="zh-CN" altLang="en-US" sz="1800" dirty="0">
                <a:solidFill>
                  <a:srgbClr val="333333"/>
                </a:solidFill>
                <a:latin typeface="Open Sans"/>
              </a:rPr>
              <a:t>重启时按照哪个文件的内容恢复数据。</a:t>
            </a:r>
            <a:endParaRPr lang="en-US" altLang="zh-CN" sz="1800" dirty="0">
              <a:solidFill>
                <a:srgbClr val="333333"/>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如果开启了</a:t>
            </a:r>
            <a:r>
              <a:rPr lang="en-US" altLang="zh-CN" sz="1800" dirty="0" err="1">
                <a:solidFill>
                  <a:srgbClr val="333333"/>
                </a:solidFill>
                <a:latin typeface="Open Sans"/>
              </a:rPr>
              <a:t>aof</a:t>
            </a:r>
            <a:r>
              <a:rPr lang="zh-CN" altLang="en-US" sz="1800" dirty="0">
                <a:solidFill>
                  <a:srgbClr val="333333"/>
                </a:solidFill>
                <a:latin typeface="Open Sans"/>
              </a:rPr>
              <a:t>方式，并且</a:t>
            </a:r>
            <a:r>
              <a:rPr lang="en-US" altLang="zh-CN" sz="1800" dirty="0" err="1">
                <a:solidFill>
                  <a:srgbClr val="333333"/>
                </a:solidFill>
                <a:latin typeface="Open Sans"/>
              </a:rPr>
              <a:t>aof</a:t>
            </a:r>
            <a:r>
              <a:rPr lang="zh-CN" altLang="en-US" sz="1800" dirty="0">
                <a:solidFill>
                  <a:srgbClr val="333333"/>
                </a:solidFill>
                <a:latin typeface="Open Sans"/>
              </a:rPr>
              <a:t>文件损坏，</a:t>
            </a:r>
            <a:r>
              <a:rPr lang="en-US" altLang="zh-CN" sz="1800" dirty="0" err="1">
                <a:solidFill>
                  <a:srgbClr val="333333"/>
                </a:solidFill>
                <a:latin typeface="Open Sans"/>
              </a:rPr>
              <a:t>redis</a:t>
            </a:r>
            <a:r>
              <a:rPr lang="zh-CN" altLang="en-US" sz="1800" dirty="0">
                <a:solidFill>
                  <a:srgbClr val="333333"/>
                </a:solidFill>
                <a:latin typeface="Open Sans"/>
              </a:rPr>
              <a:t>能否启动成功？</a:t>
            </a:r>
            <a:r>
              <a:rPr lang="zh-CN" altLang="en-US" sz="1800" dirty="0">
                <a:solidFill>
                  <a:srgbClr val="FF0000"/>
                </a:solidFill>
                <a:latin typeface="Open Sans"/>
              </a:rPr>
              <a:t>启动不成功</a:t>
            </a:r>
            <a:endParaRPr lang="en-US" altLang="zh-CN" sz="1800" dirty="0">
              <a:solidFill>
                <a:srgbClr val="FF0000"/>
              </a:solidFill>
              <a:latin typeface="Open Sans"/>
            </a:endParaRPr>
          </a:p>
          <a:p>
            <a:pPr algn="l">
              <a:lnSpc>
                <a:spcPct val="120000"/>
              </a:lnSpc>
              <a:buFont typeface="Arial" panose="020B0604020202020204" pitchFamily="34" charset="0"/>
              <a:buChar char="•"/>
            </a:pPr>
            <a:r>
              <a:rPr lang="en-US" altLang="zh-CN" sz="1800" dirty="0" err="1">
                <a:solidFill>
                  <a:srgbClr val="333333"/>
                </a:solidFill>
                <a:latin typeface="Open Sans"/>
              </a:rPr>
              <a:t>aof</a:t>
            </a:r>
            <a:r>
              <a:rPr lang="zh-CN" altLang="en-US" sz="1800" dirty="0">
                <a:solidFill>
                  <a:srgbClr val="333333"/>
                </a:solidFill>
                <a:latin typeface="Open Sans"/>
              </a:rPr>
              <a:t>文件如果损坏，怎么处理？</a:t>
            </a:r>
            <a:r>
              <a:rPr lang="en-US" altLang="zh-CN" sz="1800" dirty="0">
                <a:solidFill>
                  <a:srgbClr val="FF0000"/>
                </a:solidFill>
                <a:latin typeface="Open Sans"/>
              </a:rPr>
              <a:t>redis-check-aof --fix </a:t>
            </a:r>
            <a:r>
              <a:rPr lang="zh-CN" altLang="en-US" sz="1800" dirty="0">
                <a:solidFill>
                  <a:srgbClr val="FF0000"/>
                </a:solidFill>
                <a:latin typeface="Open Sans"/>
              </a:rPr>
              <a:t>文件名</a:t>
            </a:r>
            <a:endParaRPr lang="en-US" altLang="zh-CN" sz="1800" dirty="0">
              <a:solidFill>
                <a:srgbClr val="FF0000"/>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如果你只希望你的数据在服务器运行的时候存在，你也可以不使用任何持久化方式。（只做缓存）</a:t>
            </a:r>
            <a:endParaRPr lang="zh-CN" altLang="en-US" sz="18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r>
              <a:rPr lang="en-US" altLang="zh-CN" kern="0" dirty="0"/>
              <a:t>-</a:t>
            </a:r>
            <a:r>
              <a:rPr lang="zh-CN" altLang="en-US" kern="0" dirty="0"/>
              <a:t>疑问</a:t>
            </a:r>
            <a:endParaRPr lang="en-US" altLang="zh-CN" kern="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365319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2000" b="1" dirty="0">
              <a:solidFill>
                <a:srgbClr val="FF0000"/>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如果对数据的安全性要求非常高的话</a:t>
            </a:r>
            <a:r>
              <a:rPr lang="en-US" altLang="zh-CN" sz="1800" dirty="0">
                <a:solidFill>
                  <a:srgbClr val="333333"/>
                </a:solidFill>
                <a:latin typeface="Open Sans"/>
              </a:rPr>
              <a:t>,</a:t>
            </a:r>
            <a:r>
              <a:rPr lang="zh-CN" altLang="en-US" sz="1800" dirty="0">
                <a:solidFill>
                  <a:srgbClr val="333333"/>
                </a:solidFill>
                <a:latin typeface="Open Sans"/>
              </a:rPr>
              <a:t>那么最好一起开启</a:t>
            </a:r>
            <a:r>
              <a:rPr lang="en-US" altLang="zh-CN" sz="1800" dirty="0">
                <a:solidFill>
                  <a:srgbClr val="333333"/>
                </a:solidFill>
                <a:latin typeface="Open Sans"/>
              </a:rPr>
              <a:t>,</a:t>
            </a:r>
            <a:r>
              <a:rPr lang="zh-CN" altLang="en-US" sz="1800" dirty="0">
                <a:solidFill>
                  <a:srgbClr val="333333"/>
                </a:solidFill>
                <a:latin typeface="Open Sans"/>
              </a:rPr>
              <a:t>如果能允许分钟内的数据丢失的话</a:t>
            </a:r>
            <a:r>
              <a:rPr lang="en-US" altLang="zh-CN" sz="1800" dirty="0">
                <a:solidFill>
                  <a:srgbClr val="333333"/>
                </a:solidFill>
                <a:latin typeface="Open Sans"/>
              </a:rPr>
              <a:t>,</a:t>
            </a:r>
            <a:r>
              <a:rPr lang="zh-CN" altLang="en-US" sz="1800" dirty="0">
                <a:solidFill>
                  <a:srgbClr val="333333"/>
                </a:solidFill>
                <a:latin typeface="Open Sans"/>
              </a:rPr>
              <a:t>就选择</a:t>
            </a:r>
            <a:r>
              <a:rPr lang="en-US" altLang="zh-CN" sz="1800" dirty="0">
                <a:solidFill>
                  <a:srgbClr val="333333"/>
                </a:solidFill>
                <a:latin typeface="Open Sans"/>
              </a:rPr>
              <a:t>RDB</a:t>
            </a:r>
            <a:endParaRPr lang="zh-CN" altLang="en-US" sz="1800" dirty="0">
              <a:solidFill>
                <a:srgbClr val="333333"/>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如果数据需要时常备份的话</a:t>
            </a:r>
            <a:r>
              <a:rPr lang="en-US" altLang="zh-CN" sz="1800" dirty="0">
                <a:solidFill>
                  <a:srgbClr val="333333"/>
                </a:solidFill>
                <a:latin typeface="Open Sans"/>
              </a:rPr>
              <a:t>,</a:t>
            </a:r>
            <a:r>
              <a:rPr lang="zh-CN" altLang="en-US" sz="1800" dirty="0">
                <a:solidFill>
                  <a:srgbClr val="333333"/>
                </a:solidFill>
                <a:latin typeface="Open Sans"/>
              </a:rPr>
              <a:t>最好开启</a:t>
            </a:r>
            <a:r>
              <a:rPr lang="en-US" altLang="zh-CN" sz="1800" dirty="0">
                <a:solidFill>
                  <a:srgbClr val="333333"/>
                </a:solidFill>
                <a:latin typeface="Open Sans"/>
              </a:rPr>
              <a:t>RDB</a:t>
            </a:r>
            <a:endParaRPr lang="zh-CN" altLang="en-US" sz="1800" dirty="0">
              <a:solidFill>
                <a:srgbClr val="333333"/>
              </a:solidFill>
              <a:latin typeface="Open Sans"/>
            </a:endParaRPr>
          </a:p>
          <a:p>
            <a:pPr algn="l">
              <a:lnSpc>
                <a:spcPct val="120000"/>
              </a:lnSpc>
              <a:buFont typeface="Arial" panose="020B0604020202020204" pitchFamily="34" charset="0"/>
              <a:buChar char="•"/>
            </a:pPr>
            <a:r>
              <a:rPr lang="zh-CN" altLang="en-US" sz="1800" dirty="0">
                <a:solidFill>
                  <a:srgbClr val="333333"/>
                </a:solidFill>
                <a:latin typeface="Open Sans"/>
              </a:rPr>
              <a:t>两者可以同时开启</a:t>
            </a:r>
            <a:r>
              <a:rPr lang="en-US" altLang="zh-CN" sz="1800" dirty="0">
                <a:solidFill>
                  <a:srgbClr val="333333"/>
                </a:solidFill>
                <a:latin typeface="Open Sans"/>
              </a:rPr>
              <a:t>,</a:t>
            </a:r>
            <a:r>
              <a:rPr lang="zh-CN" altLang="en-US" sz="1800" dirty="0">
                <a:solidFill>
                  <a:srgbClr val="333333"/>
                </a:solidFill>
                <a:latin typeface="Open Sans"/>
              </a:rPr>
              <a:t>也可以只使用一个</a:t>
            </a:r>
            <a:r>
              <a:rPr lang="en-US" altLang="zh-CN" sz="1800" dirty="0">
                <a:solidFill>
                  <a:srgbClr val="333333"/>
                </a:solidFill>
                <a:latin typeface="Open Sans"/>
              </a:rPr>
              <a:t>,</a:t>
            </a:r>
            <a:r>
              <a:rPr lang="zh-CN" altLang="en-US" sz="1800" dirty="0">
                <a:solidFill>
                  <a:srgbClr val="333333"/>
                </a:solidFill>
                <a:latin typeface="Open Sans"/>
              </a:rPr>
              <a:t>但是如果都开启的话</a:t>
            </a:r>
            <a:r>
              <a:rPr lang="en-US" altLang="zh-CN" sz="1800" dirty="0">
                <a:solidFill>
                  <a:srgbClr val="333333"/>
                </a:solidFill>
                <a:latin typeface="Open Sans"/>
              </a:rPr>
              <a:t>,Redis</a:t>
            </a:r>
            <a:r>
              <a:rPr lang="zh-CN" altLang="en-US" sz="1800" dirty="0">
                <a:solidFill>
                  <a:srgbClr val="333333"/>
                </a:solidFill>
                <a:latin typeface="Open Sans"/>
              </a:rPr>
              <a:t>重启时只会加载</a:t>
            </a:r>
            <a:r>
              <a:rPr lang="en-US" altLang="zh-CN" sz="1800" dirty="0">
                <a:solidFill>
                  <a:srgbClr val="333333"/>
                </a:solidFill>
                <a:latin typeface="Open Sans"/>
              </a:rPr>
              <a:t>AOF</a:t>
            </a:r>
            <a:r>
              <a:rPr lang="zh-CN" altLang="en-US" sz="1800" dirty="0">
                <a:solidFill>
                  <a:srgbClr val="333333"/>
                </a:solidFill>
                <a:latin typeface="Open Sans"/>
              </a:rPr>
              <a:t>文件来恢复数据</a:t>
            </a:r>
            <a:endParaRPr lang="zh-CN" altLang="en-US" sz="18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持久化</a:t>
            </a:r>
            <a:endParaRPr lang="en-US" altLang="zh-CN" kern="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事务</a:t>
            </a:r>
            <a:endParaRPr lang="zh-CN" altLang="en-US" sz="4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463859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en-US" altLang="zh-CN" sz="1800" b="0" i="0" dirty="0">
                <a:solidFill>
                  <a:srgbClr val="333333"/>
                </a:solidFill>
                <a:effectLst/>
                <a:latin typeface="Helvetica Neue"/>
              </a:rPr>
              <a:t>Redis</a:t>
            </a:r>
            <a:r>
              <a:rPr lang="zh-CN" altLang="en-US" sz="1800" b="0" i="0" dirty="0">
                <a:solidFill>
                  <a:srgbClr val="FF0000"/>
                </a:solidFill>
                <a:effectLst/>
                <a:latin typeface="Helvetica Neue"/>
              </a:rPr>
              <a:t>事务可以一次执行多个命令，本质是一组命令的集合</a:t>
            </a:r>
            <a:r>
              <a:rPr lang="zh-CN" altLang="en-US" sz="1800" b="0" i="0" dirty="0">
                <a:solidFill>
                  <a:srgbClr val="333333"/>
                </a:solidFill>
                <a:effectLst/>
                <a:latin typeface="Helvetica Neue"/>
              </a:rPr>
              <a:t>。</a:t>
            </a:r>
            <a:r>
              <a:rPr lang="zh-CN" altLang="en-US" sz="1800" b="0" i="0" dirty="0">
                <a:solidFill>
                  <a:srgbClr val="FF0000"/>
                </a:solidFill>
                <a:effectLst/>
                <a:latin typeface="Helvetica Neue"/>
              </a:rPr>
              <a:t>一个事务中的所有命令都会序列化，按顺序的串行化执行，而不会被其他命令插入，不许加塞</a:t>
            </a:r>
            <a:r>
              <a:rPr lang="zh-CN" altLang="en-US" sz="1800" b="0" i="0" dirty="0">
                <a:solidFill>
                  <a:srgbClr val="333333"/>
                </a:solidFill>
                <a:effectLst/>
                <a:latin typeface="Helvetica Neue"/>
              </a:rPr>
              <a:t>。</a:t>
            </a:r>
            <a:endParaRPr lang="en-US" altLang="zh-CN" sz="1800" b="0" i="0" dirty="0">
              <a:solidFill>
                <a:srgbClr val="333333"/>
              </a:solidFill>
              <a:effectLst/>
              <a:latin typeface="Helvetica Neue"/>
            </a:endParaRPr>
          </a:p>
          <a:p>
            <a:pPr algn="l" latinLnBrk="1">
              <a:lnSpc>
                <a:spcPct val="120000"/>
              </a:lnSpc>
            </a:pPr>
            <a:r>
              <a:rPr lang="en-US" altLang="zh-CN" sz="1800" b="0" i="0" dirty="0">
                <a:solidFill>
                  <a:srgbClr val="333333"/>
                </a:solidFill>
                <a:effectLst/>
                <a:latin typeface="Helvetica Neue"/>
              </a:rPr>
              <a:t>Redis</a:t>
            </a:r>
            <a:r>
              <a:rPr lang="zh-CN" altLang="en-US" sz="1800" b="0" i="0" dirty="0">
                <a:solidFill>
                  <a:srgbClr val="333333"/>
                </a:solidFill>
                <a:effectLst/>
                <a:latin typeface="Helvetica Neue"/>
              </a:rPr>
              <a:t>事务有以下三个重要的保证：</a:t>
            </a:r>
            <a:endParaRPr lang="zh-CN" altLang="en-US" sz="1800" b="0" i="0" dirty="0">
              <a:solidFill>
                <a:srgbClr val="333333"/>
              </a:solidFill>
              <a:effectLst/>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批量操作在发送 </a:t>
            </a:r>
            <a:r>
              <a:rPr lang="en-US" altLang="zh-CN" sz="1800" b="0" i="0" dirty="0">
                <a:solidFill>
                  <a:srgbClr val="333333"/>
                </a:solidFill>
                <a:effectLst/>
                <a:latin typeface="Helvetica Neue"/>
              </a:rPr>
              <a:t>EXEC </a:t>
            </a:r>
            <a:r>
              <a:rPr lang="zh-CN" altLang="en-US" sz="1800" b="0" i="0" dirty="0">
                <a:solidFill>
                  <a:srgbClr val="333333"/>
                </a:solidFill>
                <a:effectLst/>
                <a:latin typeface="Helvetica Neue"/>
              </a:rPr>
              <a:t>命令前被放入队列缓存。</a:t>
            </a:r>
            <a:endParaRPr lang="zh-CN" altLang="en-US" sz="1800" b="0" i="0" dirty="0">
              <a:solidFill>
                <a:srgbClr val="333333"/>
              </a:solidFill>
              <a:effectLst/>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收到 </a:t>
            </a:r>
            <a:r>
              <a:rPr lang="en-US" altLang="zh-CN" sz="1800" b="0" i="0" dirty="0">
                <a:solidFill>
                  <a:srgbClr val="333333"/>
                </a:solidFill>
                <a:effectLst/>
                <a:latin typeface="Helvetica Neue"/>
              </a:rPr>
              <a:t>EXEC </a:t>
            </a:r>
            <a:r>
              <a:rPr lang="zh-CN" altLang="en-US" sz="1800" b="0" i="0" dirty="0">
                <a:solidFill>
                  <a:srgbClr val="333333"/>
                </a:solidFill>
                <a:effectLst/>
                <a:latin typeface="Helvetica Neue"/>
              </a:rPr>
              <a:t>命令后进入事务执行，事务中任意命令执行失败，其余的命令依然被执行。</a:t>
            </a:r>
            <a:endParaRPr lang="en-US" altLang="zh-CN" sz="1800" dirty="0">
              <a:solidFill>
                <a:srgbClr val="333333"/>
              </a:solidFill>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在事务执行过程，其他客户端提交的命令请求不会插入到事务执行命令序列中。</a:t>
            </a:r>
            <a:endParaRPr lang="zh-CN" altLang="en-US" sz="1800" b="0" i="0" dirty="0">
              <a:solidFill>
                <a:srgbClr val="333333"/>
              </a:solidFill>
              <a:effectLst/>
              <a:latin typeface="Helvetica Neue"/>
            </a:endParaRPr>
          </a:p>
          <a:p>
            <a:pPr algn="l" latinLnBrk="1">
              <a:lnSpc>
                <a:spcPct val="120000"/>
              </a:lnSpc>
            </a:pPr>
            <a:r>
              <a:rPr lang="zh-CN" altLang="en-US" sz="1800" b="0" i="0" dirty="0">
                <a:solidFill>
                  <a:srgbClr val="333333"/>
                </a:solidFill>
                <a:effectLst/>
                <a:latin typeface="Helvetica Neue"/>
              </a:rPr>
              <a:t>一个事务从开始到执行会经历以下三个阶段：</a:t>
            </a:r>
            <a:endParaRPr lang="zh-CN" altLang="en-US" sz="1800" b="0" i="0" dirty="0">
              <a:solidFill>
                <a:srgbClr val="333333"/>
              </a:solidFill>
              <a:effectLst/>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开始事务。</a:t>
            </a:r>
            <a:endParaRPr lang="zh-CN" altLang="en-US" sz="1800" b="0" i="0" dirty="0">
              <a:solidFill>
                <a:srgbClr val="333333"/>
              </a:solidFill>
              <a:effectLst/>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命令入队。</a:t>
            </a:r>
            <a:endParaRPr lang="zh-CN" altLang="en-US" sz="1800" b="0" i="0" dirty="0">
              <a:solidFill>
                <a:srgbClr val="333333"/>
              </a:solidFill>
              <a:effectLst/>
              <a:latin typeface="Helvetica Neue"/>
            </a:endParaRPr>
          </a:p>
          <a:p>
            <a:pPr algn="l" latinLnBrk="1">
              <a:lnSpc>
                <a:spcPct val="120000"/>
              </a:lnSpc>
              <a:buFont typeface="Arial" panose="020B0604020202020204" pitchFamily="34" charset="0"/>
              <a:buChar char="•"/>
            </a:pP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执行事务。</a:t>
            </a:r>
            <a:endParaRPr lang="zh-CN" altLang="en-US" sz="1800" b="0" i="0" dirty="0">
              <a:solidFill>
                <a:srgbClr val="333333"/>
              </a:solidFill>
              <a:effectLst/>
              <a:latin typeface="Helvetica Neue"/>
            </a:endParaRPr>
          </a:p>
          <a:p>
            <a:pPr algn="l">
              <a:lnSpc>
                <a:spcPct val="120000"/>
              </a:lnSpc>
            </a:pPr>
            <a:endParaRPr lang="zh-CN" altLang="en-US"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介绍</a:t>
            </a:r>
            <a:endParaRPr lang="en-US" altLang="zh-CN" kern="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463859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en-US" altLang="zh-CN" sz="1800" dirty="0">
                <a:solidFill>
                  <a:srgbClr val="333333"/>
                </a:solidFill>
                <a:latin typeface="Helvetica Neue"/>
              </a:rPr>
              <a:t>MULTI</a:t>
            </a:r>
            <a:endParaRPr lang="en-US" altLang="zh-CN"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标记一个事务块的开始。</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EXEC</a:t>
            </a:r>
            <a:endParaRPr lang="en-US" altLang="zh-CN"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执行所有事务块内的命令。</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DISCARD</a:t>
            </a:r>
            <a:endParaRPr lang="en-US" altLang="zh-CN"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取消事务，放弃执行事务块内的所有命令。</a:t>
            </a:r>
            <a:endParaRPr lang="zh-CN" altLang="en-US"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WATCH key [key ...]</a:t>
            </a:r>
            <a:endParaRPr lang="en-US" altLang="zh-CN"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监视一个</a:t>
            </a:r>
            <a:r>
              <a:rPr lang="en-US" altLang="zh-CN" sz="1800" dirty="0">
                <a:solidFill>
                  <a:srgbClr val="333333"/>
                </a:solidFill>
                <a:latin typeface="Helvetica Neue"/>
              </a:rPr>
              <a:t>(</a:t>
            </a:r>
            <a:r>
              <a:rPr lang="zh-CN" altLang="en-US" sz="1800" dirty="0">
                <a:solidFill>
                  <a:srgbClr val="333333"/>
                </a:solidFill>
                <a:latin typeface="Helvetica Neue"/>
              </a:rPr>
              <a:t>或多个</a:t>
            </a:r>
            <a:r>
              <a:rPr lang="en-US" altLang="zh-CN" sz="1800" dirty="0">
                <a:solidFill>
                  <a:srgbClr val="333333"/>
                </a:solidFill>
                <a:latin typeface="Helvetica Neue"/>
              </a:rPr>
              <a:t>) key </a:t>
            </a:r>
            <a:r>
              <a:rPr lang="zh-CN" altLang="en-US" sz="1800" dirty="0">
                <a:solidFill>
                  <a:srgbClr val="333333"/>
                </a:solidFill>
                <a:latin typeface="Helvetica Neue"/>
              </a:rPr>
              <a:t>，如果在事务执行之前这个</a:t>
            </a:r>
            <a:r>
              <a:rPr lang="en-US" altLang="zh-CN" sz="1800" dirty="0">
                <a:solidFill>
                  <a:srgbClr val="333333"/>
                </a:solidFill>
                <a:latin typeface="Helvetica Neue"/>
              </a:rPr>
              <a:t>(</a:t>
            </a:r>
            <a:r>
              <a:rPr lang="zh-CN" altLang="en-US" sz="1800" dirty="0">
                <a:solidFill>
                  <a:srgbClr val="333333"/>
                </a:solidFill>
                <a:latin typeface="Helvetica Neue"/>
              </a:rPr>
              <a:t>或这些</a:t>
            </a:r>
            <a:r>
              <a:rPr lang="en-US" altLang="zh-CN" sz="1800" dirty="0">
                <a:solidFill>
                  <a:srgbClr val="333333"/>
                </a:solidFill>
                <a:latin typeface="Helvetica Neue"/>
              </a:rPr>
              <a:t>) key </a:t>
            </a:r>
            <a:r>
              <a:rPr lang="zh-CN" altLang="en-US" sz="1800" dirty="0">
                <a:solidFill>
                  <a:srgbClr val="333333"/>
                </a:solidFill>
                <a:latin typeface="Helvetica Neue"/>
              </a:rPr>
              <a:t>被其他命令所改动，那么事务将被打断。</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UNWATCH</a:t>
            </a:r>
            <a:endParaRPr lang="en-US" altLang="zh-CN" sz="1800" dirty="0">
              <a:solidFill>
                <a:srgbClr val="333333"/>
              </a:solidFill>
              <a:latin typeface="Helvetica Neue"/>
            </a:endParaRPr>
          </a:p>
          <a:p>
            <a:pPr algn="l" latinLnBrk="1">
              <a:lnSpc>
                <a:spcPct val="120000"/>
              </a:lnSpc>
            </a:pPr>
            <a:r>
              <a:rPr lang="zh-CN" altLang="en-US" sz="1800" dirty="0">
                <a:solidFill>
                  <a:srgbClr val="333333"/>
                </a:solidFill>
                <a:latin typeface="Helvetica Neue"/>
              </a:rPr>
              <a:t>取消 </a:t>
            </a:r>
            <a:r>
              <a:rPr lang="en-US" altLang="zh-CN" sz="1800" dirty="0">
                <a:solidFill>
                  <a:srgbClr val="333333"/>
                </a:solidFill>
                <a:latin typeface="Helvetica Neue"/>
              </a:rPr>
              <a:t>WATCH </a:t>
            </a:r>
            <a:r>
              <a:rPr lang="zh-CN" altLang="en-US" sz="1800" dirty="0">
                <a:solidFill>
                  <a:srgbClr val="333333"/>
                </a:solidFill>
                <a:latin typeface="Helvetica Neue"/>
              </a:rPr>
              <a:t>命令对所有 </a:t>
            </a:r>
            <a:r>
              <a:rPr lang="en-US" altLang="zh-CN" sz="1800" dirty="0">
                <a:solidFill>
                  <a:srgbClr val="333333"/>
                </a:solidFill>
                <a:latin typeface="Helvetica Neue"/>
              </a:rPr>
              <a:t>key </a:t>
            </a:r>
            <a:r>
              <a:rPr lang="zh-CN" altLang="en-US" sz="1800" dirty="0">
                <a:solidFill>
                  <a:srgbClr val="333333"/>
                </a:solidFill>
                <a:latin typeface="Helvetica Neue"/>
              </a:rPr>
              <a:t>的监视。</a:t>
            </a:r>
            <a:endParaRPr lang="zh-CN" altLang="en-US" sz="1800" dirty="0">
              <a:solidFill>
                <a:srgbClr val="333333"/>
              </a:solidFill>
              <a:latin typeface="Helvetica Neue"/>
            </a:endParaRPr>
          </a:p>
          <a:p>
            <a:pPr algn="l" latinLnBrk="1"/>
            <a:endParaRPr lang="zh-CN" altLang="en-US" sz="1600" dirty="0">
              <a:solidFill>
                <a:srgbClr val="333333"/>
              </a:solidFill>
              <a:latin typeface="Open Sans"/>
            </a:endParaRPr>
          </a:p>
          <a:p>
            <a:pPr algn="l">
              <a:lnSpc>
                <a:spcPct val="120000"/>
              </a:lnSpc>
              <a:buFont typeface="Arial" panose="020B0604020202020204" pitchFamily="34" charset="0"/>
              <a:buChar char="•"/>
            </a:pPr>
            <a:endParaRPr lang="en-US" altLang="zh-CN" sz="1600" dirty="0">
              <a:solidFill>
                <a:srgbClr val="333333"/>
              </a:solidFill>
              <a:latin typeface="Open Sans"/>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命令</a:t>
            </a:r>
            <a:endParaRPr lang="en-US" altLang="zh-CN" kern="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450507" y="1602404"/>
            <a:ext cx="8501717" cy="4638598"/>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en-US" altLang="zh-CN" sz="1800" dirty="0">
                <a:solidFill>
                  <a:srgbClr val="333333"/>
                </a:solidFill>
                <a:latin typeface="Helvetica Neue"/>
              </a:rPr>
              <a:t>1</a:t>
            </a:r>
            <a:r>
              <a:rPr lang="zh-CN" altLang="en-US" sz="1800" dirty="0">
                <a:solidFill>
                  <a:srgbClr val="333333"/>
                </a:solidFill>
                <a:latin typeface="Helvetica Neue"/>
              </a:rPr>
              <a:t>、正常执行  </a:t>
            </a:r>
            <a:r>
              <a:rPr lang="en-US" altLang="zh-CN" sz="1800" dirty="0">
                <a:solidFill>
                  <a:srgbClr val="333333"/>
                </a:solidFill>
                <a:latin typeface="Helvetica Neue"/>
              </a:rPr>
              <a:t>MULTI+EXEC  </a:t>
            </a:r>
            <a:r>
              <a:rPr lang="zh-CN" altLang="en-US" sz="1800" dirty="0">
                <a:solidFill>
                  <a:srgbClr val="333333"/>
                </a:solidFill>
                <a:latin typeface="Helvetica Neue"/>
              </a:rPr>
              <a:t>分三步：开始，加入队列，执行</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2</a:t>
            </a:r>
            <a:r>
              <a:rPr lang="zh-CN" altLang="en-US" sz="1800" dirty="0">
                <a:solidFill>
                  <a:srgbClr val="333333"/>
                </a:solidFill>
                <a:latin typeface="Helvetica Neue"/>
              </a:rPr>
              <a:t>、放弃事务  </a:t>
            </a:r>
            <a:r>
              <a:rPr lang="en-US" altLang="zh-CN" sz="1800" dirty="0">
                <a:solidFill>
                  <a:srgbClr val="333333"/>
                </a:solidFill>
                <a:latin typeface="Helvetica Neue"/>
              </a:rPr>
              <a:t>DISCARD  </a:t>
            </a:r>
            <a:r>
              <a:rPr lang="zh-CN" altLang="en-US" sz="1800" dirty="0">
                <a:solidFill>
                  <a:srgbClr val="333333"/>
                </a:solidFill>
                <a:latin typeface="Helvetica Neue"/>
              </a:rPr>
              <a:t>类似</a:t>
            </a:r>
            <a:r>
              <a:rPr lang="en-US" altLang="zh-CN" sz="1800" dirty="0">
                <a:solidFill>
                  <a:srgbClr val="333333"/>
                </a:solidFill>
                <a:latin typeface="Helvetica Neue"/>
              </a:rPr>
              <a:t>mysql</a:t>
            </a:r>
            <a:r>
              <a:rPr lang="zh-CN" altLang="en-US" sz="1800" dirty="0">
                <a:solidFill>
                  <a:srgbClr val="333333"/>
                </a:solidFill>
                <a:latin typeface="Helvetica Neue"/>
              </a:rPr>
              <a:t>中的</a:t>
            </a:r>
            <a:r>
              <a:rPr lang="en-US" altLang="zh-CN" sz="1800" dirty="0">
                <a:solidFill>
                  <a:srgbClr val="333333"/>
                </a:solidFill>
                <a:latin typeface="Helvetica Neue"/>
              </a:rPr>
              <a:t>rollback</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3</a:t>
            </a:r>
            <a:r>
              <a:rPr lang="zh-CN" altLang="en-US" sz="1800" dirty="0">
                <a:solidFill>
                  <a:srgbClr val="333333"/>
                </a:solidFill>
                <a:latin typeface="Helvetica Neue"/>
              </a:rPr>
              <a:t>、事务执行中有错误的命令：部分执行成功</a:t>
            </a:r>
            <a:r>
              <a:rPr lang="en-US" altLang="zh-CN" sz="1800" dirty="0">
                <a:solidFill>
                  <a:srgbClr val="333333"/>
                </a:solidFill>
                <a:latin typeface="Helvetica Neue"/>
              </a:rPr>
              <a:t>or</a:t>
            </a:r>
            <a:r>
              <a:rPr lang="zh-CN" altLang="en-US" sz="1800" dirty="0">
                <a:solidFill>
                  <a:srgbClr val="333333"/>
                </a:solidFill>
                <a:latin typeface="Helvetica Neue"/>
              </a:rPr>
              <a:t>全部不执行？</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	</a:t>
            </a:r>
            <a:r>
              <a:rPr lang="zh-CN" altLang="en-US" sz="1800" dirty="0">
                <a:solidFill>
                  <a:srgbClr val="333333"/>
                </a:solidFill>
                <a:latin typeface="Helvetica Neue"/>
              </a:rPr>
              <a:t>如果输入命令后显示的是</a:t>
            </a:r>
            <a:r>
              <a:rPr lang="en-US" altLang="zh-CN" sz="1800" dirty="0">
                <a:solidFill>
                  <a:srgbClr val="333333"/>
                </a:solidFill>
                <a:latin typeface="Helvetica Neue"/>
              </a:rPr>
              <a:t>QUEUED</a:t>
            </a:r>
            <a:r>
              <a:rPr lang="zh-CN" altLang="en-US" sz="1800" dirty="0">
                <a:solidFill>
                  <a:srgbClr val="333333"/>
                </a:solidFill>
                <a:latin typeface="Helvetica Neue"/>
              </a:rPr>
              <a:t>，表示入队成功，部分执行。</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	</a:t>
            </a:r>
            <a:r>
              <a:rPr lang="zh-CN" altLang="en-US" sz="1800" dirty="0">
                <a:solidFill>
                  <a:srgbClr val="333333"/>
                </a:solidFill>
                <a:latin typeface="Helvetica Neue"/>
              </a:rPr>
              <a:t>如果提示</a:t>
            </a:r>
            <a:r>
              <a:rPr lang="en-US" altLang="zh-CN" sz="1800" dirty="0">
                <a:solidFill>
                  <a:srgbClr val="333333"/>
                </a:solidFill>
                <a:latin typeface="Helvetica Neue"/>
              </a:rPr>
              <a:t>ERROR</a:t>
            </a:r>
            <a:r>
              <a:rPr lang="zh-CN" altLang="en-US" sz="1800" dirty="0">
                <a:solidFill>
                  <a:srgbClr val="333333"/>
                </a:solidFill>
                <a:latin typeface="Helvetica Neue"/>
              </a:rPr>
              <a:t>，事务被放弃，全部不执行。</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	</a:t>
            </a:r>
            <a:r>
              <a:rPr lang="zh-CN" altLang="en-US" sz="1800" b="1" dirty="0">
                <a:solidFill>
                  <a:srgbClr val="FF0000"/>
                </a:solidFill>
                <a:latin typeface="Helvetica Neue"/>
              </a:rPr>
              <a:t>总结：编译时出错和运行时出错的区</a:t>
            </a:r>
            <a:r>
              <a:rPr lang="zh-CN" altLang="en-US" sz="1800" dirty="0">
                <a:solidFill>
                  <a:srgbClr val="FF0000"/>
                </a:solidFill>
                <a:latin typeface="Helvetica Neue"/>
              </a:rPr>
              <a:t>别</a:t>
            </a:r>
            <a:r>
              <a:rPr lang="zh-CN" altLang="en-US" sz="1800" dirty="0">
                <a:solidFill>
                  <a:srgbClr val="333333"/>
                </a:solidFill>
                <a:latin typeface="Helvetica Neue"/>
              </a:rPr>
              <a:t>。</a:t>
            </a:r>
            <a:endParaRPr lang="zh-CN" altLang="en-US"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4</a:t>
            </a:r>
            <a:r>
              <a:rPr lang="zh-CN" altLang="en-US" sz="1800" dirty="0">
                <a:solidFill>
                  <a:srgbClr val="333333"/>
                </a:solidFill>
                <a:latin typeface="Helvetica Neue"/>
              </a:rPr>
              <a:t>、</a:t>
            </a:r>
            <a:r>
              <a:rPr lang="en-US" altLang="zh-CN" sz="1800" dirty="0">
                <a:solidFill>
                  <a:srgbClr val="333333"/>
                </a:solidFill>
                <a:latin typeface="Helvetica Neue"/>
              </a:rPr>
              <a:t>WATCH</a:t>
            </a:r>
            <a:r>
              <a:rPr lang="zh-CN" altLang="en-US" sz="1800" dirty="0">
                <a:solidFill>
                  <a:srgbClr val="333333"/>
                </a:solidFill>
                <a:latin typeface="Helvetica Neue"/>
              </a:rPr>
              <a:t>监控  如果</a:t>
            </a:r>
            <a:r>
              <a:rPr lang="en-US" altLang="zh-CN" sz="1800" dirty="0">
                <a:solidFill>
                  <a:srgbClr val="333333"/>
                </a:solidFill>
                <a:latin typeface="Helvetica Neue"/>
              </a:rPr>
              <a:t>watch</a:t>
            </a:r>
            <a:r>
              <a:rPr lang="zh-CN" altLang="en-US" sz="1800" dirty="0">
                <a:solidFill>
                  <a:srgbClr val="333333"/>
                </a:solidFill>
                <a:latin typeface="Helvetica Neue"/>
              </a:rPr>
              <a:t>监控的</a:t>
            </a:r>
            <a:r>
              <a:rPr lang="en-US" altLang="zh-CN" sz="1800" dirty="0">
                <a:solidFill>
                  <a:srgbClr val="333333"/>
                </a:solidFill>
                <a:latin typeface="Helvetica Neue"/>
              </a:rPr>
              <a:t>keys</a:t>
            </a:r>
            <a:r>
              <a:rPr lang="zh-CN" altLang="en-US" sz="1800" dirty="0">
                <a:solidFill>
                  <a:srgbClr val="333333"/>
                </a:solidFill>
                <a:latin typeface="Helvetica Neue"/>
              </a:rPr>
              <a:t>发生了变化，</a:t>
            </a:r>
            <a:r>
              <a:rPr lang="en-US" altLang="zh-CN" sz="1800" dirty="0">
                <a:solidFill>
                  <a:srgbClr val="333333"/>
                </a:solidFill>
                <a:latin typeface="Helvetica Neue"/>
              </a:rPr>
              <a:t>EXEC</a:t>
            </a:r>
            <a:r>
              <a:rPr lang="zh-CN" altLang="en-US" sz="1800" dirty="0">
                <a:solidFill>
                  <a:srgbClr val="333333"/>
                </a:solidFill>
                <a:latin typeface="Helvetica Neue"/>
              </a:rPr>
              <a:t>执行的事务将被放弃</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5</a:t>
            </a:r>
            <a:r>
              <a:rPr lang="zh-CN" altLang="en-US" sz="1800" dirty="0">
                <a:solidFill>
                  <a:srgbClr val="333333"/>
                </a:solidFill>
                <a:latin typeface="Helvetica Neue"/>
              </a:rPr>
              <a:t>、</a:t>
            </a:r>
            <a:r>
              <a:rPr lang="en-US" altLang="zh-CN" sz="1800" dirty="0">
                <a:solidFill>
                  <a:srgbClr val="333333"/>
                </a:solidFill>
                <a:latin typeface="Helvetica Neue"/>
              </a:rPr>
              <a:t>UNWATCH</a:t>
            </a:r>
            <a:r>
              <a:rPr lang="zh-CN" altLang="en-US" sz="1800" dirty="0">
                <a:solidFill>
                  <a:srgbClr val="333333"/>
                </a:solidFill>
                <a:latin typeface="Helvetica Neue"/>
              </a:rPr>
              <a:t>取消监控</a:t>
            </a: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6</a:t>
            </a:r>
            <a:r>
              <a:rPr lang="zh-CN" altLang="en-US" sz="1800" dirty="0">
                <a:solidFill>
                  <a:srgbClr val="333333"/>
                </a:solidFill>
                <a:latin typeface="Helvetica Neue"/>
              </a:rPr>
              <a:t>、一旦执行</a:t>
            </a:r>
            <a:r>
              <a:rPr lang="en-US" altLang="zh-CN" sz="1800" dirty="0">
                <a:solidFill>
                  <a:srgbClr val="333333"/>
                </a:solidFill>
                <a:latin typeface="Helvetica Neue"/>
              </a:rPr>
              <a:t>EXEC</a:t>
            </a:r>
            <a:r>
              <a:rPr lang="zh-CN" altLang="en-US" sz="1800" dirty="0">
                <a:solidFill>
                  <a:srgbClr val="333333"/>
                </a:solidFill>
                <a:latin typeface="Helvetica Neue"/>
              </a:rPr>
              <a:t>，</a:t>
            </a:r>
            <a:r>
              <a:rPr lang="en-US" altLang="zh-CN" sz="1800" dirty="0">
                <a:solidFill>
                  <a:srgbClr val="333333"/>
                </a:solidFill>
                <a:latin typeface="Helvetica Neue"/>
              </a:rPr>
              <a:t>WATCH</a:t>
            </a:r>
            <a:r>
              <a:rPr lang="zh-CN" altLang="en-US" sz="1800" dirty="0">
                <a:solidFill>
                  <a:srgbClr val="333333"/>
                </a:solidFill>
                <a:latin typeface="Helvetica Neue"/>
              </a:rPr>
              <a:t>监控会被取消。</a:t>
            </a:r>
            <a:endParaRPr lang="en-US" altLang="zh-CN" sz="1800" dirty="0">
              <a:solidFill>
                <a:srgbClr val="333333"/>
              </a:solidFill>
              <a:latin typeface="Helvetica Neue"/>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事务执行</a:t>
            </a:r>
            <a:endParaRPr lang="en-US" altLang="zh-CN" kern="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92075" y="1057910"/>
            <a:ext cx="9676765" cy="5556885"/>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latinLnBrk="1">
              <a:lnSpc>
                <a:spcPct val="120000"/>
              </a:lnSpc>
            </a:pPr>
            <a:r>
              <a:rPr lang="en-US" altLang="zh-CN" sz="1800" dirty="0">
                <a:solidFill>
                  <a:srgbClr val="333333"/>
                </a:solidFill>
                <a:latin typeface="Helvetica Neue"/>
              </a:rPr>
              <a:t>1</a:t>
            </a:r>
            <a:r>
              <a:rPr lang="zh-CN" altLang="en-US" sz="1800" dirty="0">
                <a:solidFill>
                  <a:srgbClr val="333333"/>
                </a:solidFill>
                <a:latin typeface="Helvetica Neue"/>
              </a:rPr>
              <a:t>、悲观锁：</a:t>
            </a:r>
            <a:r>
              <a:rPr lang="zh-CN" altLang="en-US" sz="1800" b="0" i="0" dirty="0">
                <a:solidFill>
                  <a:srgbClr val="4F4F4F"/>
                </a:solidFill>
                <a:effectLst/>
                <a:latin typeface="-apple-system"/>
              </a:rPr>
              <a:t>顾名思义，就是很悲观，每次去拿数据的时候都认为别人会修改，所以</a:t>
            </a:r>
            <a:r>
              <a:rPr lang="zh-CN" altLang="en-US" sz="1800" b="0" i="0" dirty="0">
                <a:solidFill>
                  <a:srgbClr val="FF0000"/>
                </a:solidFill>
                <a:effectLst/>
                <a:latin typeface="-apple-system"/>
              </a:rPr>
              <a:t>每次在拿数据的时候都会上锁</a:t>
            </a:r>
            <a:r>
              <a:rPr lang="zh-CN" altLang="en-US" sz="1800" b="0" i="0" dirty="0">
                <a:solidFill>
                  <a:srgbClr val="4F4F4F"/>
                </a:solidFill>
                <a:effectLst/>
                <a:latin typeface="-apple-system"/>
              </a:rPr>
              <a:t>，当其他线程想要访问数据时，都需要阻塞挂起。传统的关系型数据库里边就用到了很多这种锁机制，比如行锁、表锁，读锁，写锁等，都是在操作之前先上锁。</a:t>
            </a:r>
            <a:endParaRPr lang="en-US" altLang="zh-CN" sz="1800" b="0" i="0" dirty="0">
              <a:solidFill>
                <a:srgbClr val="4F4F4F"/>
              </a:solidFill>
              <a:effectLst/>
              <a:latin typeface="-apple-system"/>
            </a:endParaRPr>
          </a:p>
          <a:p>
            <a:pPr algn="l" latinLnBrk="1">
              <a:lnSpc>
                <a:spcPct val="120000"/>
              </a:lnSpc>
            </a:pPr>
            <a:endParaRPr lang="en-US" altLang="zh-CN" sz="1800" dirty="0">
              <a:solidFill>
                <a:srgbClr val="333333"/>
              </a:solidFill>
              <a:latin typeface="Helvetica Neue"/>
            </a:endParaRPr>
          </a:p>
          <a:p>
            <a:pPr algn="l" latinLnBrk="1">
              <a:lnSpc>
                <a:spcPct val="120000"/>
              </a:lnSpc>
            </a:pPr>
            <a:r>
              <a:rPr lang="en-US" altLang="zh-CN" sz="1800" dirty="0">
                <a:solidFill>
                  <a:srgbClr val="333333"/>
                </a:solidFill>
                <a:latin typeface="Helvetica Neue"/>
              </a:rPr>
              <a:t>2</a:t>
            </a:r>
            <a:r>
              <a:rPr lang="zh-CN" altLang="en-US" sz="1800" dirty="0">
                <a:solidFill>
                  <a:srgbClr val="333333"/>
                </a:solidFill>
                <a:latin typeface="Helvetica Neue"/>
              </a:rPr>
              <a:t>、</a:t>
            </a:r>
            <a:r>
              <a:rPr lang="zh-CN" altLang="en-US" sz="1800" dirty="0">
                <a:solidFill>
                  <a:srgbClr val="4F4F4F"/>
                </a:solidFill>
                <a:latin typeface="-apple-system"/>
              </a:rPr>
              <a:t>乐观锁：</a:t>
            </a:r>
            <a:r>
              <a:rPr lang="en-US" altLang="zh-CN" sz="1800" dirty="0">
                <a:solidFill>
                  <a:srgbClr val="4F4F4F"/>
                </a:solidFill>
                <a:latin typeface="-apple-system"/>
              </a:rPr>
              <a:t>【</a:t>
            </a:r>
            <a:r>
              <a:rPr lang="zh-CN" altLang="en-US" sz="1800" dirty="0">
                <a:solidFill>
                  <a:srgbClr val="4F4F4F"/>
                </a:solidFill>
                <a:latin typeface="-apple-system"/>
              </a:rPr>
              <a:t>冲突检测和数据更新</a:t>
            </a:r>
            <a:r>
              <a:rPr lang="en-US" altLang="zh-CN" sz="1800" dirty="0">
                <a:solidFill>
                  <a:srgbClr val="4F4F4F"/>
                </a:solidFill>
                <a:latin typeface="-apple-system"/>
              </a:rPr>
              <a:t>】</a:t>
            </a:r>
            <a:endParaRPr lang="en-US" altLang="zh-CN" sz="1800" dirty="0">
              <a:solidFill>
                <a:srgbClr val="4F4F4F"/>
              </a:solidFill>
              <a:latin typeface="-apple-system"/>
            </a:endParaRPr>
          </a:p>
          <a:p>
            <a:pPr algn="l" latinLnBrk="1">
              <a:lnSpc>
                <a:spcPct val="120000"/>
              </a:lnSpc>
            </a:pPr>
            <a:r>
              <a:rPr lang="zh-CN" altLang="en-US" sz="1800" dirty="0">
                <a:solidFill>
                  <a:srgbClr val="4F4F4F"/>
                </a:solidFill>
                <a:latin typeface="-apple-system"/>
              </a:rPr>
              <a:t>乐观锁（</a:t>
            </a:r>
            <a:r>
              <a:rPr lang="en-US" altLang="zh-CN" sz="1800" dirty="0">
                <a:solidFill>
                  <a:srgbClr val="4F4F4F"/>
                </a:solidFill>
                <a:latin typeface="-apple-system"/>
              </a:rPr>
              <a:t>Optimistic Lock</a:t>
            </a:r>
            <a:r>
              <a:rPr lang="zh-CN" altLang="en-US" sz="1800" dirty="0">
                <a:solidFill>
                  <a:srgbClr val="4F4F4F"/>
                </a:solidFill>
                <a:latin typeface="-apple-system"/>
              </a:rPr>
              <a:t>），顾名思义，就是很乐观，</a:t>
            </a:r>
            <a:r>
              <a:rPr lang="zh-CN" altLang="en-US" sz="1800" dirty="0">
                <a:solidFill>
                  <a:srgbClr val="FF0000"/>
                </a:solidFill>
                <a:latin typeface="-apple-system"/>
              </a:rPr>
              <a:t>每次去拿数据的时候都认为别人不会修改</a:t>
            </a:r>
            <a:r>
              <a:rPr lang="zh-CN" altLang="en-US" sz="1800" dirty="0">
                <a:solidFill>
                  <a:srgbClr val="4F4F4F"/>
                </a:solidFill>
                <a:latin typeface="-apple-system"/>
              </a:rPr>
              <a:t>，所以</a:t>
            </a:r>
            <a:r>
              <a:rPr lang="zh-CN" altLang="en-US" sz="1800" dirty="0">
                <a:solidFill>
                  <a:srgbClr val="FF0000"/>
                </a:solidFill>
                <a:latin typeface="-apple-system"/>
              </a:rPr>
              <a:t>不会上锁</a:t>
            </a:r>
            <a:r>
              <a:rPr lang="zh-CN" altLang="en-US" sz="1800" dirty="0">
                <a:solidFill>
                  <a:srgbClr val="4F4F4F"/>
                </a:solidFill>
                <a:latin typeface="-apple-system"/>
              </a:rPr>
              <a:t>，但是在更新的时候会判断一下在此期间别人有没有去更新这个数据，可以使用</a:t>
            </a:r>
            <a:r>
              <a:rPr lang="zh-CN" altLang="en-US" sz="1800" dirty="0">
                <a:solidFill>
                  <a:srgbClr val="FF0000"/>
                </a:solidFill>
                <a:latin typeface="-apple-system"/>
              </a:rPr>
              <a:t>版本号</a:t>
            </a:r>
            <a:r>
              <a:rPr lang="zh-CN" altLang="en-US" sz="1800" dirty="0">
                <a:solidFill>
                  <a:srgbClr val="4F4F4F"/>
                </a:solidFill>
                <a:latin typeface="-apple-system"/>
              </a:rPr>
              <a:t>等机制。乐观锁适用于多读的应用类型，这样可以提高吞吐量，像数据库如果提供类似于</a:t>
            </a:r>
            <a:r>
              <a:rPr lang="en-US" altLang="zh-CN" sz="1800" dirty="0" err="1">
                <a:solidFill>
                  <a:srgbClr val="4F4F4F"/>
                </a:solidFill>
                <a:latin typeface="-apple-system"/>
              </a:rPr>
              <a:t>write_condition</a:t>
            </a:r>
            <a:r>
              <a:rPr lang="zh-CN" altLang="en-US" sz="1800" dirty="0">
                <a:solidFill>
                  <a:srgbClr val="4F4F4F"/>
                </a:solidFill>
                <a:latin typeface="-apple-system"/>
              </a:rPr>
              <a:t>机制的其实都是提供的乐观锁。</a:t>
            </a:r>
            <a:endParaRPr lang="en-US" altLang="zh-CN" sz="1800" dirty="0">
              <a:solidFill>
                <a:srgbClr val="4F4F4F"/>
              </a:solidFill>
              <a:latin typeface="-apple-system"/>
            </a:endParaRPr>
          </a:p>
          <a:p>
            <a:pPr algn="l" latinLnBrk="1">
              <a:lnSpc>
                <a:spcPct val="120000"/>
              </a:lnSpc>
            </a:pPr>
            <a:r>
              <a:rPr lang="zh-CN" altLang="en-US" sz="1800" dirty="0">
                <a:solidFill>
                  <a:srgbClr val="4F4F4F"/>
                </a:solidFill>
                <a:latin typeface="-apple-system"/>
              </a:rPr>
              <a:t>乐观锁策略：提交版本必须大于记录当前版本才能执行更新，一般会</a:t>
            </a:r>
            <a:r>
              <a:rPr lang="zh-CN" altLang="en-US" sz="1800" dirty="0">
                <a:solidFill>
                  <a:srgbClr val="FF0000"/>
                </a:solidFill>
                <a:latin typeface="-apple-system"/>
              </a:rPr>
              <a:t>使用版本号机制或</a:t>
            </a:r>
            <a:r>
              <a:rPr lang="en-US" altLang="zh-CN" sz="1800" dirty="0">
                <a:solidFill>
                  <a:srgbClr val="FF0000"/>
                </a:solidFill>
                <a:latin typeface="-apple-system"/>
              </a:rPr>
              <a:t>CAS</a:t>
            </a:r>
            <a:r>
              <a:rPr lang="zh-CN" altLang="en-US" sz="1800" dirty="0">
                <a:solidFill>
                  <a:srgbClr val="FF0000"/>
                </a:solidFill>
                <a:latin typeface="-apple-system"/>
              </a:rPr>
              <a:t>操作实现：</a:t>
            </a:r>
            <a:endParaRPr lang="en-US" altLang="zh-CN" sz="1800" dirty="0">
              <a:solidFill>
                <a:srgbClr val="FF0000"/>
              </a:solidFill>
              <a:latin typeface="-apple-system"/>
            </a:endParaRPr>
          </a:p>
          <a:p>
            <a:pPr algn="l" latinLnBrk="1">
              <a:lnSpc>
                <a:spcPct val="120000"/>
              </a:lnSpc>
            </a:pPr>
            <a:r>
              <a:rPr lang="en-US" altLang="zh-CN" sz="1800" dirty="0">
                <a:solidFill>
                  <a:srgbClr val="4F4F4F"/>
                </a:solidFill>
                <a:latin typeface="-apple-system"/>
              </a:rPr>
              <a:t>version</a:t>
            </a:r>
            <a:r>
              <a:rPr lang="zh-CN" altLang="en-US" sz="1800" dirty="0">
                <a:solidFill>
                  <a:srgbClr val="4F4F4F"/>
                </a:solidFill>
                <a:latin typeface="-apple-system"/>
              </a:rPr>
              <a:t>方式：一般是在数据表中加上一个数据版本号</a:t>
            </a:r>
            <a:r>
              <a:rPr lang="en-US" altLang="zh-CN" sz="1800" dirty="0">
                <a:solidFill>
                  <a:srgbClr val="4F4F4F"/>
                </a:solidFill>
                <a:latin typeface="-apple-system"/>
              </a:rPr>
              <a:t>version</a:t>
            </a:r>
            <a:r>
              <a:rPr lang="zh-CN" altLang="en-US" sz="1800" dirty="0">
                <a:solidFill>
                  <a:srgbClr val="4F4F4F"/>
                </a:solidFill>
                <a:latin typeface="-apple-system"/>
              </a:rPr>
              <a:t>字段，表示数据被修改的次数，当数据被修改时，</a:t>
            </a:r>
            <a:r>
              <a:rPr lang="en-US" altLang="zh-CN" sz="1800" dirty="0">
                <a:solidFill>
                  <a:srgbClr val="4F4F4F"/>
                </a:solidFill>
                <a:latin typeface="-apple-system"/>
              </a:rPr>
              <a:t>version</a:t>
            </a:r>
            <a:r>
              <a:rPr lang="zh-CN" altLang="en-US" sz="1800" dirty="0">
                <a:solidFill>
                  <a:srgbClr val="4F4F4F"/>
                </a:solidFill>
                <a:latin typeface="-apple-system"/>
              </a:rPr>
              <a:t>值会加一。当线程</a:t>
            </a:r>
            <a:r>
              <a:rPr lang="en-US" altLang="zh-CN" sz="1800" dirty="0">
                <a:solidFill>
                  <a:srgbClr val="4F4F4F"/>
                </a:solidFill>
                <a:latin typeface="-apple-system"/>
              </a:rPr>
              <a:t>A</a:t>
            </a:r>
            <a:r>
              <a:rPr lang="zh-CN" altLang="en-US" sz="1800" dirty="0">
                <a:solidFill>
                  <a:srgbClr val="4F4F4F"/>
                </a:solidFill>
                <a:latin typeface="-apple-system"/>
              </a:rPr>
              <a:t>要更新数据值时，在读取数据的同时也会读取</a:t>
            </a:r>
            <a:r>
              <a:rPr lang="en-US" altLang="zh-CN" sz="1800" dirty="0">
                <a:solidFill>
                  <a:srgbClr val="4F4F4F"/>
                </a:solidFill>
                <a:latin typeface="-apple-system"/>
              </a:rPr>
              <a:t>version</a:t>
            </a:r>
            <a:r>
              <a:rPr lang="zh-CN" altLang="en-US" sz="1800" dirty="0">
                <a:solidFill>
                  <a:srgbClr val="4F4F4F"/>
                </a:solidFill>
                <a:latin typeface="-apple-system"/>
              </a:rPr>
              <a:t>值，在提交更新时，若刚才读取到的</a:t>
            </a:r>
            <a:r>
              <a:rPr lang="en-US" altLang="zh-CN" sz="1800" dirty="0">
                <a:solidFill>
                  <a:srgbClr val="4F4F4F"/>
                </a:solidFill>
                <a:latin typeface="-apple-system"/>
              </a:rPr>
              <a:t>version</a:t>
            </a:r>
            <a:r>
              <a:rPr lang="zh-CN" altLang="en-US" sz="1800" dirty="0">
                <a:solidFill>
                  <a:srgbClr val="4F4F4F"/>
                </a:solidFill>
                <a:latin typeface="-apple-system"/>
              </a:rPr>
              <a:t>值为当前数据库中的</a:t>
            </a:r>
            <a:r>
              <a:rPr lang="en-US" altLang="zh-CN" sz="1800" dirty="0">
                <a:solidFill>
                  <a:srgbClr val="4F4F4F"/>
                </a:solidFill>
                <a:latin typeface="-apple-system"/>
              </a:rPr>
              <a:t>version</a:t>
            </a:r>
            <a:r>
              <a:rPr lang="zh-CN" altLang="en-US" sz="1800" dirty="0">
                <a:solidFill>
                  <a:srgbClr val="4F4F4F"/>
                </a:solidFill>
                <a:latin typeface="-apple-system"/>
              </a:rPr>
              <a:t>值相等时才更新，否则重试更新操作，直到更新成功。</a:t>
            </a:r>
            <a:endParaRPr lang="en-US" altLang="zh-CN" sz="1800" dirty="0">
              <a:solidFill>
                <a:srgbClr val="4F4F4F"/>
              </a:solidFill>
              <a:latin typeface="-apple-system"/>
            </a:endParaRPr>
          </a:p>
        </p:txBody>
      </p:sp>
      <p:sp>
        <p:nvSpPr>
          <p:cNvPr id="6" name="Rectangle 2"/>
          <p:cNvSpPr txBox="1">
            <a:spLocks noChangeArrowheads="1"/>
          </p:cNvSpPr>
          <p:nvPr/>
        </p:nvSpPr>
        <p:spPr>
          <a:xfrm>
            <a:off x="439420" y="191770"/>
            <a:ext cx="8442960" cy="696595"/>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乐观锁和悲观锁</a:t>
            </a:r>
            <a:endParaRPr lang="en-US" altLang="zh-CN" kern="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表格 5"/>
          <p:cNvGraphicFramePr/>
          <p:nvPr>
            <p:custDataLst>
              <p:tags r:id="rId1"/>
            </p:custDataLst>
          </p:nvPr>
        </p:nvGraphicFramePr>
        <p:xfrm>
          <a:off x="330835" y="1393825"/>
          <a:ext cx="7458075" cy="1960245"/>
        </p:xfrm>
        <a:graphic>
          <a:graphicData uri="http://schemas.openxmlformats.org/drawingml/2006/table">
            <a:tbl>
              <a:tblPr firstRow="1" bandRow="1">
                <a:tableStyleId>{5C22544A-7EE6-4342-B048-85BDC9FD1C3A}</a:tableStyleId>
              </a:tblPr>
              <a:tblGrid>
                <a:gridCol w="2486025"/>
                <a:gridCol w="2486025"/>
                <a:gridCol w="2486025"/>
              </a:tblGrid>
              <a:tr h="653415">
                <a:tc>
                  <a:txBody>
                    <a:bodyPr/>
                    <a:p>
                      <a:pPr algn="ctr">
                        <a:buNone/>
                      </a:pPr>
                      <a:endParaRPr lang="zh-CN" altLang="en-US"/>
                    </a:p>
                  </a:txBody>
                  <a:tcPr/>
                </a:tc>
                <a:tc>
                  <a:txBody>
                    <a:bodyPr/>
                    <a:p>
                      <a:pPr algn="ctr">
                        <a:buNone/>
                      </a:pPr>
                      <a:endParaRPr lang="zh-CN" altLang="en-US"/>
                    </a:p>
                  </a:txBody>
                  <a:tcPr/>
                </a:tc>
                <a:tc>
                  <a:txBody>
                    <a:bodyPr/>
                    <a:p>
                      <a:pPr algn="ctr">
                        <a:buNone/>
                      </a:pPr>
                      <a:r>
                        <a:rPr lang="en-US" altLang="zh-CN"/>
                        <a:t>version</a:t>
                      </a:r>
                      <a:endParaRPr lang="en-US" altLang="zh-CN"/>
                    </a:p>
                  </a:txBody>
                  <a:tcPr/>
                </a:tc>
              </a:tr>
              <a:tr h="653415">
                <a:tc>
                  <a:txBody>
                    <a:bodyPr/>
                    <a:p>
                      <a:pPr algn="ctr">
                        <a:buNone/>
                      </a:pPr>
                      <a:r>
                        <a:rPr lang="en-US" altLang="zh-CN"/>
                        <a:t> k1</a:t>
                      </a:r>
                      <a:endParaRPr lang="en-US" altLang="zh-CN"/>
                    </a:p>
                  </a:txBody>
                  <a:tcPr/>
                </a:tc>
                <a:tc>
                  <a:txBody>
                    <a:bodyPr/>
                    <a:p>
                      <a:pPr algn="ctr">
                        <a:buNone/>
                      </a:pPr>
                      <a:r>
                        <a:rPr lang="en-US" altLang="zh-CN"/>
                        <a:t>789</a:t>
                      </a:r>
                      <a:endParaRPr lang="en-US" altLang="zh-CN"/>
                    </a:p>
                  </a:txBody>
                  <a:tcPr/>
                </a:tc>
                <a:tc>
                  <a:txBody>
                    <a:bodyPr/>
                    <a:p>
                      <a:pPr algn="ctr">
                        <a:buNone/>
                      </a:pPr>
                      <a:r>
                        <a:rPr lang="en-US" altLang="zh-CN"/>
                        <a:t>2</a:t>
                      </a:r>
                      <a:endParaRPr lang="en-US" altLang="zh-CN"/>
                    </a:p>
                  </a:txBody>
                  <a:tcPr/>
                </a:tc>
              </a:tr>
              <a:tr h="653415">
                <a:tc>
                  <a:txBody>
                    <a:bodyPr/>
                    <a:p>
                      <a:pPr algn="ctr">
                        <a:buNone/>
                      </a:pPr>
                      <a:endParaRPr lang="zh-CN" altLang="en-US"/>
                    </a:p>
                  </a:txBody>
                  <a:tcPr/>
                </a:tc>
                <a:tc>
                  <a:txBody>
                    <a:bodyPr/>
                    <a:p>
                      <a:pPr algn="ctr">
                        <a:buNone/>
                      </a:pPr>
                      <a:r>
                        <a:rPr lang="en-US" altLang="zh-CN"/>
                        <a:t>456</a:t>
                      </a:r>
                      <a:endParaRPr lang="en-US" altLang="zh-CN"/>
                    </a:p>
                  </a:txBody>
                  <a:tcPr/>
                </a:tc>
                <a:tc>
                  <a:txBody>
                    <a:bodyPr/>
                    <a:p>
                      <a:pPr algn="ctr">
                        <a:buNone/>
                      </a:pPr>
                      <a:endParaRPr lang="zh-CN" altLang="en-US"/>
                    </a:p>
                  </a:txBody>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21488"/>
            <a:ext cx="8501717" cy="4753957"/>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1800" dirty="0">
                <a:solidFill>
                  <a:srgbClr val="4F4F4F"/>
                </a:solidFill>
                <a:latin typeface="-apple-system"/>
              </a:rPr>
              <a:t>CAS</a:t>
            </a:r>
            <a:r>
              <a:rPr lang="zh-CN" altLang="en-US" sz="1800" dirty="0">
                <a:solidFill>
                  <a:srgbClr val="4F4F4F"/>
                </a:solidFill>
                <a:latin typeface="-apple-system"/>
              </a:rPr>
              <a:t>（</a:t>
            </a:r>
            <a:r>
              <a:rPr lang="en-US" altLang="zh-CN" sz="1800" dirty="0">
                <a:solidFill>
                  <a:srgbClr val="4F4F4F"/>
                </a:solidFill>
                <a:latin typeface="-apple-system"/>
              </a:rPr>
              <a:t>Check And Set【</a:t>
            </a:r>
            <a:r>
              <a:rPr lang="zh-CN" altLang="en-US" sz="1800" dirty="0">
                <a:solidFill>
                  <a:srgbClr val="4F4F4F"/>
                </a:solidFill>
                <a:latin typeface="-apple-system"/>
              </a:rPr>
              <a:t>先检查再设置</a:t>
            </a:r>
            <a:r>
              <a:rPr lang="en-US" altLang="zh-CN" sz="1800" dirty="0">
                <a:solidFill>
                  <a:srgbClr val="4F4F4F"/>
                </a:solidFill>
                <a:latin typeface="-apple-system"/>
              </a:rPr>
              <a:t>】</a:t>
            </a:r>
            <a:r>
              <a:rPr lang="zh-CN" altLang="en-US" sz="1800" dirty="0">
                <a:solidFill>
                  <a:srgbClr val="4F4F4F"/>
                </a:solidFill>
                <a:latin typeface="-apple-system"/>
              </a:rPr>
              <a:t>）</a:t>
            </a:r>
            <a:endParaRPr lang="zh-CN" altLang="en-US" sz="1800" dirty="0">
              <a:solidFill>
                <a:srgbClr val="4F4F4F"/>
              </a:solidFill>
              <a:latin typeface="-apple-system"/>
            </a:endParaRPr>
          </a:p>
          <a:p>
            <a:pPr algn="l">
              <a:lnSpc>
                <a:spcPct val="120000"/>
              </a:lnSpc>
            </a:pPr>
            <a:r>
              <a:rPr lang="en-US" altLang="zh-CN" sz="1800" dirty="0">
                <a:solidFill>
                  <a:srgbClr val="4F4F4F"/>
                </a:solidFill>
                <a:latin typeface="-apple-system"/>
              </a:rPr>
              <a:t>CAS</a:t>
            </a:r>
            <a:r>
              <a:rPr lang="zh-CN" altLang="en-US" sz="1800" dirty="0">
                <a:solidFill>
                  <a:srgbClr val="4F4F4F"/>
                </a:solidFill>
                <a:latin typeface="-apple-system"/>
              </a:rPr>
              <a:t>操作方式：即 </a:t>
            </a:r>
            <a:r>
              <a:rPr lang="en-US" altLang="zh-CN" sz="1800" dirty="0">
                <a:solidFill>
                  <a:srgbClr val="4F4F4F"/>
                </a:solidFill>
                <a:latin typeface="-apple-system"/>
              </a:rPr>
              <a:t>Compare And Swap</a:t>
            </a:r>
            <a:r>
              <a:rPr lang="zh-CN" altLang="en-US" sz="1800" dirty="0">
                <a:solidFill>
                  <a:srgbClr val="4F4F4F"/>
                </a:solidFill>
                <a:latin typeface="-apple-system"/>
              </a:rPr>
              <a:t>，</a:t>
            </a:r>
            <a:r>
              <a:rPr lang="en-US" altLang="zh-CN" sz="1800" dirty="0">
                <a:solidFill>
                  <a:srgbClr val="4F4F4F"/>
                </a:solidFill>
                <a:latin typeface="-apple-system"/>
              </a:rPr>
              <a:t>CAS</a:t>
            </a:r>
            <a:r>
              <a:rPr lang="zh-CN" altLang="en-US" sz="1800" dirty="0">
                <a:solidFill>
                  <a:srgbClr val="4F4F4F"/>
                </a:solidFill>
                <a:latin typeface="-apple-system"/>
              </a:rPr>
              <a:t>是乐观锁技术，涉及到三个操作数，数据所在的内存值</a:t>
            </a:r>
            <a:r>
              <a:rPr lang="en-US" altLang="zh-CN" sz="1800" dirty="0">
                <a:solidFill>
                  <a:srgbClr val="4F4F4F"/>
                </a:solidFill>
                <a:latin typeface="-apple-system"/>
              </a:rPr>
              <a:t>V</a:t>
            </a:r>
            <a:r>
              <a:rPr lang="zh-CN" altLang="en-US" sz="1800" dirty="0">
                <a:solidFill>
                  <a:srgbClr val="4F4F4F"/>
                </a:solidFill>
                <a:latin typeface="-apple-system"/>
              </a:rPr>
              <a:t>，预期值</a:t>
            </a:r>
            <a:r>
              <a:rPr lang="en-US" altLang="zh-CN" sz="1800" dirty="0">
                <a:solidFill>
                  <a:srgbClr val="4F4F4F"/>
                </a:solidFill>
                <a:latin typeface="-apple-system"/>
              </a:rPr>
              <a:t>A</a:t>
            </a:r>
            <a:r>
              <a:rPr lang="zh-CN" altLang="en-US" sz="1800" dirty="0">
                <a:solidFill>
                  <a:srgbClr val="4F4F4F"/>
                </a:solidFill>
                <a:latin typeface="-apple-system"/>
              </a:rPr>
              <a:t>，新值</a:t>
            </a:r>
            <a:r>
              <a:rPr lang="en-US" altLang="zh-CN" sz="1800" dirty="0">
                <a:solidFill>
                  <a:srgbClr val="4F4F4F"/>
                </a:solidFill>
                <a:latin typeface="-apple-system"/>
              </a:rPr>
              <a:t>B</a:t>
            </a:r>
            <a:r>
              <a:rPr lang="zh-CN" altLang="en-US" sz="1800" dirty="0">
                <a:solidFill>
                  <a:srgbClr val="4F4F4F"/>
                </a:solidFill>
                <a:latin typeface="-apple-system"/>
              </a:rPr>
              <a:t>。当需要更新时，判断当前内存值</a:t>
            </a:r>
            <a:r>
              <a:rPr lang="en-US" altLang="zh-CN" sz="1800" dirty="0">
                <a:solidFill>
                  <a:srgbClr val="4F4F4F"/>
                </a:solidFill>
                <a:latin typeface="-apple-system"/>
              </a:rPr>
              <a:t>V</a:t>
            </a:r>
            <a:r>
              <a:rPr lang="zh-CN" altLang="en-US" sz="1800" dirty="0">
                <a:solidFill>
                  <a:srgbClr val="4F4F4F"/>
                </a:solidFill>
                <a:latin typeface="-apple-system"/>
              </a:rPr>
              <a:t>与之前取到的值</a:t>
            </a:r>
            <a:r>
              <a:rPr lang="en-US" altLang="zh-CN" sz="1800" dirty="0">
                <a:solidFill>
                  <a:srgbClr val="4F4F4F"/>
                </a:solidFill>
                <a:latin typeface="-apple-system"/>
              </a:rPr>
              <a:t>A</a:t>
            </a:r>
            <a:r>
              <a:rPr lang="zh-CN" altLang="en-US" sz="1800" dirty="0">
                <a:solidFill>
                  <a:srgbClr val="4F4F4F"/>
                </a:solidFill>
                <a:latin typeface="-apple-system"/>
              </a:rPr>
              <a:t>是否相等，若相等，则用新值更新，若失败则重试，一般情况下是一个自旋操作，即不断的重试。</a:t>
            </a:r>
            <a:endParaRPr lang="zh-CN" altLang="en-US" sz="1800" dirty="0">
              <a:solidFill>
                <a:srgbClr val="4F4F4F"/>
              </a:solidFill>
              <a:latin typeface="-apple-system"/>
            </a:endParaRPr>
          </a:p>
          <a:p>
            <a:pPr algn="l" latinLnBrk="1">
              <a:lnSpc>
                <a:spcPct val="120000"/>
              </a:lnSpc>
            </a:pPr>
            <a:endParaRPr lang="en-US" altLang="zh-CN" sz="1800" dirty="0">
              <a:solidFill>
                <a:srgbClr val="4F4F4F"/>
              </a:solidFill>
              <a:latin typeface="-apple-system"/>
            </a:endParaRPr>
          </a:p>
          <a:p>
            <a:pPr algn="l" latinLnBrk="1">
              <a:lnSpc>
                <a:spcPct val="120000"/>
              </a:lnSpc>
            </a:pPr>
            <a:r>
              <a:rPr lang="zh-CN" altLang="en-US" sz="1800" dirty="0">
                <a:solidFill>
                  <a:srgbClr val="4F4F4F"/>
                </a:solidFill>
                <a:latin typeface="-apple-system"/>
              </a:rPr>
              <a:t>两种锁各有优缺点，不可认为一种好于另一种，像乐观锁适用于写比较少的情况下，即冲突真的很少发生的时候，这样可以省去了锁的开销，加大了系统的整个吞吐量。但如果经常产生冲突，上层应用会不断的进行</a:t>
            </a:r>
            <a:r>
              <a:rPr lang="en-US" altLang="zh-CN" sz="1800" dirty="0">
                <a:solidFill>
                  <a:srgbClr val="4F4F4F"/>
                </a:solidFill>
                <a:latin typeface="-apple-system"/>
              </a:rPr>
              <a:t>retry</a:t>
            </a:r>
            <a:r>
              <a:rPr lang="zh-CN" altLang="en-US" sz="1800" dirty="0">
                <a:solidFill>
                  <a:srgbClr val="4F4F4F"/>
                </a:solidFill>
                <a:latin typeface="-apple-system"/>
              </a:rPr>
              <a:t>，这样反倒是降低了性能，所以这种情况下用悲观锁就比较合适。</a:t>
            </a: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乐观锁和悲观锁</a:t>
            </a:r>
            <a:endParaRPr lang="en-US" altLang="zh-CN" kern="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18643" y="1755700"/>
            <a:ext cx="8501717" cy="446884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1800" b="0" i="0" dirty="0">
                <a:solidFill>
                  <a:srgbClr val="4F4F4F"/>
                </a:solidFill>
                <a:effectLst/>
                <a:latin typeface="-apple-system"/>
              </a:rPr>
              <a:t>1</a:t>
            </a:r>
            <a:r>
              <a:rPr lang="zh-CN" altLang="en-US" sz="1800" b="0" i="0" dirty="0">
                <a:solidFill>
                  <a:srgbClr val="4F4F4F"/>
                </a:solidFill>
                <a:effectLst/>
                <a:latin typeface="-apple-system"/>
              </a:rPr>
              <a:t>、</a:t>
            </a:r>
            <a:r>
              <a:rPr lang="zh-CN" altLang="en-US" sz="1800" b="0" i="0" dirty="0">
                <a:solidFill>
                  <a:srgbClr val="FF0000"/>
                </a:solidFill>
                <a:effectLst/>
                <a:latin typeface="-apple-system"/>
              </a:rPr>
              <a:t>单独的隔离操作</a:t>
            </a:r>
            <a:r>
              <a:rPr lang="zh-CN" altLang="en-US" sz="1800" b="0" i="0" dirty="0">
                <a:solidFill>
                  <a:srgbClr val="4F4F4F"/>
                </a:solidFill>
                <a:effectLst/>
                <a:latin typeface="-apple-system"/>
              </a:rPr>
              <a:t>：事务中所有的命令多会序列化、按顺序地执行。事务在执行的过程中，不会被其他客户端发送来的命令请求所打断。</a:t>
            </a:r>
            <a:endParaRPr lang="zh-CN" altLang="en-US" sz="1800" b="0" i="0" dirty="0">
              <a:solidFill>
                <a:srgbClr val="4F4F4F"/>
              </a:solidFill>
              <a:effectLst/>
              <a:latin typeface="-apple-system"/>
            </a:endParaRPr>
          </a:p>
          <a:p>
            <a:pPr algn="l">
              <a:lnSpc>
                <a:spcPct val="120000"/>
              </a:lnSpc>
            </a:pPr>
            <a:r>
              <a:rPr lang="en-US" altLang="zh-CN" sz="1800" b="0" i="0" dirty="0">
                <a:solidFill>
                  <a:srgbClr val="4F4F4F"/>
                </a:solidFill>
                <a:effectLst/>
                <a:latin typeface="-apple-system"/>
              </a:rPr>
              <a:t>2</a:t>
            </a:r>
            <a:r>
              <a:rPr lang="zh-CN" altLang="en-US" sz="1800" b="0" i="0" dirty="0">
                <a:solidFill>
                  <a:srgbClr val="4F4F4F"/>
                </a:solidFill>
                <a:effectLst/>
                <a:latin typeface="-apple-system"/>
              </a:rPr>
              <a:t>、</a:t>
            </a:r>
            <a:r>
              <a:rPr lang="zh-CN" altLang="en-US" sz="1800" b="0" i="0" dirty="0">
                <a:solidFill>
                  <a:srgbClr val="FF0000"/>
                </a:solidFill>
                <a:effectLst/>
                <a:latin typeface="-apple-system"/>
              </a:rPr>
              <a:t>没有隔离级别的概念</a:t>
            </a:r>
            <a:r>
              <a:rPr lang="zh-CN" altLang="en-US" sz="1800" b="0" i="0" dirty="0">
                <a:solidFill>
                  <a:srgbClr val="4F4F4F"/>
                </a:solidFill>
                <a:effectLst/>
                <a:latin typeface="-apple-system"/>
              </a:rPr>
              <a:t>：队列中的命令没有提交之前都不会实际的被执行，因为事务提交</a:t>
            </a:r>
            <a:r>
              <a:rPr lang="zh-CN" altLang="en-US" sz="1800" dirty="0">
                <a:solidFill>
                  <a:srgbClr val="4F4F4F"/>
                </a:solidFill>
                <a:latin typeface="-apple-system"/>
              </a:rPr>
              <a:t>前任</a:t>
            </a:r>
            <a:r>
              <a:rPr lang="zh-CN" altLang="en-US" sz="1800" b="0" i="0" dirty="0">
                <a:solidFill>
                  <a:srgbClr val="4F4F4F"/>
                </a:solidFill>
                <a:effectLst/>
                <a:latin typeface="-apple-system"/>
              </a:rPr>
              <a:t>何指令都不会被实际的执行，也就是不存在“事务内的查询要看到事务里面的更新，在事务外查询不能看到 ”这个是让人万分头痛的问题。</a:t>
            </a:r>
            <a:endParaRPr lang="zh-CN" altLang="en-US" sz="1800" b="0" i="0" dirty="0">
              <a:solidFill>
                <a:srgbClr val="4F4F4F"/>
              </a:solidFill>
              <a:effectLst/>
              <a:latin typeface="-apple-system"/>
            </a:endParaRPr>
          </a:p>
          <a:p>
            <a:pPr algn="l">
              <a:lnSpc>
                <a:spcPct val="120000"/>
              </a:lnSpc>
            </a:pPr>
            <a:r>
              <a:rPr lang="en-US" altLang="zh-CN" sz="1800" b="0" i="0" dirty="0">
                <a:solidFill>
                  <a:srgbClr val="4F4F4F"/>
                </a:solidFill>
                <a:effectLst/>
                <a:latin typeface="-apple-system"/>
              </a:rPr>
              <a:t>3</a:t>
            </a:r>
            <a:r>
              <a:rPr lang="zh-CN" altLang="en-US" sz="1800" b="0" i="0" dirty="0">
                <a:solidFill>
                  <a:srgbClr val="4F4F4F"/>
                </a:solidFill>
                <a:effectLst/>
                <a:latin typeface="-apple-system"/>
              </a:rPr>
              <a:t>、</a:t>
            </a:r>
            <a:r>
              <a:rPr lang="zh-CN" altLang="en-US" sz="1800" b="0" i="0" dirty="0">
                <a:solidFill>
                  <a:srgbClr val="FF0000"/>
                </a:solidFill>
                <a:effectLst/>
                <a:latin typeface="-apple-system"/>
              </a:rPr>
              <a:t>不保证原子性</a:t>
            </a:r>
            <a:r>
              <a:rPr lang="zh-CN" altLang="en-US" sz="1800" b="0" i="0" dirty="0">
                <a:solidFill>
                  <a:srgbClr val="4F4F4F"/>
                </a:solidFill>
                <a:effectLst/>
                <a:latin typeface="-apple-system"/>
              </a:rPr>
              <a:t>：</a:t>
            </a:r>
            <a:r>
              <a:rPr lang="en-US" altLang="zh-CN" sz="1800" b="0" i="0" dirty="0">
                <a:solidFill>
                  <a:srgbClr val="4F4F4F"/>
                </a:solidFill>
                <a:effectLst/>
                <a:latin typeface="-apple-system"/>
              </a:rPr>
              <a:t>Redis</a:t>
            </a:r>
            <a:r>
              <a:rPr lang="zh-CN" altLang="en-US" sz="1800" b="0" i="0" dirty="0">
                <a:solidFill>
                  <a:srgbClr val="4F4F4F"/>
                </a:solidFill>
                <a:effectLst/>
                <a:latin typeface="-apple-system"/>
              </a:rPr>
              <a:t>同一个事务中如果有一条命令执行失败，其后的命令仍然会被执行，没有回滚。</a:t>
            </a:r>
            <a:endParaRPr lang="zh-CN" altLang="en-US" sz="1800" b="0" i="0" dirty="0">
              <a:solidFill>
                <a:srgbClr val="4F4F4F"/>
              </a:solidFill>
              <a:effectLst/>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事务</a:t>
            </a:r>
            <a:r>
              <a:rPr lang="en-US" altLang="zh-CN" kern="0" dirty="0"/>
              <a:t>-</a:t>
            </a:r>
            <a:r>
              <a:rPr lang="zh-CN" altLang="en-US" kern="0" dirty="0"/>
              <a:t>特性</a:t>
            </a:r>
            <a:endParaRPr lang="en-US" altLang="zh-CN" kern="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主从复制</a:t>
            </a:r>
            <a:endParaRPr lang="zh-CN" altLang="en-US" sz="4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36650"/>
            <a:ext cx="8501717" cy="446884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zh-CN" altLang="en-US" sz="1800" dirty="0">
                <a:solidFill>
                  <a:srgbClr val="4F4F4F"/>
                </a:solidFill>
                <a:latin typeface="-apple-system"/>
              </a:rPr>
              <a:t>持久化侧重解决的是</a:t>
            </a:r>
            <a:r>
              <a:rPr lang="en-US" altLang="zh-CN" sz="1800" dirty="0">
                <a:solidFill>
                  <a:srgbClr val="FF0000"/>
                </a:solidFill>
                <a:latin typeface="Consolas" panose="020B0609020204030204" charset="0"/>
                <a:cs typeface="Consolas" panose="020B0609020204030204" charset="0"/>
              </a:rPr>
              <a:t>Redis</a:t>
            </a:r>
            <a:r>
              <a:rPr lang="zh-CN" altLang="en-US" sz="1800" dirty="0">
                <a:solidFill>
                  <a:srgbClr val="FF0000"/>
                </a:solidFill>
                <a:latin typeface="-apple-system"/>
              </a:rPr>
              <a:t>数据的单机备份问题</a:t>
            </a:r>
            <a:r>
              <a:rPr lang="zh-CN" altLang="en-US" sz="1800" dirty="0">
                <a:solidFill>
                  <a:srgbClr val="4F4F4F"/>
                </a:solidFill>
                <a:latin typeface="-apple-system"/>
              </a:rPr>
              <a:t>（从内存到硬盘的备份）；而主从复制则侧重解决数据的</a:t>
            </a:r>
            <a:r>
              <a:rPr lang="zh-CN" altLang="en-US" sz="1800" b="1" dirty="0">
                <a:solidFill>
                  <a:srgbClr val="FF0000"/>
                </a:solidFill>
                <a:latin typeface="-apple-system"/>
              </a:rPr>
              <a:t>多机热备</a:t>
            </a:r>
            <a:r>
              <a:rPr lang="zh-CN" altLang="en-US" sz="1800" dirty="0">
                <a:solidFill>
                  <a:srgbClr val="4F4F4F"/>
                </a:solidFill>
                <a:latin typeface="-apple-system"/>
              </a:rPr>
              <a:t>。此外，主从复制还可以实现</a:t>
            </a:r>
            <a:r>
              <a:rPr lang="zh-CN" altLang="en-US" sz="1800" b="1" dirty="0">
                <a:solidFill>
                  <a:srgbClr val="FF0000"/>
                </a:solidFill>
                <a:latin typeface="-apple-system"/>
              </a:rPr>
              <a:t>负载均衡和故障恢复</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r>
              <a:rPr lang="zh-CN" altLang="en-US" sz="1800" dirty="0">
                <a:solidFill>
                  <a:srgbClr val="4F4F4F"/>
                </a:solidFill>
                <a:latin typeface="-apple-system"/>
              </a:rPr>
              <a:t>主从复制，是指将一台</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服务器的数据，复制到其他的</a:t>
            </a:r>
            <a:r>
              <a:rPr lang="en-US" altLang="zh-CN" sz="1800" dirty="0">
                <a:solidFill>
                  <a:srgbClr val="4F4F4F"/>
                </a:solidFill>
                <a:latin typeface="Consolas" panose="020B0609020204030204" charset="0"/>
                <a:cs typeface="Consolas" panose="020B0609020204030204" charset="0"/>
              </a:rPr>
              <a:t>Redis</a:t>
            </a:r>
            <a:r>
              <a:rPr lang="en-US" altLang="zh-CN" sz="1800" dirty="0">
                <a:solidFill>
                  <a:srgbClr val="4F4F4F"/>
                </a:solidFill>
                <a:latin typeface="-apple-system"/>
              </a:rPr>
              <a:t>服务器</a:t>
            </a:r>
            <a:r>
              <a:rPr lang="zh-CN" altLang="en-US" sz="1800" dirty="0">
                <a:solidFill>
                  <a:srgbClr val="4F4F4F"/>
                </a:solidFill>
                <a:latin typeface="-apple-system"/>
              </a:rPr>
              <a:t>。前者称为主节点</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master</a:t>
            </a:r>
            <a:r>
              <a:rPr lang="en-US" altLang="zh-CN" sz="1800" dirty="0">
                <a:solidFill>
                  <a:srgbClr val="4F4F4F"/>
                </a:solidFill>
                <a:latin typeface="-apple-system"/>
              </a:rPr>
              <a:t>)</a:t>
            </a:r>
            <a:r>
              <a:rPr lang="zh-CN" altLang="en-US" sz="1800" dirty="0">
                <a:solidFill>
                  <a:srgbClr val="4F4F4F"/>
                </a:solidFill>
                <a:latin typeface="-apple-system"/>
              </a:rPr>
              <a:t>，后者称为从节点</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slave</a:t>
            </a:r>
            <a:r>
              <a:rPr lang="en-US" altLang="zh-CN" sz="1800" dirty="0">
                <a:solidFill>
                  <a:srgbClr val="4F4F4F"/>
                </a:solidFill>
                <a:latin typeface="-apple-system"/>
              </a:rPr>
              <a:t>)</a:t>
            </a:r>
            <a:r>
              <a:rPr lang="zh-CN" altLang="en-US" sz="1800" dirty="0">
                <a:solidFill>
                  <a:srgbClr val="4F4F4F"/>
                </a:solidFill>
                <a:latin typeface="-apple-system"/>
              </a:rPr>
              <a:t>；数据的复制是</a:t>
            </a:r>
            <a:r>
              <a:rPr lang="zh-CN" altLang="en-US" sz="1800" b="1" dirty="0">
                <a:solidFill>
                  <a:srgbClr val="FF0000"/>
                </a:solidFill>
                <a:latin typeface="-apple-system"/>
              </a:rPr>
              <a:t>单向</a:t>
            </a:r>
            <a:r>
              <a:rPr lang="zh-CN" altLang="en-US" sz="1800" dirty="0">
                <a:solidFill>
                  <a:srgbClr val="4F4F4F"/>
                </a:solidFill>
                <a:latin typeface="-apple-system"/>
              </a:rPr>
              <a:t>的，只能由主节点到从节点。</a:t>
            </a:r>
            <a:endParaRPr lang="zh-CN" altLang="en-US" sz="1800" dirty="0">
              <a:solidFill>
                <a:srgbClr val="4F4F4F"/>
              </a:solidFill>
              <a:latin typeface="-apple-system"/>
            </a:endParaRPr>
          </a:p>
          <a:p>
            <a:pPr algn="l">
              <a:lnSpc>
                <a:spcPct val="120000"/>
              </a:lnSpc>
            </a:pPr>
            <a:r>
              <a:rPr lang="zh-CN" altLang="en-US" sz="1800" dirty="0">
                <a:solidFill>
                  <a:srgbClr val="4F4F4F"/>
                </a:solidFill>
                <a:latin typeface="-apple-system"/>
              </a:rPr>
              <a:t>默认情况下，每台</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服务器都是主节点；且一个主节点可以有多个从节点</a:t>
            </a:r>
            <a:r>
              <a:rPr lang="en-US" altLang="zh-CN" sz="1800" dirty="0">
                <a:solidFill>
                  <a:srgbClr val="4F4F4F"/>
                </a:solidFill>
                <a:latin typeface="-apple-system"/>
              </a:rPr>
              <a:t>(</a:t>
            </a:r>
            <a:r>
              <a:rPr lang="zh-CN" altLang="en-US" sz="1800" dirty="0">
                <a:solidFill>
                  <a:srgbClr val="4F4F4F"/>
                </a:solidFill>
                <a:latin typeface="-apple-system"/>
              </a:rPr>
              <a:t>或没有从节点</a:t>
            </a:r>
            <a:r>
              <a:rPr lang="en-US" altLang="zh-CN" sz="1800" dirty="0">
                <a:solidFill>
                  <a:srgbClr val="4F4F4F"/>
                </a:solidFill>
                <a:latin typeface="-apple-system"/>
              </a:rPr>
              <a:t>)</a:t>
            </a:r>
            <a:r>
              <a:rPr lang="zh-CN" altLang="en-US" sz="1800" dirty="0">
                <a:solidFill>
                  <a:srgbClr val="4F4F4F"/>
                </a:solidFill>
                <a:latin typeface="-apple-system"/>
              </a:rPr>
              <a:t>，但一个从节点只能有一个主节点。</a:t>
            </a:r>
            <a:endParaRPr lang="zh-CN" altLang="en-US" sz="1800" dirty="0">
              <a:solidFill>
                <a:srgbClr val="4F4F4F"/>
              </a:solidFill>
              <a:latin typeface="-apple-system"/>
            </a:endParaRPr>
          </a:p>
          <a:p>
            <a:pPr algn="l">
              <a:lnSpc>
                <a:spcPct val="120000"/>
              </a:lnSpc>
            </a:pP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概念</a:t>
            </a:r>
            <a:endParaRPr lang="en-US" altLang="zh-CN" kern="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36650"/>
            <a:ext cx="8501717" cy="446884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just">
              <a:lnSpc>
                <a:spcPct val="125000"/>
              </a:lnSpc>
            </a:pPr>
            <a:r>
              <a:rPr lang="zh-CN" altLang="en-US" sz="1800" dirty="0">
                <a:solidFill>
                  <a:srgbClr val="4F4F4F"/>
                </a:solidFill>
                <a:latin typeface="-apple-system"/>
              </a:rPr>
              <a:t>主从复制的</a:t>
            </a:r>
            <a:r>
              <a:rPr lang="zh-CN" altLang="en-US" sz="1800" b="1" dirty="0">
                <a:solidFill>
                  <a:srgbClr val="4F4F4F"/>
                </a:solidFill>
                <a:latin typeface="-apple-system"/>
              </a:rPr>
              <a:t>作用主要包括</a:t>
            </a:r>
            <a:r>
              <a:rPr lang="zh-CN" altLang="en-US" sz="1800" dirty="0">
                <a:solidFill>
                  <a:srgbClr val="4F4F4F"/>
                </a:solidFill>
                <a:latin typeface="-apple-system"/>
              </a:rPr>
              <a:t>：</a:t>
            </a:r>
            <a:endParaRPr lang="zh-CN" altLang="en-US"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数据冗余：主从复制实现了数据的热备份，是持久化之外的一种数据冗余方式。</a:t>
            </a:r>
            <a:endParaRPr lang="zh-CN" altLang="en-US"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故障恢复：当主节点出现问题时，可以由从节点提供服务，实现快速的故障恢复；实际上是一种服务的冗余。</a:t>
            </a:r>
            <a:endParaRPr lang="zh-CN" altLang="en-US"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负载均衡：在主从复制的基础上，配合读写分离，可以由主节点提供写服务，由从节点提供读服务（即写</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数据时应用连接主节点，读</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数据时应用连接从节点），分担服务器负载；尤其是在写少读多的场景下，通过多个从节点分担读负载，可以大大提高</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服务器的并发量。</a:t>
            </a:r>
            <a:endParaRPr lang="zh-CN" altLang="en-US"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 高可用基石：除了上述作用以外，主从复制还是哨兵和集群能够实施的基础，因此说主从复制是</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高可用的基础。</a:t>
            </a:r>
            <a:endParaRPr lang="zh-CN" altLang="en-US" sz="1800" dirty="0">
              <a:solidFill>
                <a:srgbClr val="4F4F4F"/>
              </a:solidFill>
              <a:latin typeface="-apple-system"/>
            </a:endParaRPr>
          </a:p>
          <a:p>
            <a:pPr algn="l">
              <a:lnSpc>
                <a:spcPct val="120000"/>
              </a:lnSpc>
            </a:pP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作用</a:t>
            </a:r>
            <a:endParaRPr lang="en-US" altLang="zh-CN" kern="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464816"/>
            <a:ext cx="8501717" cy="525666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5000"/>
              </a:lnSpc>
              <a:buFont typeface="+mj-lt"/>
              <a:buAutoNum type="arabicPeriod"/>
            </a:pPr>
            <a:r>
              <a:rPr lang="zh-CN" altLang="en-US" sz="1800" dirty="0">
                <a:solidFill>
                  <a:srgbClr val="4F4F4F"/>
                </a:solidFill>
                <a:latin typeface="-apple-system"/>
              </a:rPr>
              <a:t>由于需要启动多个</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实例，我们先把多个实例使用的配置文件做好修改。</a:t>
            </a:r>
            <a:endParaRPr lang="en-US" altLang="zh-CN"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需要修改的配置信息有：</a:t>
            </a:r>
            <a:endParaRPr lang="en-US" altLang="zh-CN" sz="1800" dirty="0">
              <a:solidFill>
                <a:srgbClr val="4F4F4F"/>
              </a:solidFill>
              <a:latin typeface="-apple-system"/>
            </a:endParaRPr>
          </a:p>
          <a:p>
            <a:pPr lvl="1" algn="l">
              <a:lnSpc>
                <a:spcPct val="125000"/>
              </a:lnSpc>
              <a:buFont typeface="+mj-lt"/>
              <a:buAutoNum type="arabicPeriod"/>
            </a:pPr>
            <a:r>
              <a:rPr lang="zh-CN" altLang="en-US" sz="1800" dirty="0">
                <a:solidFill>
                  <a:srgbClr val="4F4F4F"/>
                </a:solidFill>
                <a:latin typeface="-apple-system"/>
              </a:rPr>
              <a:t>先拷贝多份配置文件，用不同的名字命名</a:t>
            </a:r>
            <a:endParaRPr lang="en-US" altLang="zh-CN" sz="1800" dirty="0">
              <a:solidFill>
                <a:srgbClr val="4F4F4F"/>
              </a:solidFill>
              <a:latin typeface="-apple-system"/>
            </a:endParaRPr>
          </a:p>
          <a:p>
            <a:pPr lvl="1" algn="l">
              <a:lnSpc>
                <a:spcPct val="125000"/>
              </a:lnSpc>
              <a:buFont typeface="+mj-lt"/>
              <a:buAutoNum type="arabicPeriod"/>
            </a:pPr>
            <a:r>
              <a:rPr lang="zh-CN" altLang="en-US" sz="1800" dirty="0">
                <a:solidFill>
                  <a:srgbClr val="4F4F4F"/>
                </a:solidFill>
                <a:latin typeface="-apple-system"/>
              </a:rPr>
              <a:t>守护进程启动 </a:t>
            </a:r>
            <a:r>
              <a:rPr lang="en-US" altLang="zh-CN" sz="1800" dirty="0">
                <a:solidFill>
                  <a:srgbClr val="4F4F4F"/>
                </a:solidFill>
                <a:latin typeface="Consolas" panose="020B0609020204030204" charset="0"/>
                <a:cs typeface="Consolas" panose="020B0609020204030204" charset="0"/>
              </a:rPr>
              <a:t>daemonize yes</a:t>
            </a:r>
            <a:endParaRPr lang="en-US" altLang="zh-CN" sz="1800" dirty="0">
              <a:solidFill>
                <a:srgbClr val="4F4F4F"/>
              </a:solidFill>
              <a:latin typeface="-apple-system"/>
            </a:endParaRPr>
          </a:p>
          <a:p>
            <a:pPr lvl="1" algn="l">
              <a:lnSpc>
                <a:spcPct val="125000"/>
              </a:lnSpc>
              <a:buFont typeface="+mj-lt"/>
              <a:buAutoNum type="arabicPeriod"/>
            </a:pPr>
            <a:r>
              <a:rPr lang="en-US" altLang="zh-CN" sz="1800" dirty="0">
                <a:solidFill>
                  <a:srgbClr val="4F4F4F"/>
                </a:solidFill>
                <a:latin typeface="Consolas" panose="020B0609020204030204" charset="0"/>
                <a:cs typeface="Consolas" panose="020B0609020204030204" charset="0"/>
              </a:rPr>
              <a:t>Pid </a:t>
            </a:r>
            <a:r>
              <a:rPr lang="zh-CN" altLang="en-US" sz="1800" dirty="0">
                <a:solidFill>
                  <a:srgbClr val="4F4F4F"/>
                </a:solidFill>
                <a:latin typeface="-apple-system"/>
              </a:rPr>
              <a:t>文件名字  </a:t>
            </a:r>
            <a:endParaRPr lang="en-US" altLang="zh-CN" sz="1800" dirty="0">
              <a:solidFill>
                <a:srgbClr val="4F4F4F"/>
              </a:solidFill>
              <a:latin typeface="-apple-system"/>
            </a:endParaRPr>
          </a:p>
          <a:p>
            <a:pPr lvl="1" algn="l">
              <a:lnSpc>
                <a:spcPct val="125000"/>
              </a:lnSpc>
              <a:buFont typeface="+mj-lt"/>
              <a:buAutoNum type="arabicPeriod"/>
            </a:pPr>
            <a:r>
              <a:rPr lang="zh-CN" altLang="en-US" sz="1800" dirty="0">
                <a:solidFill>
                  <a:srgbClr val="4F4F4F"/>
                </a:solidFill>
                <a:latin typeface="-apple-system"/>
              </a:rPr>
              <a:t>指定一个端口</a:t>
            </a:r>
            <a:endParaRPr lang="en-US" altLang="zh-CN" sz="1800" dirty="0">
              <a:solidFill>
                <a:srgbClr val="4F4F4F"/>
              </a:solidFill>
              <a:latin typeface="-apple-system"/>
            </a:endParaRPr>
          </a:p>
          <a:p>
            <a:pPr lvl="1" algn="l">
              <a:lnSpc>
                <a:spcPct val="125000"/>
              </a:lnSpc>
              <a:buFont typeface="+mj-lt"/>
              <a:buAutoNum type="arabicPeriod"/>
            </a:pPr>
            <a:r>
              <a:rPr lang="en-US" altLang="zh-CN" sz="1800" dirty="0">
                <a:solidFill>
                  <a:srgbClr val="4F4F4F"/>
                </a:solidFill>
                <a:latin typeface="Consolas" panose="020B0609020204030204" charset="0"/>
                <a:cs typeface="Consolas" panose="020B0609020204030204" charset="0"/>
              </a:rPr>
              <a:t>Log日志</a:t>
            </a:r>
            <a:r>
              <a:rPr lang="zh-CN" altLang="en-US" sz="1800" dirty="0">
                <a:solidFill>
                  <a:srgbClr val="4F4F4F"/>
                </a:solidFill>
                <a:latin typeface="-apple-system"/>
              </a:rPr>
              <a:t>文件名</a:t>
            </a:r>
            <a:endParaRPr lang="en-US" altLang="zh-CN" sz="1800" dirty="0">
              <a:solidFill>
                <a:srgbClr val="4F4F4F"/>
              </a:solidFill>
              <a:latin typeface="-apple-system"/>
            </a:endParaRPr>
          </a:p>
          <a:p>
            <a:pPr lvl="1" algn="l">
              <a:lnSpc>
                <a:spcPct val="125000"/>
              </a:lnSpc>
              <a:buFont typeface="+mj-lt"/>
              <a:buAutoNum type="arabicPeriod"/>
            </a:pPr>
            <a:r>
              <a:rPr lang="en-US" altLang="zh-CN" sz="1800" dirty="0">
                <a:solidFill>
                  <a:srgbClr val="4F4F4F"/>
                </a:solidFill>
                <a:latin typeface="Consolas" panose="020B0609020204030204" charset="0"/>
                <a:cs typeface="Consolas" panose="020B0609020204030204" charset="0"/>
              </a:rPr>
              <a:t>Dump</a:t>
            </a:r>
            <a:r>
              <a:rPr lang="en-US" altLang="zh-CN" sz="1800" dirty="0" err="1">
                <a:solidFill>
                  <a:srgbClr val="4F4F4F"/>
                </a:solidFill>
                <a:latin typeface="-apple-system"/>
              </a:rPr>
              <a:t>.rdb</a:t>
            </a:r>
            <a:r>
              <a:rPr lang="zh-CN" altLang="en-US" sz="1800" dirty="0">
                <a:solidFill>
                  <a:srgbClr val="4F4F4F"/>
                </a:solidFill>
                <a:latin typeface="-apple-system"/>
              </a:rPr>
              <a:t>文件名</a:t>
            </a:r>
            <a:endParaRPr lang="en-US" altLang="zh-CN" sz="1800" dirty="0">
              <a:solidFill>
                <a:srgbClr val="4F4F4F"/>
              </a:solidFill>
              <a:latin typeface="-apple-system"/>
            </a:endParaRPr>
          </a:p>
          <a:p>
            <a:pPr lvl="1" algn="l">
              <a:lnSpc>
                <a:spcPct val="125000"/>
              </a:lnSpc>
              <a:buFont typeface="+mj-lt"/>
              <a:buAutoNum type="arabicPeriod"/>
            </a:pPr>
            <a:r>
              <a:rPr lang="zh-CN" altLang="en-US" sz="1800" dirty="0">
                <a:solidFill>
                  <a:srgbClr val="4F4F4F"/>
                </a:solidFill>
                <a:latin typeface="-apple-system"/>
              </a:rPr>
              <a:t>等等</a:t>
            </a:r>
            <a:endParaRPr lang="en-US" altLang="zh-CN"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通过刚改好的多个配置文件启动多个</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服务程序</a:t>
            </a:r>
            <a:endParaRPr lang="en-US" altLang="zh-CN" sz="1800" dirty="0">
              <a:solidFill>
                <a:srgbClr val="4F4F4F"/>
              </a:solidFill>
              <a:latin typeface="-apple-system"/>
            </a:endParaRPr>
          </a:p>
          <a:p>
            <a:pPr lvl="1" algn="l">
              <a:lnSpc>
                <a:spcPct val="125000"/>
              </a:lnSpc>
              <a:buFont typeface="+mj-lt"/>
              <a:buAutoNum type="arabicPeriod"/>
            </a:pPr>
            <a:r>
              <a:rPr lang="en-US" altLang="zh-CN" sz="1800" dirty="0">
                <a:solidFill>
                  <a:srgbClr val="4F4F4F"/>
                </a:solidFill>
                <a:latin typeface="Consolas" panose="020B0609020204030204" charset="0"/>
                <a:cs typeface="Consolas" panose="020B0609020204030204" charset="0"/>
              </a:rPr>
              <a:t>Redis</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server </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path</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to/***.conf</a:t>
            </a:r>
            <a:endParaRPr lang="en-US" altLang="zh-CN" sz="1800" dirty="0">
              <a:solidFill>
                <a:srgbClr val="4F4F4F"/>
              </a:solidFill>
              <a:latin typeface="-apple-system"/>
            </a:endParaRPr>
          </a:p>
          <a:p>
            <a:pPr algn="l">
              <a:lnSpc>
                <a:spcPct val="125000"/>
              </a:lnSpc>
              <a:buFont typeface="+mj-lt"/>
              <a:buAutoNum type="arabicPeriod"/>
            </a:pPr>
            <a:endParaRPr lang="en-US" altLang="zh-CN"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使用</a:t>
            </a:r>
            <a:endParaRPr lang="en-US" altLang="zh-CN" kern="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121920" y="1736725"/>
            <a:ext cx="8889365" cy="4984750"/>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5000"/>
              </a:lnSpc>
              <a:buFont typeface="+mj-lt"/>
              <a:buAutoNum type="arabicPeriod"/>
            </a:pPr>
            <a:r>
              <a:rPr lang="zh-CN" altLang="en-US" sz="1800" dirty="0">
                <a:solidFill>
                  <a:srgbClr val="4F4F4F"/>
                </a:solidFill>
                <a:latin typeface="-apple-system"/>
              </a:rPr>
              <a:t>先修改配置文件，启动多个</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实例，分配不同的端口号</a:t>
            </a:r>
            <a:endParaRPr lang="en-US" altLang="zh-CN"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主从复制的开启，</a:t>
            </a:r>
            <a:r>
              <a:rPr lang="zh-CN" altLang="en-US" sz="1800" b="1" dirty="0">
                <a:solidFill>
                  <a:srgbClr val="4F4F4F"/>
                </a:solidFill>
                <a:latin typeface="-apple-system"/>
              </a:rPr>
              <a:t>完全是在从节点发起的；不需要我们在主节点做任何事情</a:t>
            </a:r>
            <a:r>
              <a:rPr lang="zh-CN" altLang="en-US" sz="1800" dirty="0">
                <a:solidFill>
                  <a:srgbClr val="4F4F4F"/>
                </a:solidFill>
                <a:latin typeface="-apple-system"/>
              </a:rPr>
              <a:t>。</a:t>
            </a:r>
            <a:endParaRPr lang="zh-CN" altLang="en-US" sz="1800" dirty="0">
              <a:solidFill>
                <a:srgbClr val="4F4F4F"/>
              </a:solidFill>
              <a:latin typeface="-apple-system"/>
            </a:endParaRPr>
          </a:p>
          <a:p>
            <a:pPr algn="l">
              <a:lnSpc>
                <a:spcPct val="125000"/>
              </a:lnSpc>
              <a:buFont typeface="+mj-lt"/>
              <a:buAutoNum type="arabicPeriod"/>
            </a:pPr>
            <a:r>
              <a:rPr lang="zh-CN" altLang="en-US" sz="1800" dirty="0">
                <a:solidFill>
                  <a:srgbClr val="4F4F4F"/>
                </a:solidFill>
                <a:latin typeface="-apple-system"/>
              </a:rPr>
              <a:t>从节点开启主从复制，有</a:t>
            </a:r>
            <a:r>
              <a:rPr lang="en-US" altLang="zh-CN" sz="1800" dirty="0">
                <a:solidFill>
                  <a:srgbClr val="4F4F4F"/>
                </a:solidFill>
                <a:latin typeface="-apple-system"/>
              </a:rPr>
              <a:t>3</a:t>
            </a:r>
            <a:r>
              <a:rPr lang="zh-CN" altLang="en-US" sz="1800" dirty="0">
                <a:solidFill>
                  <a:srgbClr val="4F4F4F"/>
                </a:solidFill>
                <a:latin typeface="-apple-system"/>
              </a:rPr>
              <a:t>种方式：</a:t>
            </a:r>
            <a:endParaRPr lang="zh-CN" altLang="en-US" sz="1800" dirty="0">
              <a:solidFill>
                <a:srgbClr val="4F4F4F"/>
              </a:solidFill>
              <a:latin typeface="-apple-system"/>
            </a:endParaRPr>
          </a:p>
          <a:p>
            <a:pPr algn="l">
              <a:lnSpc>
                <a:spcPct val="125000"/>
              </a:lnSpc>
            </a:pPr>
            <a:r>
              <a:rPr lang="zh-CN" altLang="en-US" sz="1800" dirty="0">
                <a:solidFill>
                  <a:srgbClr val="4F4F4F"/>
                </a:solidFill>
                <a:latin typeface="-apple-system"/>
              </a:rPr>
              <a:t>（</a:t>
            </a:r>
            <a:r>
              <a:rPr lang="en-US" altLang="zh-CN" sz="1800" dirty="0">
                <a:solidFill>
                  <a:srgbClr val="4F4F4F"/>
                </a:solidFill>
                <a:latin typeface="-apple-system"/>
              </a:rPr>
              <a:t>1</a:t>
            </a:r>
            <a:r>
              <a:rPr lang="zh-CN" altLang="en-US" sz="1800" dirty="0">
                <a:solidFill>
                  <a:srgbClr val="4F4F4F"/>
                </a:solidFill>
                <a:latin typeface="-apple-system"/>
              </a:rPr>
              <a:t>）配置文件</a:t>
            </a:r>
            <a:endParaRPr lang="zh-CN" altLang="en-US" sz="1800" dirty="0">
              <a:solidFill>
                <a:srgbClr val="4F4F4F"/>
              </a:solidFill>
              <a:latin typeface="-apple-system"/>
            </a:endParaRPr>
          </a:p>
          <a:p>
            <a:pPr algn="l">
              <a:lnSpc>
                <a:spcPct val="125000"/>
              </a:lnSpc>
            </a:pPr>
            <a:r>
              <a:rPr lang="en-US" altLang="zh-CN" sz="1800" dirty="0">
                <a:solidFill>
                  <a:srgbClr val="4F4F4F"/>
                </a:solidFill>
                <a:latin typeface="-apple-system"/>
              </a:rPr>
              <a:t>	</a:t>
            </a:r>
            <a:r>
              <a:rPr lang="zh-CN" altLang="en-US" sz="1800" dirty="0">
                <a:solidFill>
                  <a:srgbClr val="4F4F4F"/>
                </a:solidFill>
                <a:latin typeface="-apple-system"/>
              </a:rPr>
              <a:t>在从服务器的配置文件中加入：</a:t>
            </a:r>
            <a:r>
              <a:rPr lang="en-US" altLang="zh-CN" sz="1800" dirty="0">
                <a:solidFill>
                  <a:srgbClr val="4F4F4F"/>
                </a:solidFill>
                <a:latin typeface="Consolas" panose="020B0609020204030204" charset="0"/>
                <a:cs typeface="Consolas" panose="020B0609020204030204" charset="0"/>
              </a:rPr>
              <a:t>slaveof &lt;masterip&gt; &lt;masterport&gt;</a:t>
            </a:r>
            <a:endParaRPr lang="en-US" altLang="zh-CN" sz="1800" dirty="0">
              <a:solidFill>
                <a:srgbClr val="4F4F4F"/>
              </a:solidFill>
              <a:latin typeface="-apple-system"/>
            </a:endParaRPr>
          </a:p>
          <a:p>
            <a:pPr algn="l">
              <a:lnSpc>
                <a:spcPct val="125000"/>
              </a:lnSpc>
            </a:pPr>
            <a:r>
              <a:rPr lang="zh-CN" altLang="en-US" sz="1800" dirty="0">
                <a:solidFill>
                  <a:srgbClr val="4F4F4F"/>
                </a:solidFill>
                <a:latin typeface="-apple-system"/>
              </a:rPr>
              <a:t>（</a:t>
            </a:r>
            <a:r>
              <a:rPr lang="en-US" altLang="zh-CN" sz="1800" dirty="0">
                <a:solidFill>
                  <a:srgbClr val="4F4F4F"/>
                </a:solidFill>
                <a:latin typeface="-apple-system"/>
              </a:rPr>
              <a:t>2</a:t>
            </a:r>
            <a:r>
              <a:rPr lang="zh-CN" altLang="en-US" sz="1800" dirty="0">
                <a:solidFill>
                  <a:srgbClr val="4F4F4F"/>
                </a:solidFill>
                <a:latin typeface="-apple-system"/>
              </a:rPr>
              <a:t>）启动命令</a:t>
            </a:r>
            <a:endParaRPr lang="zh-CN" altLang="en-US" sz="1800" dirty="0">
              <a:solidFill>
                <a:srgbClr val="4F4F4F"/>
              </a:solidFill>
              <a:latin typeface="-apple-system"/>
            </a:endParaRPr>
          </a:p>
          <a:p>
            <a:pPr algn="l">
              <a:lnSpc>
                <a:spcPct val="125000"/>
              </a:lnSpc>
            </a:pPr>
            <a:r>
              <a:rPr lang="en-US" altLang="zh-CN" sz="1800" dirty="0">
                <a:solidFill>
                  <a:srgbClr val="4F4F4F"/>
                </a:solidFill>
                <a:latin typeface="-apple-system"/>
              </a:rPr>
              <a:t>	</a:t>
            </a:r>
            <a:r>
              <a:rPr lang="en-US" altLang="zh-CN" sz="1800" dirty="0">
                <a:solidFill>
                  <a:srgbClr val="4F4F4F"/>
                </a:solidFill>
                <a:latin typeface="Consolas" panose="020B0609020204030204" charset="0"/>
                <a:cs typeface="Consolas" panose="020B0609020204030204" charset="0"/>
              </a:rPr>
              <a:t>redis-server</a:t>
            </a:r>
            <a:r>
              <a:rPr lang="zh-CN" altLang="en-US" sz="1800" dirty="0">
                <a:solidFill>
                  <a:srgbClr val="4F4F4F"/>
                </a:solidFill>
                <a:latin typeface="-apple-system"/>
              </a:rPr>
              <a:t>启动命令后面加入 </a:t>
            </a:r>
            <a:r>
              <a:rPr lang="en-US" altLang="zh-CN" sz="1800" dirty="0">
                <a:solidFill>
                  <a:srgbClr val="4F4F4F"/>
                </a:solidFill>
                <a:latin typeface="-apple-system"/>
              </a:rPr>
              <a:t>--</a:t>
            </a:r>
            <a:r>
              <a:rPr lang="en-US" altLang="zh-CN" sz="1800" dirty="0">
                <a:solidFill>
                  <a:srgbClr val="4F4F4F"/>
                </a:solidFill>
                <a:latin typeface="Consolas" panose="020B0609020204030204" charset="0"/>
                <a:cs typeface="Consolas" panose="020B0609020204030204" charset="0"/>
              </a:rPr>
              <a:t>slaveof &lt;masterip&gt; &lt;masterport&gt;</a:t>
            </a:r>
            <a:endParaRPr lang="en-US" altLang="zh-CN" sz="1800" dirty="0">
              <a:solidFill>
                <a:srgbClr val="4F4F4F"/>
              </a:solidFill>
              <a:latin typeface="-apple-system"/>
            </a:endParaRPr>
          </a:p>
          <a:p>
            <a:pPr algn="l">
              <a:lnSpc>
                <a:spcPct val="125000"/>
              </a:lnSpc>
            </a:pPr>
            <a:r>
              <a:rPr lang="zh-CN" altLang="en-US" sz="1800" dirty="0">
                <a:solidFill>
                  <a:srgbClr val="4F4F4F"/>
                </a:solidFill>
                <a:latin typeface="-apple-system"/>
              </a:rPr>
              <a:t>（</a:t>
            </a:r>
            <a:r>
              <a:rPr lang="en-US" altLang="zh-CN" sz="1800" dirty="0">
                <a:solidFill>
                  <a:srgbClr val="4F4F4F"/>
                </a:solidFill>
                <a:latin typeface="-apple-system"/>
              </a:rPr>
              <a:t>3</a:t>
            </a:r>
            <a:r>
              <a:rPr lang="zh-CN" altLang="en-US" sz="1800" dirty="0">
                <a:solidFill>
                  <a:srgbClr val="4F4F4F"/>
                </a:solidFill>
                <a:latin typeface="-apple-system"/>
              </a:rPr>
              <a:t>）客户端命令</a:t>
            </a:r>
            <a:endParaRPr lang="zh-CN" altLang="en-US" sz="1800" dirty="0">
              <a:solidFill>
                <a:srgbClr val="4F4F4F"/>
              </a:solidFill>
              <a:latin typeface="-apple-system"/>
            </a:endParaRPr>
          </a:p>
          <a:p>
            <a:pPr algn="l">
              <a:lnSpc>
                <a:spcPct val="125000"/>
              </a:lnSpc>
            </a:pPr>
            <a:r>
              <a:rPr lang="en-US" altLang="zh-CN" sz="1800" dirty="0">
                <a:solidFill>
                  <a:srgbClr val="4F4F4F"/>
                </a:solidFill>
                <a:latin typeface="-apple-system"/>
              </a:rPr>
              <a:t>	</a:t>
            </a:r>
            <a:r>
              <a:rPr lang="en-US" altLang="zh-CN" sz="1800" dirty="0">
                <a:solidFill>
                  <a:srgbClr val="4F4F4F"/>
                </a:solidFill>
                <a:latin typeface="Consolas" panose="020B0609020204030204" charset="0"/>
                <a:cs typeface="Consolas" panose="020B0609020204030204" charset="0"/>
              </a:rPr>
              <a:t>Redis</a:t>
            </a:r>
            <a:r>
              <a:rPr lang="zh-CN" altLang="en-US" sz="1800" dirty="0">
                <a:solidFill>
                  <a:srgbClr val="4F4F4F"/>
                </a:solidFill>
                <a:latin typeface="-apple-system"/>
              </a:rPr>
              <a:t>服务器启动后，直接通过客户端执行命令：</a:t>
            </a:r>
            <a:r>
              <a:rPr lang="en-US" altLang="zh-CN" sz="1800" dirty="0">
                <a:solidFill>
                  <a:srgbClr val="4F4F4F"/>
                </a:solidFill>
                <a:latin typeface="Consolas" panose="020B0609020204030204" charset="0"/>
                <a:cs typeface="Consolas" panose="020B0609020204030204" charset="0"/>
              </a:rPr>
              <a:t>slaveof &lt;masterip&gt; 	&lt;masterport&gt;</a:t>
            </a:r>
            <a:r>
              <a:rPr lang="zh-CN" altLang="en-US" sz="1800" dirty="0">
                <a:solidFill>
                  <a:srgbClr val="4F4F4F"/>
                </a:solidFill>
                <a:latin typeface="-apple-system"/>
              </a:rPr>
              <a:t>，则该</a:t>
            </a:r>
            <a:r>
              <a:rPr lang="en-US" altLang="zh-CN" sz="1800" dirty="0">
                <a:solidFill>
                  <a:srgbClr val="4F4F4F"/>
                </a:solidFill>
                <a:latin typeface="Consolas" panose="020B0609020204030204" charset="0"/>
                <a:cs typeface="Consolas" panose="020B0609020204030204" charset="0"/>
              </a:rPr>
              <a:t>Redis实例</a:t>
            </a:r>
            <a:r>
              <a:rPr lang="zh-CN" altLang="en-US" sz="1800" dirty="0">
                <a:solidFill>
                  <a:srgbClr val="4F4F4F"/>
                </a:solidFill>
                <a:latin typeface="-apple-system"/>
              </a:rPr>
              <a:t>成为从节点。</a:t>
            </a:r>
            <a:endParaRPr lang="en-US" altLang="zh-CN" sz="1800" dirty="0">
              <a:solidFill>
                <a:srgbClr val="4F4F4F"/>
              </a:solidFill>
              <a:latin typeface="-apple-system"/>
            </a:endParaRPr>
          </a:p>
          <a:p>
            <a:pPr algn="l">
              <a:lnSpc>
                <a:spcPct val="125000"/>
              </a:lnSpc>
            </a:pPr>
            <a:r>
              <a:rPr lang="en-US" altLang="zh-CN" sz="1800" dirty="0">
                <a:solidFill>
                  <a:srgbClr val="4F4F4F"/>
                </a:solidFill>
                <a:latin typeface="-apple-system"/>
              </a:rPr>
              <a:t>4. </a:t>
            </a:r>
            <a:r>
              <a:rPr lang="zh-CN" altLang="en-US" sz="1800" dirty="0">
                <a:solidFill>
                  <a:srgbClr val="4F4F4F"/>
                </a:solidFill>
                <a:latin typeface="-apple-system"/>
              </a:rPr>
              <a:t>通过</a:t>
            </a:r>
            <a:r>
              <a:rPr lang="en-US" altLang="zh-CN" sz="1800" dirty="0">
                <a:solidFill>
                  <a:srgbClr val="4F4F4F"/>
                </a:solidFill>
                <a:latin typeface="Consolas" panose="020B0609020204030204" charset="0"/>
                <a:cs typeface="Consolas" panose="020B0609020204030204" charset="0"/>
              </a:rPr>
              <a:t>info replication</a:t>
            </a:r>
            <a:r>
              <a:rPr lang="zh-CN" altLang="en-US" sz="1800" dirty="0">
                <a:solidFill>
                  <a:srgbClr val="4F4F4F"/>
                </a:solidFill>
                <a:latin typeface="-apple-system"/>
              </a:rPr>
              <a:t>可以查看主从信息。</a:t>
            </a:r>
            <a:endParaRPr lang="zh-CN" altLang="en-US" sz="1800" dirty="0">
              <a:solidFill>
                <a:srgbClr val="4F4F4F"/>
              </a:solidFill>
              <a:latin typeface="-apple-system"/>
            </a:endParaRPr>
          </a:p>
          <a:p>
            <a:pPr algn="l">
              <a:lnSpc>
                <a:spcPct val="120000"/>
              </a:lnSpc>
            </a:pP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使用</a:t>
            </a:r>
            <a:endParaRPr lang="en-US" altLang="zh-CN" kern="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36650"/>
            <a:ext cx="8501717" cy="446884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marL="342900" indent="-342900" algn="l">
              <a:lnSpc>
                <a:spcPct val="120000"/>
              </a:lnSpc>
              <a:buAutoNum type="arabicPeriod"/>
            </a:pPr>
            <a:r>
              <a:rPr lang="zh-CN" altLang="en-US" sz="1800" dirty="0">
                <a:solidFill>
                  <a:srgbClr val="4F4F4F"/>
                </a:solidFill>
                <a:latin typeface="-apple-system"/>
              </a:rPr>
              <a:t>从机对主机数据的同步，是全量的还是增量的？</a:t>
            </a:r>
            <a:endParaRPr lang="en-US" altLang="zh-CN" sz="1800" dirty="0">
              <a:solidFill>
                <a:srgbClr val="4F4F4F"/>
              </a:solidFill>
              <a:latin typeface="-apple-system"/>
            </a:endParaRPr>
          </a:p>
          <a:p>
            <a:pPr marL="800100" lvl="1" indent="-342900" algn="l">
              <a:lnSpc>
                <a:spcPct val="120000"/>
              </a:lnSpc>
              <a:buAutoNum type="arabicPeriod"/>
            </a:pPr>
            <a:r>
              <a:rPr lang="zh-CN" altLang="en-US" sz="1600" dirty="0">
                <a:solidFill>
                  <a:srgbClr val="4F4F4F"/>
                </a:solidFill>
                <a:latin typeface="-apple-system"/>
              </a:rPr>
              <a:t>配置了主从复制之后，主机上已有的数据会不会更新到从机上</a:t>
            </a:r>
            <a:endParaRPr lang="en-US" altLang="zh-CN" sz="1600" dirty="0">
              <a:solidFill>
                <a:srgbClr val="4F4F4F"/>
              </a:solidFill>
              <a:latin typeface="-apple-system"/>
            </a:endParaRPr>
          </a:p>
          <a:p>
            <a:pPr marL="800100" lvl="1" indent="-342900" algn="l">
              <a:lnSpc>
                <a:spcPct val="120000"/>
              </a:lnSpc>
              <a:buAutoNum type="arabicPeriod"/>
            </a:pPr>
            <a:r>
              <a:rPr lang="zh-CN" altLang="en-US" sz="1600" dirty="0">
                <a:solidFill>
                  <a:srgbClr val="4F4F4F"/>
                </a:solidFill>
                <a:latin typeface="-apple-system"/>
              </a:rPr>
              <a:t>主机新增的数据有没有更新到从机上</a:t>
            </a:r>
            <a:endParaRPr lang="en-US" altLang="zh-CN" sz="16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作为主机的程序结束，从机的角色会不会变化</a:t>
            </a:r>
            <a:endParaRPr lang="en-US" altLang="zh-CN" sz="18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主机重新启动，从机能不能继续与主机保持连接</a:t>
            </a:r>
            <a:endParaRPr lang="en-US" altLang="zh-CN" sz="18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从机的程序重启后，角色有没有发生变化。需不需要重新连接主机？</a:t>
            </a:r>
            <a:endParaRPr lang="en-US" altLang="zh-CN" sz="1800" dirty="0">
              <a:solidFill>
                <a:srgbClr val="4F4F4F"/>
              </a:solidFill>
              <a:latin typeface="-apple-system"/>
            </a:endParaRPr>
          </a:p>
          <a:p>
            <a:pPr marL="342900" indent="-342900" algn="l">
              <a:lnSpc>
                <a:spcPct val="120000"/>
              </a:lnSpc>
              <a:buAutoNum type="arabicPeriod"/>
            </a:pPr>
            <a:endParaRPr lang="zh-CN" altLang="en-US" sz="1800" dirty="0">
              <a:solidFill>
                <a:srgbClr val="4F4F4F"/>
              </a:solidFill>
              <a:latin typeface="-apple-system"/>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9" name="Rectangle 3"/>
          <p:cNvSpPr txBox="1">
            <a:spLocks noChangeArrowheads="1"/>
          </p:cNvSpPr>
          <p:nvPr/>
        </p:nvSpPr>
        <p:spPr>
          <a:xfrm>
            <a:off x="509118" y="1736650"/>
            <a:ext cx="8501717" cy="4468842"/>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marL="342900" indent="-342900" algn="l">
              <a:lnSpc>
                <a:spcPct val="120000"/>
              </a:lnSpc>
              <a:buAutoNum type="arabicPeriod"/>
            </a:pPr>
            <a:r>
              <a:rPr lang="zh-CN" altLang="en-US" sz="1800" dirty="0">
                <a:solidFill>
                  <a:srgbClr val="4F4F4F"/>
                </a:solidFill>
                <a:latin typeface="-apple-system"/>
              </a:rPr>
              <a:t>从机对主机数据的同步，是全量的还是增量的？</a:t>
            </a:r>
            <a:endParaRPr lang="en-US" altLang="zh-CN" sz="1800" dirty="0">
              <a:solidFill>
                <a:srgbClr val="4F4F4F"/>
              </a:solidFill>
              <a:latin typeface="-apple-system"/>
            </a:endParaRPr>
          </a:p>
          <a:p>
            <a:pPr marL="800100" lvl="1" indent="-342900" algn="l">
              <a:lnSpc>
                <a:spcPct val="120000"/>
              </a:lnSpc>
              <a:buAutoNum type="arabicPeriod"/>
            </a:pPr>
            <a:r>
              <a:rPr lang="zh-CN" altLang="en-US" sz="1600" dirty="0">
                <a:solidFill>
                  <a:srgbClr val="4F4F4F"/>
                </a:solidFill>
                <a:latin typeface="-apple-system"/>
              </a:rPr>
              <a:t>配置了主从复制之后，主机上已有的数据会更新到从机上（全量）</a:t>
            </a:r>
            <a:endParaRPr lang="en-US" altLang="zh-CN" sz="1600" dirty="0">
              <a:solidFill>
                <a:srgbClr val="4F4F4F"/>
              </a:solidFill>
              <a:latin typeface="-apple-system"/>
            </a:endParaRPr>
          </a:p>
          <a:p>
            <a:pPr marL="800100" lvl="1" indent="-342900" algn="l">
              <a:lnSpc>
                <a:spcPct val="120000"/>
              </a:lnSpc>
              <a:buAutoNum type="arabicPeriod"/>
            </a:pPr>
            <a:r>
              <a:rPr lang="zh-CN" altLang="en-US" sz="1600" dirty="0">
                <a:solidFill>
                  <a:srgbClr val="4F4F4F"/>
                </a:solidFill>
                <a:latin typeface="-apple-system"/>
              </a:rPr>
              <a:t>主机新增的数据也会更新到从机上（增量）</a:t>
            </a:r>
            <a:endParaRPr lang="en-US" altLang="zh-CN" sz="16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作为主机的程序结束，从机的角色不会变化（角色还是</a:t>
            </a:r>
            <a:r>
              <a:rPr lang="en-US" altLang="zh-CN" sz="1800" dirty="0">
                <a:solidFill>
                  <a:srgbClr val="4F4F4F"/>
                </a:solidFill>
                <a:latin typeface="Consolas" panose="020B0609020204030204" charset="0"/>
                <a:cs typeface="Consolas" panose="020B0609020204030204" charset="0"/>
              </a:rPr>
              <a:t>slave</a:t>
            </a:r>
            <a:r>
              <a:rPr lang="en-US" altLang="zh-CN" sz="1800" dirty="0">
                <a:solidFill>
                  <a:srgbClr val="4F4F4F"/>
                </a:solidFill>
                <a:latin typeface="-apple-system"/>
              </a:rPr>
              <a:t>）</a:t>
            </a:r>
            <a:r>
              <a:rPr lang="zh-CN" altLang="en-US" sz="1800" dirty="0">
                <a:solidFill>
                  <a:srgbClr val="4F4F4F"/>
                </a:solidFill>
                <a:latin typeface="-apple-system"/>
              </a:rPr>
              <a:t>。</a:t>
            </a:r>
            <a:endParaRPr lang="en-US" altLang="zh-CN" sz="18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主机重新启动，从机可以继续与主机保持连接（从机原地待命）。</a:t>
            </a:r>
            <a:endParaRPr lang="en-US" altLang="zh-CN" sz="18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从机的程序重启后，角色变成了</a:t>
            </a:r>
            <a:r>
              <a:rPr lang="en-US" altLang="zh-CN" sz="1800" dirty="0">
                <a:solidFill>
                  <a:srgbClr val="4F4F4F"/>
                </a:solidFill>
                <a:latin typeface="Consolas" panose="020B0609020204030204" charset="0"/>
                <a:cs typeface="Consolas" panose="020B0609020204030204" charset="0"/>
              </a:rPr>
              <a:t>master</a:t>
            </a:r>
            <a:r>
              <a:rPr lang="zh-CN" altLang="en-US" sz="1800" dirty="0">
                <a:solidFill>
                  <a:srgbClr val="4F4F4F"/>
                </a:solidFill>
                <a:latin typeface="-apple-system"/>
              </a:rPr>
              <a:t>，从机每次与</a:t>
            </a:r>
            <a:r>
              <a:rPr lang="en-US" altLang="zh-CN" sz="1800" dirty="0">
                <a:solidFill>
                  <a:srgbClr val="4F4F4F"/>
                </a:solidFill>
                <a:latin typeface="Consolas" panose="020B0609020204030204" charset="0"/>
                <a:cs typeface="Consolas" panose="020B0609020204030204" charset="0"/>
              </a:rPr>
              <a:t>master</a:t>
            </a:r>
            <a:r>
              <a:rPr lang="zh-CN" altLang="en-US" sz="1800" dirty="0">
                <a:solidFill>
                  <a:srgbClr val="4F4F4F"/>
                </a:solidFill>
                <a:latin typeface="-apple-system"/>
              </a:rPr>
              <a:t>断开连接后，都需要重新连接，除非把</a:t>
            </a:r>
            <a:r>
              <a:rPr lang="en-US" altLang="zh-CN" sz="1800" dirty="0">
                <a:solidFill>
                  <a:srgbClr val="4F4F4F"/>
                </a:solidFill>
                <a:latin typeface="Consolas" panose="020B0609020204030204" charset="0"/>
                <a:cs typeface="Consolas" panose="020B0609020204030204" charset="0"/>
              </a:rPr>
              <a:t>slaveof </a:t>
            </a:r>
            <a:r>
              <a:rPr lang="zh-CN" altLang="en-US" sz="1800" dirty="0">
                <a:solidFill>
                  <a:srgbClr val="4F4F4F"/>
                </a:solidFill>
                <a:latin typeface="-apple-system"/>
              </a:rPr>
              <a:t>配置到配置文件里。</a:t>
            </a:r>
            <a:endParaRPr lang="en-US" altLang="zh-CN" sz="1800" dirty="0">
              <a:solidFill>
                <a:srgbClr val="4F4F4F"/>
              </a:solidFill>
              <a:latin typeface="-apple-system"/>
            </a:endParaRPr>
          </a:p>
          <a:p>
            <a:pPr marL="342900" indent="-342900" algn="l">
              <a:lnSpc>
                <a:spcPct val="120000"/>
              </a:lnSpc>
              <a:buAutoNum type="arabicPeriod"/>
            </a:pPr>
            <a:r>
              <a:rPr lang="zh-CN" altLang="en-US" sz="1800" dirty="0">
                <a:solidFill>
                  <a:srgbClr val="4F4F4F"/>
                </a:solidFill>
                <a:latin typeface="-apple-system"/>
              </a:rPr>
              <a:t>只要重新连接</a:t>
            </a:r>
            <a:r>
              <a:rPr lang="en-US" altLang="zh-CN" sz="1800" dirty="0">
                <a:solidFill>
                  <a:srgbClr val="4F4F4F"/>
                </a:solidFill>
                <a:latin typeface="Consolas" panose="020B0609020204030204" charset="0"/>
                <a:cs typeface="Consolas" panose="020B0609020204030204" charset="0"/>
              </a:rPr>
              <a:t>master</a:t>
            </a:r>
            <a:r>
              <a:rPr lang="zh-CN" altLang="en-US" sz="1800" dirty="0">
                <a:solidFill>
                  <a:srgbClr val="4F4F4F"/>
                </a:solidFill>
                <a:latin typeface="-apple-system"/>
              </a:rPr>
              <a:t>，一次完全同步（全量复制）将被自动执行。</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marL="342900" indent="-342900" algn="l">
              <a:lnSpc>
                <a:spcPct val="120000"/>
              </a:lnSpc>
              <a:buAutoNum type="arabicPeriod"/>
            </a:pPr>
            <a:endParaRPr lang="zh-CN" altLang="en-US" sz="1800" dirty="0">
              <a:solidFill>
                <a:srgbClr val="4F4F4F"/>
              </a:solidFill>
              <a:latin typeface="-apple-system"/>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常用模式</a:t>
            </a:r>
            <a:endParaRPr lang="en-US" altLang="zh-CN" kern="0" dirty="0"/>
          </a:p>
        </p:txBody>
      </p:sp>
      <p:sp>
        <p:nvSpPr>
          <p:cNvPr id="2" name="Rectangle 3"/>
          <p:cNvSpPr txBox="1">
            <a:spLocks noChangeArrowheads="1"/>
          </p:cNvSpPr>
          <p:nvPr/>
        </p:nvSpPr>
        <p:spPr>
          <a:xfrm>
            <a:off x="764847" y="1470548"/>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1800" dirty="0">
                <a:solidFill>
                  <a:srgbClr val="4F4F4F"/>
                </a:solidFill>
                <a:latin typeface="-apple-system"/>
              </a:rPr>
              <a:t>1</a:t>
            </a:r>
            <a:r>
              <a:rPr lang="zh-CN" altLang="en-US" sz="1800" dirty="0">
                <a:solidFill>
                  <a:srgbClr val="4F4F4F"/>
                </a:solidFill>
                <a:latin typeface="-apple-system"/>
              </a:rPr>
              <a:t>、一主多从（常见）</a:t>
            </a:r>
            <a:endParaRPr lang="en-US" altLang="zh-CN" sz="1800" dirty="0">
              <a:solidFill>
                <a:srgbClr val="4F4F4F"/>
              </a:solidFill>
              <a:latin typeface="-apple-system"/>
            </a:endParaRPr>
          </a:p>
          <a:p>
            <a:pPr algn="l">
              <a:lnSpc>
                <a:spcPct val="120000"/>
              </a:lnSpc>
            </a:pPr>
            <a:r>
              <a:rPr lang="en-US" altLang="zh-CN" sz="1800" dirty="0">
                <a:solidFill>
                  <a:srgbClr val="4F4F4F"/>
                </a:solidFill>
                <a:latin typeface="-apple-system"/>
              </a:rPr>
              <a:t>	</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r>
              <a:rPr lang="en-US" altLang="zh-CN" sz="1800" dirty="0">
                <a:solidFill>
                  <a:srgbClr val="4F4F4F"/>
                </a:solidFill>
                <a:latin typeface="-apple-system"/>
              </a:rPr>
              <a:t>	</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r>
              <a:rPr lang="zh-CN" altLang="en-US" sz="1800" dirty="0">
                <a:solidFill>
                  <a:srgbClr val="4F4F4F"/>
                </a:solidFill>
                <a:latin typeface="-apple-system"/>
              </a:rPr>
              <a:t>中央集权，所有的从服务器都要从主服务器哪里更新数据，对主服务器压力较大</a:t>
            </a:r>
            <a:endParaRPr lang="en-US" altLang="zh-CN" sz="1800" dirty="0">
              <a:solidFill>
                <a:srgbClr val="4F4F4F"/>
              </a:solidFill>
              <a:latin typeface="-apple-system"/>
            </a:endParaRPr>
          </a:p>
          <a:p>
            <a:pPr algn="l">
              <a:lnSpc>
                <a:spcPct val="120000"/>
              </a:lnSpc>
            </a:pPr>
            <a:endParaRPr lang="zh-CN" altLang="en-US" sz="1800" dirty="0">
              <a:solidFill>
                <a:srgbClr val="4F4F4F"/>
              </a:solidFill>
              <a:latin typeface="-apple-system"/>
            </a:endParaRPr>
          </a:p>
        </p:txBody>
      </p:sp>
      <p:sp>
        <p:nvSpPr>
          <p:cNvPr id="3" name="矩形 2"/>
          <p:cNvSpPr/>
          <p:nvPr/>
        </p:nvSpPr>
        <p:spPr bwMode="auto">
          <a:xfrm>
            <a:off x="1772816" y="3097763"/>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主</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4" name="矩形 3"/>
          <p:cNvSpPr/>
          <p:nvPr/>
        </p:nvSpPr>
        <p:spPr bwMode="auto">
          <a:xfrm>
            <a:off x="4446088" y="2174033"/>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从</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bwMode="auto">
          <a:xfrm>
            <a:off x="4446088" y="3167742"/>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从</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8" name="矩形 7"/>
          <p:cNvSpPr/>
          <p:nvPr/>
        </p:nvSpPr>
        <p:spPr bwMode="auto">
          <a:xfrm>
            <a:off x="4446088" y="4127801"/>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从</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3" name="直接箭头连接符 12"/>
          <p:cNvCxnSpPr>
            <a:stCxn id="3" idx="3"/>
            <a:endCxn id="4" idx="1"/>
          </p:cNvCxnSpPr>
          <p:nvPr/>
        </p:nvCxnSpPr>
        <p:spPr bwMode="auto">
          <a:xfrm flipV="1">
            <a:off x="3088432" y="2505270"/>
            <a:ext cx="1357656" cy="92373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5" name="直接箭头连接符 14"/>
          <p:cNvCxnSpPr>
            <a:stCxn id="3" idx="3"/>
            <a:endCxn id="5" idx="1"/>
          </p:cNvCxnSpPr>
          <p:nvPr/>
        </p:nvCxnSpPr>
        <p:spPr bwMode="auto">
          <a:xfrm>
            <a:off x="3088432" y="3429000"/>
            <a:ext cx="1357656" cy="69979"/>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8" name="直接箭头连接符 17"/>
          <p:cNvCxnSpPr>
            <a:stCxn id="3" idx="3"/>
            <a:endCxn id="8" idx="1"/>
          </p:cNvCxnSpPr>
          <p:nvPr/>
        </p:nvCxnSpPr>
        <p:spPr bwMode="auto">
          <a:xfrm>
            <a:off x="3088432" y="3429000"/>
            <a:ext cx="1357656" cy="1030038"/>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主从复制</a:t>
            </a:r>
            <a:r>
              <a:rPr lang="en-US" altLang="zh-CN" kern="0" dirty="0"/>
              <a:t>-</a:t>
            </a:r>
            <a:r>
              <a:rPr lang="zh-CN" altLang="en-US" kern="0" dirty="0"/>
              <a:t>常用模式</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r>
              <a:rPr lang="en-US" altLang="zh-CN" sz="1800" dirty="0">
                <a:solidFill>
                  <a:srgbClr val="4F4F4F"/>
                </a:solidFill>
                <a:latin typeface="-apple-system"/>
              </a:rPr>
              <a:t>2</a:t>
            </a:r>
            <a:r>
              <a:rPr lang="zh-CN" altLang="en-US" sz="1800" dirty="0">
                <a:solidFill>
                  <a:srgbClr val="4F4F4F"/>
                </a:solidFill>
                <a:latin typeface="-apple-system"/>
              </a:rPr>
              <a:t>、击鼓传花</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r>
              <a:rPr lang="zh-CN" altLang="en-US" sz="1800" dirty="0">
                <a:solidFill>
                  <a:srgbClr val="4F4F4F"/>
                </a:solidFill>
                <a:latin typeface="-apple-system"/>
              </a:rPr>
              <a:t>    只依赖前面的节点</a:t>
            </a:r>
            <a:endParaRPr lang="en-US" altLang="zh-CN" sz="1800" dirty="0">
              <a:solidFill>
                <a:srgbClr val="4F4F4F"/>
              </a:solidFill>
              <a:latin typeface="-apple-system"/>
            </a:endParaRPr>
          </a:p>
          <a:p>
            <a:pPr algn="l">
              <a:lnSpc>
                <a:spcPct val="120000"/>
              </a:lnSpc>
            </a:pPr>
            <a:endParaRPr lang="en-US" altLang="zh-CN" sz="1800" dirty="0">
              <a:solidFill>
                <a:srgbClr val="4F4F4F"/>
              </a:solidFill>
              <a:latin typeface="-apple-system"/>
            </a:endParaRPr>
          </a:p>
          <a:p>
            <a:pPr algn="l">
              <a:lnSpc>
                <a:spcPct val="120000"/>
              </a:lnSpc>
            </a:pPr>
            <a:r>
              <a:rPr lang="en-US" altLang="zh-CN" sz="1800" dirty="0">
                <a:solidFill>
                  <a:srgbClr val="4F4F4F"/>
                </a:solidFill>
                <a:latin typeface="-apple-system"/>
              </a:rPr>
              <a:t>3</a:t>
            </a:r>
            <a:r>
              <a:rPr lang="zh-CN" altLang="en-US" sz="1800" dirty="0">
                <a:solidFill>
                  <a:srgbClr val="4F4F4F"/>
                </a:solidFill>
                <a:latin typeface="-apple-system"/>
              </a:rPr>
              <a:t>、反客为主</a:t>
            </a:r>
            <a:endParaRPr lang="en-US" altLang="zh-CN" sz="1800" dirty="0">
              <a:solidFill>
                <a:srgbClr val="4F4F4F"/>
              </a:solidFill>
              <a:latin typeface="-apple-system"/>
            </a:endParaRPr>
          </a:p>
          <a:p>
            <a:pPr algn="l">
              <a:lnSpc>
                <a:spcPct val="120000"/>
              </a:lnSpc>
            </a:pPr>
            <a:r>
              <a:rPr lang="en-US" altLang="zh-CN" sz="1800" dirty="0">
                <a:solidFill>
                  <a:srgbClr val="4F4F4F"/>
                </a:solidFill>
                <a:latin typeface="-apple-system"/>
              </a:rPr>
              <a:t>    </a:t>
            </a:r>
            <a:r>
              <a:rPr lang="zh-CN" altLang="en-US" sz="1800" dirty="0">
                <a:solidFill>
                  <a:srgbClr val="4F4F4F"/>
                </a:solidFill>
                <a:latin typeface="-apple-system"/>
              </a:rPr>
              <a:t>命令：</a:t>
            </a:r>
            <a:r>
              <a:rPr lang="en-US" altLang="zh-CN" sz="1800" dirty="0" err="1">
                <a:solidFill>
                  <a:srgbClr val="4F4F4F"/>
                </a:solidFill>
                <a:latin typeface="-apple-system"/>
              </a:rPr>
              <a:t>Slaveof</a:t>
            </a:r>
            <a:r>
              <a:rPr lang="en-US" altLang="zh-CN" sz="1800" dirty="0">
                <a:solidFill>
                  <a:srgbClr val="4F4F4F"/>
                </a:solidFill>
                <a:latin typeface="-apple-system"/>
              </a:rPr>
              <a:t>  no one</a:t>
            </a:r>
            <a:r>
              <a:rPr lang="zh-CN" altLang="en-US" sz="1800" dirty="0">
                <a:solidFill>
                  <a:srgbClr val="4F4F4F"/>
                </a:solidFill>
                <a:latin typeface="-apple-system"/>
              </a:rPr>
              <a:t>，自己变主机</a:t>
            </a:r>
            <a:endParaRPr lang="zh-CN" altLang="en-US" sz="1800" dirty="0">
              <a:solidFill>
                <a:srgbClr val="4F4F4F"/>
              </a:solidFill>
              <a:latin typeface="-apple-system"/>
            </a:endParaRPr>
          </a:p>
        </p:txBody>
      </p:sp>
      <p:sp>
        <p:nvSpPr>
          <p:cNvPr id="22" name="矩形 21"/>
          <p:cNvSpPr/>
          <p:nvPr/>
        </p:nvSpPr>
        <p:spPr bwMode="auto">
          <a:xfrm>
            <a:off x="1389825" y="2324878"/>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主</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4" name="矩形 23"/>
          <p:cNvSpPr/>
          <p:nvPr/>
        </p:nvSpPr>
        <p:spPr bwMode="auto">
          <a:xfrm>
            <a:off x="3672098" y="2326306"/>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从</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26" name="矩形 25"/>
          <p:cNvSpPr/>
          <p:nvPr/>
        </p:nvSpPr>
        <p:spPr bwMode="auto">
          <a:xfrm>
            <a:off x="5954371" y="2324877"/>
            <a:ext cx="1315616" cy="662473"/>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从</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29" name="直接箭头连接符 28"/>
          <p:cNvCxnSpPr>
            <a:endCxn id="24" idx="1"/>
          </p:cNvCxnSpPr>
          <p:nvPr/>
        </p:nvCxnSpPr>
        <p:spPr bwMode="auto">
          <a:xfrm>
            <a:off x="2705441" y="2656113"/>
            <a:ext cx="966657" cy="143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1" name="直接箭头连接符 30"/>
          <p:cNvCxnSpPr>
            <a:stCxn id="24" idx="3"/>
          </p:cNvCxnSpPr>
          <p:nvPr/>
        </p:nvCxnSpPr>
        <p:spPr bwMode="auto">
          <a:xfrm>
            <a:off x="4987714" y="2657543"/>
            <a:ext cx="1006915" cy="2314"/>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哨兵模式</a:t>
            </a:r>
            <a:endParaRPr lang="zh-CN" altLang="en-US" sz="4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哨兵</a:t>
            </a:r>
            <a:r>
              <a:rPr lang="en-US" altLang="zh-CN" kern="0" dirty="0"/>
              <a:t>-</a:t>
            </a:r>
            <a:r>
              <a:rPr lang="zh-CN" altLang="en-US" kern="0" dirty="0"/>
              <a:t>介绍</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202565" y="1327150"/>
            <a:ext cx="9483090" cy="4900295"/>
          </a:xfrm>
          <a:prstGeom prst="rect">
            <a:avLst/>
          </a:prstGeom>
          <a:noFill/>
        </p:spPr>
        <p:txBody>
          <a:bodyPr wrap="square" rtlCol="0">
            <a:spAutoFit/>
          </a:bodyPr>
          <a:lstStyle/>
          <a:p>
            <a:pPr>
              <a:lnSpc>
                <a:spcPts val="2500"/>
              </a:lnSpc>
            </a:pPr>
            <a:r>
              <a:rPr lang="en-US" altLang="zh-CN" sz="1800" b="0" i="0" dirty="0">
                <a:solidFill>
                  <a:srgbClr val="000000"/>
                </a:solidFill>
                <a:effectLst/>
                <a:latin typeface="Helvetica Neue"/>
              </a:rPr>
              <a:t>Redis</a:t>
            </a:r>
            <a:r>
              <a:rPr lang="zh-CN" altLang="en-US" sz="1800" b="0" i="0" dirty="0">
                <a:solidFill>
                  <a:srgbClr val="000000"/>
                </a:solidFill>
                <a:effectLst/>
                <a:latin typeface="Helvetica Neue"/>
              </a:rPr>
              <a:t>主从复制的作用有</a:t>
            </a:r>
            <a:r>
              <a:rPr lang="zh-CN" altLang="en-US" sz="1800" b="1" i="0" dirty="0">
                <a:solidFill>
                  <a:srgbClr val="FF0000"/>
                </a:solidFill>
                <a:effectLst/>
                <a:latin typeface="Helvetica Neue"/>
              </a:rPr>
              <a:t>数据热备、负载均衡、故障恢复</a:t>
            </a:r>
            <a:r>
              <a:rPr lang="zh-CN" altLang="en-US" sz="1800" b="0" i="0" dirty="0">
                <a:solidFill>
                  <a:srgbClr val="000000"/>
                </a:solidFill>
                <a:effectLst/>
                <a:latin typeface="Helvetica Neue"/>
              </a:rPr>
              <a:t>等；但主从复制存在的一个问题是</a:t>
            </a:r>
            <a:r>
              <a:rPr lang="zh-CN" altLang="en-US" sz="1800" b="1" i="0" dirty="0">
                <a:solidFill>
                  <a:srgbClr val="FF0000"/>
                </a:solidFill>
                <a:effectLst/>
                <a:latin typeface="Helvetica Neue"/>
              </a:rPr>
              <a:t>故障恢复无法自动化</a:t>
            </a:r>
            <a:r>
              <a:rPr lang="zh-CN" altLang="en-US" sz="1800" b="0" i="0" dirty="0">
                <a:solidFill>
                  <a:srgbClr val="000000"/>
                </a:solidFill>
                <a:effectLst/>
                <a:latin typeface="Helvetica Neue"/>
              </a:rPr>
              <a:t>。接下来要介绍的哨兵模式，它基于</a:t>
            </a:r>
            <a:r>
              <a:rPr lang="en-US" altLang="zh-CN" sz="1800" b="0" i="0" dirty="0">
                <a:solidFill>
                  <a:srgbClr val="000000"/>
                </a:solidFill>
                <a:effectLst/>
                <a:latin typeface="Helvetica Neue"/>
              </a:rPr>
              <a:t>Redis</a:t>
            </a:r>
            <a:r>
              <a:rPr lang="zh-CN" altLang="en-US" sz="1800" b="0" i="0" dirty="0">
                <a:solidFill>
                  <a:srgbClr val="000000"/>
                </a:solidFill>
                <a:effectLst/>
                <a:latin typeface="Helvetica Neue"/>
              </a:rPr>
              <a:t>主从复制，主要作用便是解决主节点故障恢复的自动化问题，进一步提高系统的高可用性。</a:t>
            </a:r>
            <a:endParaRPr lang="en-US" altLang="zh-CN" sz="1800" b="0" i="0" dirty="0">
              <a:solidFill>
                <a:srgbClr val="000000"/>
              </a:solidFill>
              <a:effectLst/>
              <a:latin typeface="Helvetica Neue"/>
            </a:endParaRPr>
          </a:p>
          <a:p>
            <a:pPr>
              <a:lnSpc>
                <a:spcPts val="2500"/>
              </a:lnSpc>
            </a:pPr>
            <a:endParaRPr lang="en-US" altLang="zh-CN" sz="1800" dirty="0">
              <a:solidFill>
                <a:srgbClr val="000000"/>
              </a:solidFill>
              <a:latin typeface="Helvetica Neue"/>
            </a:endParaRPr>
          </a:p>
          <a:p>
            <a:pPr algn="l">
              <a:lnSpc>
                <a:spcPts val="2500"/>
              </a:lnSpc>
            </a:pPr>
            <a:r>
              <a:rPr lang="en-US" altLang="zh-CN" sz="1800" b="1" i="0" dirty="0">
                <a:solidFill>
                  <a:srgbClr val="333333"/>
                </a:solidFill>
                <a:effectLst/>
                <a:latin typeface="Consolas" panose="020B0609020204030204" charset="0"/>
                <a:cs typeface="Consolas" panose="020B0609020204030204" charset="0"/>
              </a:rPr>
              <a:t>Redis的Sentinel</a:t>
            </a:r>
            <a:r>
              <a:rPr lang="zh-CN" altLang="en-US" sz="1800" b="0" i="0" dirty="0">
                <a:solidFill>
                  <a:srgbClr val="333333"/>
                </a:solidFill>
                <a:effectLst/>
                <a:latin typeface="Open Sans"/>
              </a:rPr>
              <a:t>系统用于管理多个</a:t>
            </a:r>
            <a:r>
              <a:rPr lang="en-US" altLang="zh-CN" sz="1800" b="1" i="0" dirty="0">
                <a:solidFill>
                  <a:srgbClr val="333333"/>
                </a:solidFill>
                <a:effectLst/>
                <a:latin typeface="Consolas" panose="020B0609020204030204" charset="0"/>
                <a:cs typeface="Consolas" panose="020B0609020204030204" charset="0"/>
              </a:rPr>
              <a:t>Redis</a:t>
            </a:r>
            <a:r>
              <a:rPr lang="zh-CN" altLang="en-US" sz="1800" b="0" i="0" dirty="0">
                <a:solidFill>
                  <a:srgbClr val="333333"/>
                </a:solidFill>
                <a:effectLst/>
                <a:latin typeface="Open Sans"/>
              </a:rPr>
              <a:t>服务器（</a:t>
            </a:r>
            <a:r>
              <a:rPr lang="en-US" altLang="zh-CN" sz="1800" b="1" i="0" dirty="0">
                <a:solidFill>
                  <a:srgbClr val="333333"/>
                </a:solidFill>
                <a:effectLst/>
                <a:latin typeface="Consolas" panose="020B0609020204030204" charset="0"/>
                <a:cs typeface="Consolas" panose="020B0609020204030204" charset="0"/>
              </a:rPr>
              <a:t>instance</a:t>
            </a:r>
            <a:r>
              <a:rPr lang="zh-CN" altLang="en-US" sz="1800" b="0" i="0" dirty="0">
                <a:solidFill>
                  <a:srgbClr val="333333"/>
                </a:solidFill>
                <a:effectLst/>
                <a:latin typeface="Open Sans"/>
              </a:rPr>
              <a:t>），该系统执行以下三个任务：</a:t>
            </a:r>
            <a:endParaRPr lang="zh-CN" altLang="en-US" sz="1800" b="0" i="0" dirty="0">
              <a:solidFill>
                <a:srgbClr val="333333"/>
              </a:solidFill>
              <a:effectLst/>
              <a:latin typeface="Open Sans"/>
            </a:endParaRPr>
          </a:p>
          <a:p>
            <a:pPr algn="l">
              <a:lnSpc>
                <a:spcPts val="2500"/>
              </a:lnSpc>
            </a:pPr>
            <a:endParaRPr lang="zh-CN" altLang="en-US" sz="1800" b="0" i="0" dirty="0">
              <a:solidFill>
                <a:srgbClr val="333333"/>
              </a:solidFill>
              <a:effectLst/>
              <a:latin typeface="Open Sans"/>
            </a:endParaRPr>
          </a:p>
          <a:p>
            <a:pPr algn="l">
              <a:lnSpc>
                <a:spcPts val="2500"/>
              </a:lnSpc>
              <a:buFont typeface="Arial" panose="020B0604020202020204" pitchFamily="34" charset="0"/>
              <a:buChar char="•"/>
            </a:pPr>
            <a:r>
              <a:rPr lang="en-US" altLang="zh-CN" sz="1800" b="1" i="0" dirty="0">
                <a:solidFill>
                  <a:srgbClr val="333333"/>
                </a:solidFill>
                <a:effectLst/>
                <a:latin typeface="Open Sans"/>
              </a:rPr>
              <a:t> </a:t>
            </a:r>
            <a:r>
              <a:rPr lang="zh-CN" altLang="en-US" sz="1800" b="1" i="0" dirty="0">
                <a:solidFill>
                  <a:srgbClr val="333333"/>
                </a:solidFill>
                <a:effectLst/>
                <a:latin typeface="Open Sans"/>
              </a:rPr>
              <a:t>监控（</a:t>
            </a:r>
            <a:r>
              <a:rPr lang="en-US" altLang="zh-CN" sz="1800" b="1" i="0" dirty="0">
                <a:solidFill>
                  <a:srgbClr val="333333"/>
                </a:solidFill>
                <a:effectLst/>
                <a:latin typeface="Consolas" panose="020B0609020204030204" charset="0"/>
                <a:cs typeface="Consolas" panose="020B0609020204030204" charset="0"/>
              </a:rPr>
              <a:t>Monitoring</a:t>
            </a:r>
            <a:r>
              <a:rPr lang="zh-CN" altLang="en-US" sz="1800" b="1" i="0" dirty="0">
                <a:solidFill>
                  <a:srgbClr val="333333"/>
                </a:solidFill>
                <a:effectLst/>
                <a:latin typeface="Open Sans"/>
              </a:rPr>
              <a:t>）：</a:t>
            </a:r>
            <a:r>
              <a:rPr lang="en-US" altLang="zh-CN" sz="1800" b="1" i="0" dirty="0">
                <a:solidFill>
                  <a:srgbClr val="333333"/>
                </a:solidFill>
                <a:effectLst/>
                <a:latin typeface="Consolas" panose="020B0609020204030204" charset="0"/>
                <a:cs typeface="Consolas" panose="020B0609020204030204" charset="0"/>
              </a:rPr>
              <a:t>Sentinel</a:t>
            </a:r>
            <a:r>
              <a:rPr lang="zh-CN" altLang="en-US" sz="1800" b="0" i="0" dirty="0">
                <a:solidFill>
                  <a:srgbClr val="333333"/>
                </a:solidFill>
                <a:effectLst/>
                <a:latin typeface="Open Sans"/>
              </a:rPr>
              <a:t>会不断地检查你的主服务器和从服务器是否运作正常。</a:t>
            </a:r>
            <a:endParaRPr lang="zh-CN" altLang="en-US" sz="1800" b="0" i="0" dirty="0">
              <a:solidFill>
                <a:srgbClr val="333333"/>
              </a:solidFill>
              <a:effectLst/>
              <a:latin typeface="Open Sans"/>
            </a:endParaRPr>
          </a:p>
          <a:p>
            <a:pPr algn="l">
              <a:lnSpc>
                <a:spcPts val="2500"/>
              </a:lnSpc>
              <a:buFont typeface="Arial" panose="020B0604020202020204" pitchFamily="34" charset="0"/>
              <a:buChar char="•"/>
            </a:pPr>
            <a:r>
              <a:rPr lang="en-US" altLang="zh-CN" sz="1800" b="1" i="0" dirty="0">
                <a:solidFill>
                  <a:srgbClr val="333333"/>
                </a:solidFill>
                <a:effectLst/>
                <a:latin typeface="Open Sans"/>
              </a:rPr>
              <a:t> </a:t>
            </a:r>
            <a:r>
              <a:rPr lang="zh-CN" altLang="en-US" sz="1800" b="1" i="0" dirty="0">
                <a:solidFill>
                  <a:srgbClr val="333333"/>
                </a:solidFill>
                <a:effectLst/>
                <a:latin typeface="Open Sans"/>
              </a:rPr>
              <a:t>提醒（</a:t>
            </a:r>
            <a:r>
              <a:rPr lang="en-US" altLang="zh-CN" sz="1800" b="1" i="0" dirty="0">
                <a:solidFill>
                  <a:srgbClr val="333333"/>
                </a:solidFill>
                <a:effectLst/>
                <a:latin typeface="Consolas" panose="020B0609020204030204" charset="0"/>
                <a:cs typeface="Consolas" panose="020B0609020204030204" charset="0"/>
              </a:rPr>
              <a:t>Notification</a:t>
            </a:r>
            <a:r>
              <a:rPr lang="zh-CN" altLang="en-US" sz="1800" b="1" i="0" dirty="0">
                <a:solidFill>
                  <a:srgbClr val="333333"/>
                </a:solidFill>
                <a:effectLst/>
                <a:latin typeface="Open Sans"/>
              </a:rPr>
              <a:t>）</a:t>
            </a:r>
            <a:r>
              <a:rPr lang="zh-CN" altLang="en-US" sz="1800" b="0" i="0" dirty="0">
                <a:solidFill>
                  <a:srgbClr val="333333"/>
                </a:solidFill>
                <a:effectLst/>
                <a:latin typeface="Open Sans"/>
              </a:rPr>
              <a:t>：当被监控的某个</a:t>
            </a:r>
            <a:r>
              <a:rPr lang="en-US" altLang="zh-CN" sz="1800" b="0" i="0" dirty="0">
                <a:solidFill>
                  <a:srgbClr val="333333"/>
                </a:solidFill>
                <a:effectLst/>
                <a:latin typeface="Open Sans"/>
              </a:rPr>
              <a:t>Redis</a:t>
            </a:r>
            <a:r>
              <a:rPr lang="zh-CN" altLang="en-US" sz="1800" b="0" i="0" dirty="0">
                <a:solidFill>
                  <a:srgbClr val="333333"/>
                </a:solidFill>
                <a:effectLst/>
                <a:latin typeface="Open Sans"/>
              </a:rPr>
              <a:t>服务器出现问题时，</a:t>
            </a:r>
            <a:r>
              <a:rPr lang="en-US" altLang="zh-CN" sz="1800" b="1" i="0" dirty="0">
                <a:solidFill>
                  <a:srgbClr val="333333"/>
                </a:solidFill>
                <a:effectLst/>
                <a:latin typeface="Consolas" panose="020B0609020204030204" charset="0"/>
                <a:cs typeface="Consolas" panose="020B0609020204030204" charset="0"/>
              </a:rPr>
              <a:t>Sentinel</a:t>
            </a:r>
            <a:r>
              <a:rPr lang="zh-CN" altLang="en-US" sz="1800" b="0" i="0" dirty="0">
                <a:solidFill>
                  <a:srgbClr val="333333"/>
                </a:solidFill>
                <a:effectLst/>
                <a:latin typeface="Open Sans"/>
              </a:rPr>
              <a:t>可以通过</a:t>
            </a:r>
            <a:r>
              <a:rPr lang="en-US" altLang="zh-CN" sz="1800" b="1" i="0" dirty="0">
                <a:solidFill>
                  <a:srgbClr val="333333"/>
                </a:solidFill>
                <a:effectLst/>
                <a:latin typeface="Consolas" panose="020B0609020204030204" charset="0"/>
                <a:cs typeface="Consolas" panose="020B0609020204030204" charset="0"/>
              </a:rPr>
              <a:t>API </a:t>
            </a:r>
            <a:r>
              <a:rPr lang="zh-CN" altLang="en-US" sz="1800" b="0" i="0" dirty="0">
                <a:solidFill>
                  <a:srgbClr val="333333"/>
                </a:solidFill>
                <a:effectLst/>
                <a:latin typeface="Open Sans"/>
              </a:rPr>
              <a:t>向管理员或者其他应用程序发送通知。</a:t>
            </a:r>
            <a:endParaRPr lang="zh-CN" altLang="en-US" sz="1800" b="0" i="0" dirty="0">
              <a:solidFill>
                <a:srgbClr val="333333"/>
              </a:solidFill>
              <a:effectLst/>
              <a:latin typeface="Open Sans"/>
            </a:endParaRPr>
          </a:p>
          <a:p>
            <a:pPr algn="l">
              <a:lnSpc>
                <a:spcPts val="2500"/>
              </a:lnSpc>
              <a:buFont typeface="Arial" panose="020B0604020202020204" pitchFamily="34" charset="0"/>
              <a:buChar char="•"/>
            </a:pPr>
            <a:r>
              <a:rPr lang="en-US" altLang="zh-CN" sz="1800" b="1" i="0" dirty="0">
                <a:solidFill>
                  <a:srgbClr val="333333"/>
                </a:solidFill>
                <a:effectLst/>
                <a:latin typeface="Open Sans"/>
              </a:rPr>
              <a:t> </a:t>
            </a:r>
            <a:r>
              <a:rPr lang="zh-CN" altLang="en-US" sz="1800" b="1" i="0" dirty="0">
                <a:solidFill>
                  <a:srgbClr val="333333"/>
                </a:solidFill>
                <a:effectLst/>
                <a:latin typeface="Open Sans"/>
              </a:rPr>
              <a:t>自动故障迁移（</a:t>
            </a:r>
            <a:r>
              <a:rPr lang="en-US" altLang="zh-CN" sz="1800" b="1" i="0" dirty="0">
                <a:solidFill>
                  <a:srgbClr val="333333"/>
                </a:solidFill>
                <a:effectLst/>
                <a:latin typeface="Consolas" panose="020B0609020204030204" charset="0"/>
                <a:cs typeface="Consolas" panose="020B0609020204030204" charset="0"/>
              </a:rPr>
              <a:t>Automatic failover</a:t>
            </a:r>
            <a:r>
              <a:rPr lang="zh-CN" altLang="en-US" sz="1800" b="1" i="0" dirty="0">
                <a:solidFill>
                  <a:srgbClr val="333333"/>
                </a:solidFill>
                <a:effectLst/>
                <a:latin typeface="Open Sans"/>
              </a:rPr>
              <a:t>）：</a:t>
            </a:r>
            <a:r>
              <a:rPr lang="zh-CN" altLang="en-US" sz="1800" b="0" i="0" dirty="0">
                <a:solidFill>
                  <a:srgbClr val="333333"/>
                </a:solidFill>
                <a:effectLst/>
                <a:latin typeface="Open Sans"/>
              </a:rPr>
              <a:t>当一个主服务器不能正常工作时，</a:t>
            </a:r>
            <a:r>
              <a:rPr lang="en-US" altLang="zh-CN" sz="1800" b="1" i="0" dirty="0">
                <a:solidFill>
                  <a:srgbClr val="333333"/>
                </a:solidFill>
                <a:effectLst/>
                <a:latin typeface="Consolas" panose="020B0609020204030204" charset="0"/>
                <a:cs typeface="Consolas" panose="020B0609020204030204" charset="0"/>
              </a:rPr>
              <a:t>Sentinel </a:t>
            </a:r>
            <a:r>
              <a:rPr lang="zh-CN" altLang="en-US" sz="1800" b="0" i="0" dirty="0">
                <a:solidFill>
                  <a:srgbClr val="333333"/>
                </a:solidFill>
                <a:effectLst/>
                <a:latin typeface="Open Sans"/>
              </a:rPr>
              <a:t>会开始一次自动故障迁移操作， 它会将失效主服务器的其中一个从服务器升级为新的主服务器， 并让失效主服务器的其他从服务器改为复制新的主服务器；当客户端试图连接失效的主服务器时，集群也会向客户端返回新主服务器的地址， 使得集群可以使用新主服务器代替失效服务器。</a:t>
            </a:r>
            <a:endParaRPr lang="zh-CN" altLang="en-US" sz="1800" b="0" i="0" dirty="0">
              <a:solidFill>
                <a:srgbClr val="333333"/>
              </a:solidFill>
              <a:effectLst/>
              <a:latin typeface="Open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哨兵</a:t>
            </a:r>
            <a:r>
              <a:rPr lang="en-US" altLang="zh-CN" kern="0" dirty="0"/>
              <a:t>-</a:t>
            </a:r>
            <a:r>
              <a:rPr lang="zh-CN" altLang="en-US" kern="0" dirty="0"/>
              <a:t>介绍</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282575" y="1334770"/>
            <a:ext cx="9412605" cy="4900295"/>
          </a:xfrm>
          <a:prstGeom prst="rect">
            <a:avLst/>
          </a:prstGeom>
          <a:noFill/>
        </p:spPr>
        <p:txBody>
          <a:bodyPr wrap="square" rtlCol="0">
            <a:spAutoFit/>
          </a:bodyPr>
          <a:lstStyle/>
          <a:p>
            <a:pPr algn="l">
              <a:lnSpc>
                <a:spcPts val="2500"/>
              </a:lnSpc>
            </a:pPr>
            <a:r>
              <a:rPr lang="en-US" altLang="zh-CN" b="0" i="0" dirty="0">
                <a:solidFill>
                  <a:srgbClr val="333333"/>
                </a:solidFill>
                <a:effectLst/>
                <a:latin typeface="Consolas" panose="020B0609020204030204" charset="0"/>
                <a:cs typeface="Consolas" panose="020B0609020204030204" charset="0"/>
              </a:rPr>
              <a:t>Redis Sentinel</a:t>
            </a:r>
            <a:r>
              <a:rPr lang="zh-CN" altLang="en-US" b="0" i="0" dirty="0">
                <a:solidFill>
                  <a:srgbClr val="333333"/>
                </a:solidFill>
                <a:effectLst/>
                <a:latin typeface="Open Sans"/>
              </a:rPr>
              <a:t>是一个分布式系统， 你可以在一个架构中运行多个 </a:t>
            </a:r>
            <a:r>
              <a:rPr lang="en-US" altLang="zh-CN" b="0" i="0" dirty="0">
                <a:solidFill>
                  <a:srgbClr val="333333"/>
                </a:solidFill>
                <a:effectLst/>
                <a:latin typeface="Consolas" panose="020B0609020204030204" charset="0"/>
                <a:cs typeface="Consolas" panose="020B0609020204030204" charset="0"/>
              </a:rPr>
              <a:t>Sentinel </a:t>
            </a:r>
            <a:r>
              <a:rPr lang="zh-CN" altLang="en-US" b="0" i="0" dirty="0">
                <a:solidFill>
                  <a:srgbClr val="333333"/>
                </a:solidFill>
                <a:effectLst/>
                <a:latin typeface="Open Sans"/>
              </a:rPr>
              <a:t>进程（</a:t>
            </a:r>
            <a:r>
              <a:rPr lang="en-US" altLang="zh-CN" b="0" i="0" dirty="0">
                <a:solidFill>
                  <a:srgbClr val="333333"/>
                </a:solidFill>
                <a:effectLst/>
                <a:latin typeface="Consolas" panose="020B0609020204030204" charset="0"/>
                <a:cs typeface="Consolas" panose="020B0609020204030204" charset="0"/>
              </a:rPr>
              <a:t>progress</a:t>
            </a:r>
            <a:r>
              <a:rPr lang="zh-CN" altLang="en-US" b="0" i="0" dirty="0">
                <a:solidFill>
                  <a:srgbClr val="333333"/>
                </a:solidFill>
                <a:effectLst/>
                <a:latin typeface="Open Sans"/>
              </a:rPr>
              <a:t>），这些进程使用流言协议（</a:t>
            </a:r>
            <a:r>
              <a:rPr lang="en-US" altLang="zh-CN" b="0" i="0" dirty="0">
                <a:solidFill>
                  <a:srgbClr val="333333"/>
                </a:solidFill>
                <a:effectLst/>
                <a:latin typeface="Consolas" panose="020B0609020204030204" charset="0"/>
                <a:cs typeface="Consolas" panose="020B0609020204030204" charset="0"/>
              </a:rPr>
              <a:t>gossip protocols</a:t>
            </a:r>
            <a:r>
              <a:rPr lang="en-US" altLang="zh-CN" b="0" i="0" dirty="0">
                <a:solidFill>
                  <a:srgbClr val="333333"/>
                </a:solidFill>
                <a:effectLst/>
                <a:latin typeface="Open Sans"/>
              </a:rPr>
              <a:t>)</a:t>
            </a:r>
            <a:r>
              <a:rPr lang="zh-CN" altLang="en-US" b="0" i="0" dirty="0">
                <a:solidFill>
                  <a:srgbClr val="333333"/>
                </a:solidFill>
                <a:effectLst/>
                <a:latin typeface="Open Sans"/>
              </a:rPr>
              <a:t>来接收关于主服务器是否下线的信息， 并使用</a:t>
            </a:r>
            <a:r>
              <a:rPr lang="zh-CN" altLang="en-US" b="1" i="0" dirty="0">
                <a:solidFill>
                  <a:srgbClr val="FF0000"/>
                </a:solidFill>
                <a:effectLst/>
                <a:latin typeface="Open Sans"/>
              </a:rPr>
              <a:t>投票协议</a:t>
            </a:r>
            <a:r>
              <a:rPr lang="zh-CN" altLang="en-US" b="0" i="0" dirty="0">
                <a:solidFill>
                  <a:srgbClr val="333333"/>
                </a:solidFill>
                <a:effectLst/>
                <a:latin typeface="Open Sans"/>
              </a:rPr>
              <a:t>（</a:t>
            </a:r>
            <a:r>
              <a:rPr lang="en-US" altLang="zh-CN" b="0" i="0" dirty="0">
                <a:solidFill>
                  <a:srgbClr val="333333"/>
                </a:solidFill>
                <a:effectLst/>
                <a:latin typeface="Consolas" panose="020B0609020204030204" charset="0"/>
                <a:cs typeface="Consolas" panose="020B0609020204030204" charset="0"/>
              </a:rPr>
              <a:t>agreement protocols</a:t>
            </a:r>
            <a:r>
              <a:rPr lang="zh-CN" altLang="en-US" b="0" i="0" dirty="0">
                <a:solidFill>
                  <a:srgbClr val="333333"/>
                </a:solidFill>
                <a:effectLst/>
                <a:latin typeface="Open Sans"/>
              </a:rPr>
              <a:t>）来决定是否执行自动故障迁移， 以及选择哪个从服务器作为新的主服务器。</a:t>
            </a:r>
            <a:endParaRPr lang="zh-CN" altLang="en-US" b="0" i="0" dirty="0">
              <a:solidFill>
                <a:srgbClr val="333333"/>
              </a:solidFill>
              <a:effectLst/>
              <a:latin typeface="Open Sans"/>
            </a:endParaRPr>
          </a:p>
          <a:p>
            <a:pPr algn="l">
              <a:lnSpc>
                <a:spcPts val="2500"/>
              </a:lnSpc>
            </a:pPr>
            <a:r>
              <a:rPr lang="zh-CN" altLang="en-US" b="0" i="0" dirty="0">
                <a:solidFill>
                  <a:srgbClr val="333333"/>
                </a:solidFill>
                <a:effectLst/>
                <a:latin typeface="Open Sans"/>
              </a:rPr>
              <a:t>虽然 </a:t>
            </a:r>
            <a:r>
              <a:rPr lang="en-US" altLang="zh-CN" b="0" i="0" dirty="0">
                <a:solidFill>
                  <a:srgbClr val="333333"/>
                </a:solidFill>
                <a:effectLst/>
                <a:latin typeface="Consolas" panose="020B0609020204030204" charset="0"/>
                <a:cs typeface="Consolas" panose="020B0609020204030204" charset="0"/>
              </a:rPr>
              <a:t>Redis Sentinel</a:t>
            </a:r>
            <a:r>
              <a:rPr lang="en-US" altLang="zh-CN" b="0" i="0" dirty="0">
                <a:solidFill>
                  <a:srgbClr val="333333"/>
                </a:solidFill>
                <a:effectLst/>
                <a:latin typeface="Open Sans"/>
              </a:rPr>
              <a:t> </a:t>
            </a:r>
            <a:r>
              <a:rPr lang="zh-CN" altLang="en-US" b="0" i="0" dirty="0">
                <a:solidFill>
                  <a:srgbClr val="333333"/>
                </a:solidFill>
                <a:effectLst/>
                <a:latin typeface="Open Sans"/>
              </a:rPr>
              <a:t>释出为一个单独的可执行文件 </a:t>
            </a:r>
            <a:r>
              <a:rPr lang="en-US" altLang="zh-CN" b="0" i="0" dirty="0" err="1">
                <a:solidFill>
                  <a:srgbClr val="333333"/>
                </a:solidFill>
                <a:effectLst/>
                <a:latin typeface="Consolas" panose="020B0609020204030204" charset="0"/>
                <a:cs typeface="Consolas" panose="020B0609020204030204" charset="0"/>
              </a:rPr>
              <a:t>redis</a:t>
            </a:r>
            <a:r>
              <a:rPr lang="en-US" altLang="zh-CN" b="0" i="0" dirty="0">
                <a:solidFill>
                  <a:srgbClr val="333333"/>
                </a:solidFill>
                <a:effectLst/>
                <a:latin typeface="Consolas" panose="020B0609020204030204" charset="0"/>
                <a:cs typeface="Consolas" panose="020B0609020204030204" charset="0"/>
              </a:rPr>
              <a:t>-sentinel</a:t>
            </a:r>
            <a:r>
              <a:rPr lang="en-US" altLang="zh-CN" b="0" i="0" dirty="0">
                <a:solidFill>
                  <a:srgbClr val="333333"/>
                </a:solidFill>
                <a:effectLst/>
                <a:latin typeface="Open Sans"/>
              </a:rPr>
              <a:t> </a:t>
            </a:r>
            <a:r>
              <a:rPr lang="zh-CN" altLang="en-US" b="0" i="0" dirty="0">
                <a:solidFill>
                  <a:srgbClr val="333333"/>
                </a:solidFill>
                <a:effectLst/>
                <a:latin typeface="Open Sans"/>
              </a:rPr>
              <a:t>， 但实际上它只是一个运行在特殊模式下的 </a:t>
            </a:r>
            <a:r>
              <a:rPr lang="en-US" altLang="zh-CN" sz="1800" b="0" i="0" dirty="0">
                <a:solidFill>
                  <a:srgbClr val="333333"/>
                </a:solidFill>
                <a:effectLst/>
                <a:latin typeface="Consolas" panose="020B0609020204030204" charset="0"/>
                <a:cs typeface="Consolas" panose="020B0609020204030204" charset="0"/>
              </a:rPr>
              <a:t>Redis </a:t>
            </a:r>
            <a:r>
              <a:rPr lang="zh-CN" altLang="en-US" b="0" i="0" dirty="0">
                <a:solidFill>
                  <a:srgbClr val="333333"/>
                </a:solidFill>
                <a:effectLst/>
                <a:latin typeface="Open Sans"/>
              </a:rPr>
              <a:t>服务器， 你可以在启动一个普通 </a:t>
            </a:r>
            <a:r>
              <a:rPr lang="en-US" altLang="zh-CN" b="0" i="0" dirty="0">
                <a:solidFill>
                  <a:srgbClr val="333333"/>
                </a:solidFill>
                <a:effectLst/>
                <a:latin typeface="Consolas" panose="020B0609020204030204" charset="0"/>
                <a:cs typeface="Consolas" panose="020B0609020204030204" charset="0"/>
              </a:rPr>
              <a:t>Redis </a:t>
            </a:r>
            <a:r>
              <a:rPr lang="zh-CN" altLang="en-US" b="0" i="0" dirty="0">
                <a:solidFill>
                  <a:srgbClr val="333333"/>
                </a:solidFill>
                <a:effectLst/>
                <a:latin typeface="Open Sans"/>
              </a:rPr>
              <a:t>服务器时通过给定 </a:t>
            </a:r>
            <a:r>
              <a:rPr lang="en-US" altLang="zh-CN" b="0" i="0" dirty="0">
                <a:solidFill>
                  <a:srgbClr val="333333"/>
                </a:solidFill>
                <a:effectLst/>
                <a:latin typeface="Open Sans"/>
              </a:rPr>
              <a:t>–</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333333"/>
                </a:solidFill>
                <a:effectLst/>
                <a:latin typeface="Open Sans"/>
              </a:rPr>
              <a:t>选项来启动</a:t>
            </a:r>
            <a:r>
              <a:rPr lang="zh-CN" altLang="en-US" b="0" i="0" dirty="0">
                <a:solidFill>
                  <a:srgbClr val="333333"/>
                </a:solidFill>
                <a:effectLst/>
                <a:latin typeface="Consolas" panose="020B0609020204030204" charset="0"/>
                <a:cs typeface="Consolas" panose="020B0609020204030204" charset="0"/>
              </a:rPr>
              <a:t> </a:t>
            </a:r>
            <a:r>
              <a:rPr lang="en-US" altLang="zh-CN" b="0" i="0" dirty="0">
                <a:solidFill>
                  <a:srgbClr val="333333"/>
                </a:solidFill>
                <a:effectLst/>
                <a:latin typeface="Consolas" panose="020B0609020204030204" charset="0"/>
                <a:cs typeface="Consolas" panose="020B0609020204030204" charset="0"/>
              </a:rPr>
              <a:t>Redis Sentinel</a:t>
            </a:r>
            <a:r>
              <a:rPr lang="en-US" altLang="zh-CN" b="0" i="0" dirty="0">
                <a:solidFill>
                  <a:srgbClr val="333333"/>
                </a:solidFill>
                <a:effectLst/>
                <a:latin typeface="Open Sans"/>
              </a:rPr>
              <a:t> </a:t>
            </a:r>
            <a:r>
              <a:rPr lang="zh-CN" altLang="en-US" b="0" i="0" dirty="0">
                <a:solidFill>
                  <a:srgbClr val="333333"/>
                </a:solidFill>
                <a:effectLst/>
                <a:latin typeface="Open Sans"/>
              </a:rPr>
              <a:t>。</a:t>
            </a:r>
            <a:endParaRPr lang="zh-CN" altLang="en-US" b="0" i="0" dirty="0">
              <a:solidFill>
                <a:srgbClr val="333333"/>
              </a:solidFill>
              <a:effectLst/>
              <a:latin typeface="Open Sans"/>
            </a:endParaRPr>
          </a:p>
          <a:p>
            <a:pPr>
              <a:lnSpc>
                <a:spcPts val="2500"/>
              </a:lnSpc>
            </a:pPr>
            <a:endParaRPr lang="en-US" altLang="zh-CN" dirty="0"/>
          </a:p>
          <a:p>
            <a:pPr>
              <a:lnSpc>
                <a:spcPts val="2500"/>
              </a:lnSpc>
            </a:pPr>
            <a:r>
              <a:rPr lang="zh-CN" altLang="en-US" b="0" i="0" dirty="0">
                <a:solidFill>
                  <a:srgbClr val="000000"/>
                </a:solidFill>
                <a:effectLst/>
                <a:latin typeface="Helvetica Neue"/>
              </a:rPr>
              <a:t>哨兵节点的启动有两种方式，二者作用是完全相同的：</a:t>
            </a:r>
            <a:endParaRPr lang="en-US" altLang="zh-CN" b="0" i="0" dirty="0">
              <a:solidFill>
                <a:srgbClr val="000000"/>
              </a:solidFill>
              <a:effectLst/>
              <a:latin typeface="Helvetica Neue"/>
            </a:endParaRPr>
          </a:p>
          <a:p>
            <a:pPr>
              <a:lnSpc>
                <a:spcPts val="2500"/>
              </a:lnSpc>
            </a:pPr>
            <a:r>
              <a:rPr lang="en-US" altLang="zh-CN" dirty="0" err="1">
                <a:solidFill>
                  <a:srgbClr val="FF0000"/>
                </a:solidFill>
                <a:latin typeface="Consolas" panose="020B0609020204030204" charset="0"/>
                <a:cs typeface="Consolas" panose="020B0609020204030204" charset="0"/>
              </a:rPr>
              <a:t>redis</a:t>
            </a:r>
            <a:r>
              <a:rPr lang="en-US" altLang="zh-CN" dirty="0">
                <a:solidFill>
                  <a:srgbClr val="FF0000"/>
                </a:solidFill>
                <a:latin typeface="Consolas" panose="020B0609020204030204" charset="0"/>
                <a:cs typeface="Consolas" panose="020B0609020204030204" charset="0"/>
              </a:rPr>
              <a:t>-sentinel  /path/to/</a:t>
            </a:r>
            <a:r>
              <a:rPr lang="en-US" altLang="zh-CN" dirty="0" err="1">
                <a:solidFill>
                  <a:srgbClr val="FF0000"/>
                </a:solidFill>
                <a:latin typeface="Consolas" panose="020B0609020204030204" charset="0"/>
                <a:cs typeface="Consolas" panose="020B0609020204030204" charset="0"/>
              </a:rPr>
              <a:t>sentinel.conf</a:t>
            </a:r>
            <a:endParaRPr lang="en-US" altLang="zh-CN" dirty="0">
              <a:solidFill>
                <a:srgbClr val="FF0000"/>
              </a:solidFill>
              <a:latin typeface="Consolas" panose="020B0609020204030204" charset="0"/>
              <a:cs typeface="Consolas" panose="020B0609020204030204" charset="0"/>
            </a:endParaRPr>
          </a:p>
          <a:p>
            <a:pPr>
              <a:lnSpc>
                <a:spcPts val="2500"/>
              </a:lnSpc>
            </a:pPr>
            <a:r>
              <a:rPr lang="en-US" altLang="zh-CN" dirty="0" err="1">
                <a:solidFill>
                  <a:srgbClr val="FF0000"/>
                </a:solidFill>
                <a:latin typeface="Consolas" panose="020B0609020204030204" charset="0"/>
                <a:cs typeface="Consolas" panose="020B0609020204030204" charset="0"/>
              </a:rPr>
              <a:t>redis</a:t>
            </a:r>
            <a:r>
              <a:rPr lang="en-US" altLang="zh-CN" dirty="0">
                <a:solidFill>
                  <a:srgbClr val="FF0000"/>
                </a:solidFill>
                <a:latin typeface="Consolas" panose="020B0609020204030204" charset="0"/>
                <a:cs typeface="Consolas" panose="020B0609020204030204" charset="0"/>
              </a:rPr>
              <a:t>-server /path/to/</a:t>
            </a:r>
            <a:r>
              <a:rPr lang="en-US" altLang="zh-CN" dirty="0" err="1">
                <a:solidFill>
                  <a:srgbClr val="FF0000"/>
                </a:solidFill>
                <a:latin typeface="Consolas" panose="020B0609020204030204" charset="0"/>
                <a:cs typeface="Consolas" panose="020B0609020204030204" charset="0"/>
              </a:rPr>
              <a:t>sentinel.conf</a:t>
            </a:r>
            <a:r>
              <a:rPr lang="en-US" altLang="zh-CN" dirty="0">
                <a:solidFill>
                  <a:srgbClr val="FF0000"/>
                </a:solidFill>
                <a:latin typeface="Consolas" panose="020B0609020204030204" charset="0"/>
                <a:cs typeface="Consolas" panose="020B0609020204030204" charset="0"/>
              </a:rPr>
              <a:t> –sentinel</a:t>
            </a:r>
            <a:endParaRPr lang="en-US" altLang="zh-CN" dirty="0">
              <a:solidFill>
                <a:srgbClr val="FF0000"/>
              </a:solidFill>
              <a:latin typeface="Consolas" panose="020B0609020204030204" charset="0"/>
              <a:cs typeface="Consolas" panose="020B0609020204030204" charset="0"/>
            </a:endParaRPr>
          </a:p>
          <a:p>
            <a:pPr algn="l">
              <a:lnSpc>
                <a:spcPts val="2500"/>
              </a:lnSpc>
            </a:pPr>
            <a:r>
              <a:rPr lang="zh-CN" altLang="en-US" b="0" i="0" dirty="0">
                <a:solidFill>
                  <a:srgbClr val="404040"/>
                </a:solidFill>
                <a:effectLst/>
                <a:latin typeface="Lato"/>
              </a:rPr>
              <a:t>启动 </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404040"/>
                </a:solidFill>
                <a:effectLst/>
                <a:latin typeface="Lato"/>
              </a:rPr>
              <a:t>实例必须指定相应的配置文件， 系统会使用配置文件来保存 </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404040"/>
                </a:solidFill>
                <a:effectLst/>
                <a:latin typeface="Lato"/>
              </a:rPr>
              <a:t>的当前状态， 并在 </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404040"/>
                </a:solidFill>
                <a:effectLst/>
                <a:latin typeface="Lato"/>
              </a:rPr>
              <a:t>重启时通过载入配置文件来进行状态还原。如果启动 </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404040"/>
                </a:solidFill>
                <a:effectLst/>
                <a:latin typeface="Lato"/>
              </a:rPr>
              <a:t>时没有指定相应的配置文件， 或者指定的配置文件不可写（</a:t>
            </a:r>
            <a:r>
              <a:rPr lang="en-US" altLang="zh-CN" sz="1800" b="0" i="0" dirty="0">
                <a:solidFill>
                  <a:srgbClr val="333333"/>
                </a:solidFill>
                <a:effectLst/>
                <a:latin typeface="Consolas" panose="020B0609020204030204" charset="0"/>
                <a:cs typeface="Consolas" panose="020B0609020204030204" charset="0"/>
              </a:rPr>
              <a:t>not writable</a:t>
            </a:r>
            <a:r>
              <a:rPr lang="zh-CN" altLang="en-US" b="0" i="0" dirty="0">
                <a:solidFill>
                  <a:srgbClr val="404040"/>
                </a:solidFill>
                <a:effectLst/>
                <a:latin typeface="Lato"/>
              </a:rPr>
              <a:t>）， 那么 </a:t>
            </a:r>
            <a:r>
              <a:rPr lang="en-US" altLang="zh-CN" sz="1800" b="0" i="0" dirty="0">
                <a:solidFill>
                  <a:srgbClr val="333333"/>
                </a:solidFill>
                <a:effectLst/>
                <a:latin typeface="Consolas" panose="020B0609020204030204" charset="0"/>
                <a:cs typeface="Consolas" panose="020B0609020204030204" charset="0"/>
              </a:rPr>
              <a:t>Sentinel </a:t>
            </a:r>
            <a:r>
              <a:rPr lang="zh-CN" altLang="en-US" b="0" i="0" dirty="0">
                <a:solidFill>
                  <a:srgbClr val="404040"/>
                </a:solidFill>
                <a:effectLst/>
                <a:latin typeface="Lato"/>
              </a:rPr>
              <a:t>会拒绝启动。</a:t>
            </a:r>
            <a:endParaRPr lang="en-US" altLang="zh-CN" dirty="0">
              <a:solidFill>
                <a:srgbClr val="333333"/>
              </a:solidFill>
              <a:latin typeface="Open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7" descr="PPT-5-6"/>
          <p:cNvPicPr>
            <a:picLocks noChangeAspect="1" noChangeArrowheads="1"/>
          </p:cNvPicPr>
          <p:nvPr/>
        </p:nvPicPr>
        <p:blipFill>
          <a:blip r:embed="rId1"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文本框 2"/>
          <p:cNvSpPr txBox="1"/>
          <p:nvPr/>
        </p:nvSpPr>
        <p:spPr>
          <a:xfrm>
            <a:off x="3303480" y="2383763"/>
            <a:ext cx="3692124" cy="707886"/>
          </a:xfrm>
          <a:prstGeom prst="rect">
            <a:avLst/>
          </a:prstGeom>
          <a:noFill/>
        </p:spPr>
        <p:txBody>
          <a:bodyPr wrap="square" rtlCol="0">
            <a:spAutoFit/>
          </a:bodyPr>
          <a:lstStyle/>
          <a:p>
            <a:r>
              <a:rPr lang="en-US" altLang="zh-CN" sz="4000" dirty="0"/>
              <a:t>Redis</a:t>
            </a:r>
            <a:r>
              <a:rPr lang="zh-CN" altLang="en-US" sz="4000" dirty="0"/>
              <a:t>常见问题</a:t>
            </a:r>
            <a:endParaRPr lang="zh-CN" altLang="en-US" sz="4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4" name="矩形 3"/>
          <p:cNvSpPr/>
          <p:nvPr/>
        </p:nvSpPr>
        <p:spPr bwMode="auto">
          <a:xfrm>
            <a:off x="4054752" y="1484633"/>
            <a:ext cx="927843" cy="4043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cache</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bwMode="auto">
          <a:xfrm>
            <a:off x="6838573" y="1329899"/>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8" name="矩形 7"/>
          <p:cNvSpPr/>
          <p:nvPr/>
        </p:nvSpPr>
        <p:spPr bwMode="auto">
          <a:xfrm>
            <a:off x="6865103" y="2974901"/>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0" name="矩形 9"/>
          <p:cNvSpPr/>
          <p:nvPr/>
        </p:nvSpPr>
        <p:spPr bwMode="auto">
          <a:xfrm>
            <a:off x="6837077" y="4711349"/>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2" name="椭圆 11"/>
          <p:cNvSpPr/>
          <p:nvPr/>
        </p:nvSpPr>
        <p:spPr bwMode="auto">
          <a:xfrm>
            <a:off x="899280" y="1898758"/>
            <a:ext cx="1329015" cy="817809"/>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client</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3" name="椭圆 12"/>
          <p:cNvSpPr/>
          <p:nvPr/>
        </p:nvSpPr>
        <p:spPr bwMode="auto">
          <a:xfrm>
            <a:off x="899280" y="3674005"/>
            <a:ext cx="1329015" cy="817809"/>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client</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6" name="直接箭头连接符 15"/>
          <p:cNvCxnSpPr>
            <a:stCxn id="12" idx="6"/>
          </p:cNvCxnSpPr>
          <p:nvPr/>
        </p:nvCxnSpPr>
        <p:spPr bwMode="auto">
          <a:xfrm>
            <a:off x="2228295" y="2307663"/>
            <a:ext cx="1826457" cy="764011"/>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9" name="直接箭头连接符 18"/>
          <p:cNvCxnSpPr>
            <a:stCxn id="13" idx="6"/>
            <a:endCxn id="4" idx="1"/>
          </p:cNvCxnSpPr>
          <p:nvPr/>
        </p:nvCxnSpPr>
        <p:spPr bwMode="auto">
          <a:xfrm flipV="1">
            <a:off x="2228295" y="3506367"/>
            <a:ext cx="1826457" cy="576543"/>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630555" y="1484630"/>
            <a:ext cx="8888095" cy="4258945"/>
          </a:xfrm>
          <a:prstGeom prst="rect">
            <a:avLst/>
          </a:prstGeom>
          <a:noFill/>
        </p:spPr>
        <p:txBody>
          <a:bodyPr wrap="square" rtlCol="0">
            <a:spAutoFit/>
          </a:bodyPr>
          <a:lstStyle/>
          <a:p>
            <a:pPr>
              <a:lnSpc>
                <a:spcPts val="2500"/>
              </a:lnSpc>
            </a:pPr>
            <a:r>
              <a:rPr lang="zh-CN" altLang="en-US" i="0" dirty="0">
                <a:effectLst/>
                <a:latin typeface="Open Sans"/>
              </a:rPr>
              <a:t>缓存机制的应用，能够极大的提升程序的性能和效率，但是也会遇到一些问题。</a:t>
            </a:r>
            <a:endParaRPr lang="en-US" altLang="zh-CN" i="0" dirty="0">
              <a:effectLst/>
              <a:latin typeface="Open Sans"/>
            </a:endParaRPr>
          </a:p>
          <a:p>
            <a:pPr>
              <a:lnSpc>
                <a:spcPts val="2500"/>
              </a:lnSpc>
            </a:pPr>
            <a:r>
              <a:rPr lang="zh-CN" altLang="en-US" i="0" dirty="0">
                <a:effectLst/>
                <a:latin typeface="Open Sans"/>
              </a:rPr>
              <a:t>一些典型的问题如下：</a:t>
            </a:r>
            <a:endParaRPr lang="en-US" altLang="zh-CN" b="1" dirty="0">
              <a:solidFill>
                <a:srgbClr val="FF0000"/>
              </a:solidFill>
              <a:latin typeface="Open Sans"/>
            </a:endParaRPr>
          </a:p>
          <a:p>
            <a:pPr>
              <a:lnSpc>
                <a:spcPts val="2500"/>
              </a:lnSpc>
            </a:pPr>
            <a:endParaRPr lang="en-US" altLang="zh-CN" b="1" i="0" dirty="0">
              <a:solidFill>
                <a:srgbClr val="FF0000"/>
              </a:solidFill>
              <a:effectLst/>
              <a:latin typeface="Open Sans"/>
            </a:endParaRPr>
          </a:p>
          <a:p>
            <a:pPr>
              <a:lnSpc>
                <a:spcPts val="2500"/>
              </a:lnSpc>
            </a:pPr>
            <a:r>
              <a:rPr lang="zh-CN" altLang="en-US" b="1" i="0" dirty="0">
                <a:solidFill>
                  <a:srgbClr val="FF0000"/>
                </a:solidFill>
                <a:effectLst/>
                <a:latin typeface="Open Sans"/>
              </a:rPr>
              <a:t>缓存雪崩：</a:t>
            </a:r>
            <a:endParaRPr lang="en-US" altLang="zh-CN" b="1" i="0" dirty="0">
              <a:solidFill>
                <a:srgbClr val="FF0000"/>
              </a:solidFill>
              <a:effectLst/>
              <a:latin typeface="Open Sans"/>
            </a:endParaRPr>
          </a:p>
          <a:p>
            <a:pPr>
              <a:lnSpc>
                <a:spcPts val="2500"/>
              </a:lnSpc>
            </a:pPr>
            <a:endParaRPr lang="en-US" altLang="zh-CN" b="1" i="0" dirty="0">
              <a:solidFill>
                <a:srgbClr val="FF0000"/>
              </a:solidFill>
              <a:effectLst/>
              <a:latin typeface="Open Sans"/>
            </a:endParaRPr>
          </a:p>
          <a:p>
            <a:pPr>
              <a:lnSpc>
                <a:spcPts val="2500"/>
              </a:lnSpc>
            </a:pPr>
            <a:r>
              <a:rPr lang="zh-CN" altLang="en-US" sz="1800" dirty="0">
                <a:solidFill>
                  <a:srgbClr val="333333"/>
                </a:solidFill>
                <a:latin typeface="Open Sans"/>
              </a:rPr>
              <a:t>一般热点数据都会去做缓存，一般缓存都是定时任务去刷新，定时刷新就有一个问题：</a:t>
            </a:r>
            <a:endParaRPr lang="en-US" altLang="zh-CN" sz="1800" dirty="0">
              <a:solidFill>
                <a:srgbClr val="333333"/>
              </a:solidFill>
              <a:latin typeface="Open Sans"/>
            </a:endParaRPr>
          </a:p>
          <a:p>
            <a:pPr>
              <a:lnSpc>
                <a:spcPts val="2500"/>
              </a:lnSpc>
            </a:pPr>
            <a:r>
              <a:rPr lang="zh-CN" altLang="en-US" sz="1800" b="1" dirty="0">
                <a:solidFill>
                  <a:srgbClr val="FF0000"/>
                </a:solidFill>
                <a:latin typeface="Open Sans"/>
              </a:rPr>
              <a:t>当缓存服务器重启或者大量缓存集中在某一个时间段失效，这样缓存在失效的时候，原本访问缓存就能得到的数据，现在失效了，只能到数据库中取访问，这样会给后端系统</a:t>
            </a:r>
            <a:r>
              <a:rPr lang="en-US" altLang="zh-CN" sz="1800" b="1" dirty="0">
                <a:solidFill>
                  <a:srgbClr val="FF0000"/>
                </a:solidFill>
                <a:latin typeface="Open Sans"/>
              </a:rPr>
              <a:t>(</a:t>
            </a:r>
            <a:r>
              <a:rPr lang="zh-CN" altLang="en-US" sz="1800" b="1" dirty="0">
                <a:solidFill>
                  <a:srgbClr val="FF0000"/>
                </a:solidFill>
                <a:latin typeface="Open Sans"/>
              </a:rPr>
              <a:t>比如</a:t>
            </a:r>
            <a:r>
              <a:rPr lang="en-US" altLang="zh-CN" sz="1800" b="1" dirty="0">
                <a:solidFill>
                  <a:srgbClr val="FF0000"/>
                </a:solidFill>
                <a:latin typeface="Open Sans"/>
              </a:rPr>
              <a:t>DB)</a:t>
            </a:r>
            <a:r>
              <a:rPr lang="zh-CN" altLang="en-US" sz="1800" b="1" dirty="0">
                <a:solidFill>
                  <a:srgbClr val="FF0000"/>
                </a:solidFill>
                <a:latin typeface="Open Sans"/>
              </a:rPr>
              <a:t>带来很大压力。</a:t>
            </a:r>
            <a:endParaRPr lang="en-US" altLang="zh-CN" sz="1800" b="1" dirty="0">
              <a:solidFill>
                <a:srgbClr val="FF0000"/>
              </a:solidFill>
              <a:latin typeface="Open Sans"/>
            </a:endParaRPr>
          </a:p>
          <a:p>
            <a:pPr>
              <a:lnSpc>
                <a:spcPts val="2500"/>
              </a:lnSpc>
            </a:pPr>
            <a:endParaRPr lang="en-US" altLang="zh-CN" sz="1800" dirty="0">
              <a:solidFill>
                <a:srgbClr val="333333"/>
              </a:solidFill>
              <a:latin typeface="Open Sans"/>
            </a:endParaRPr>
          </a:p>
          <a:p>
            <a:pPr>
              <a:lnSpc>
                <a:spcPts val="2500"/>
              </a:lnSpc>
            </a:pPr>
            <a:r>
              <a:rPr lang="zh-CN" altLang="en-US" sz="1800" dirty="0">
                <a:solidFill>
                  <a:srgbClr val="333333"/>
                </a:solidFill>
                <a:latin typeface="Open Sans"/>
              </a:rPr>
              <a:t>总结：缓存中</a:t>
            </a:r>
            <a:r>
              <a:rPr lang="zh-CN" altLang="en-US" sz="1800" dirty="0">
                <a:solidFill>
                  <a:srgbClr val="FF0000"/>
                </a:solidFill>
                <a:latin typeface="Open Sans"/>
              </a:rPr>
              <a:t>大量的</a:t>
            </a:r>
            <a:r>
              <a:rPr lang="zh-CN" altLang="en-US" sz="1800" dirty="0">
                <a:solidFill>
                  <a:srgbClr val="333333"/>
                </a:solidFill>
                <a:latin typeface="Open Sans"/>
              </a:rPr>
              <a:t>数据在</a:t>
            </a:r>
            <a:r>
              <a:rPr lang="zh-CN" altLang="en-US" sz="1800" dirty="0">
                <a:solidFill>
                  <a:srgbClr val="FF0000"/>
                </a:solidFill>
                <a:latin typeface="Open Sans"/>
              </a:rPr>
              <a:t>同一时间</a:t>
            </a:r>
            <a:r>
              <a:rPr lang="zh-CN" altLang="en-US" sz="1800" dirty="0">
                <a:solidFill>
                  <a:srgbClr val="333333"/>
                </a:solidFill>
                <a:latin typeface="Open Sans"/>
              </a:rPr>
              <a:t>失效，此时相当于没有缓存，所有对数据的请求直接走到数据库，会带来很大压力。</a:t>
            </a:r>
            <a:endParaRPr lang="en-US" altLang="zh-CN" sz="1800" dirty="0">
              <a:solidFill>
                <a:srgbClr val="333333"/>
              </a:solidFill>
              <a:latin typeface="Open Sans"/>
            </a:endParaRPr>
          </a:p>
          <a:p>
            <a:pPr>
              <a:lnSpc>
                <a:spcPts val="2500"/>
              </a:lnSpc>
            </a:pPr>
            <a:endParaRPr lang="en-US" altLang="zh-CN" sz="1800" b="0" i="0" dirty="0">
              <a:solidFill>
                <a:srgbClr val="333333"/>
              </a:solidFill>
              <a:effectLst/>
              <a:latin typeface="Open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4" name="矩形 3"/>
          <p:cNvSpPr/>
          <p:nvPr/>
        </p:nvSpPr>
        <p:spPr>
          <a:xfrm>
            <a:off x="859155" y="1572260"/>
            <a:ext cx="1104900" cy="412115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client</a:t>
            </a: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a:xfrm>
            <a:off x="7119620" y="1502410"/>
            <a:ext cx="1104900" cy="4399280"/>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MySQL</a:t>
            </a: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8" name="圆角矩形 7"/>
          <p:cNvSpPr/>
          <p:nvPr/>
        </p:nvSpPr>
        <p:spPr>
          <a:xfrm>
            <a:off x="3824605" y="2279015"/>
            <a:ext cx="1841500" cy="203073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 </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Redis</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cxnSp>
        <p:nvCxnSpPr>
          <p:cNvPr id="9" name="直接箭头连接符 8"/>
          <p:cNvCxnSpPr/>
          <p:nvPr/>
        </p:nvCxnSpPr>
        <p:spPr>
          <a:xfrm>
            <a:off x="2044065" y="2457450"/>
            <a:ext cx="1761490" cy="2984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0" name="直接箭头连接符 9"/>
          <p:cNvCxnSpPr/>
          <p:nvPr/>
        </p:nvCxnSpPr>
        <p:spPr>
          <a:xfrm flipH="1">
            <a:off x="1969135" y="2577465"/>
            <a:ext cx="1816735" cy="952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1" name="直接箭头连接符 10"/>
          <p:cNvCxnSpPr/>
          <p:nvPr/>
        </p:nvCxnSpPr>
        <p:spPr>
          <a:xfrm>
            <a:off x="2004060" y="299466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2" name="直接箭头连接符 11"/>
          <p:cNvCxnSpPr/>
          <p:nvPr/>
        </p:nvCxnSpPr>
        <p:spPr>
          <a:xfrm>
            <a:off x="2044065" y="358267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3" name="直接箭头连接符 12"/>
          <p:cNvCxnSpPr/>
          <p:nvPr/>
        </p:nvCxnSpPr>
        <p:spPr>
          <a:xfrm>
            <a:off x="2023110" y="413004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4" name="直接箭头连接符 13"/>
          <p:cNvCxnSpPr/>
          <p:nvPr/>
        </p:nvCxnSpPr>
        <p:spPr>
          <a:xfrm flipH="1">
            <a:off x="2003425" y="307467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5" name="直接箭头连接符 14"/>
          <p:cNvCxnSpPr/>
          <p:nvPr/>
        </p:nvCxnSpPr>
        <p:spPr>
          <a:xfrm flipH="1">
            <a:off x="2003425" y="370078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6" name="直接箭头连接符 15"/>
          <p:cNvCxnSpPr/>
          <p:nvPr/>
        </p:nvCxnSpPr>
        <p:spPr>
          <a:xfrm flipH="1">
            <a:off x="2013585" y="422910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7" name="文本框 16"/>
          <p:cNvSpPr txBox="1"/>
          <p:nvPr/>
        </p:nvSpPr>
        <p:spPr>
          <a:xfrm>
            <a:off x="2396490" y="2089150"/>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sp>
        <p:nvSpPr>
          <p:cNvPr id="18" name="文本框 17"/>
          <p:cNvSpPr txBox="1"/>
          <p:nvPr/>
        </p:nvSpPr>
        <p:spPr>
          <a:xfrm>
            <a:off x="2397760" y="2646680"/>
            <a:ext cx="1054735" cy="368300"/>
          </a:xfrm>
          <a:prstGeom prst="rect">
            <a:avLst/>
          </a:prstGeom>
          <a:noFill/>
        </p:spPr>
        <p:txBody>
          <a:bodyPr wrap="square" rtlCol="0">
            <a:spAutoFit/>
          </a:bodyPr>
          <a:p>
            <a:r>
              <a:rPr lang="en-US" altLang="zh-CN"/>
              <a:t>key2</a:t>
            </a:r>
            <a:endParaRPr lang="en-US" altLang="zh-CN"/>
          </a:p>
        </p:txBody>
      </p:sp>
      <p:sp>
        <p:nvSpPr>
          <p:cNvPr id="19" name="文本框 18"/>
          <p:cNvSpPr txBox="1"/>
          <p:nvPr/>
        </p:nvSpPr>
        <p:spPr>
          <a:xfrm>
            <a:off x="2397760" y="3236595"/>
            <a:ext cx="1054735" cy="368300"/>
          </a:xfrm>
          <a:prstGeom prst="rect">
            <a:avLst/>
          </a:prstGeom>
          <a:noFill/>
        </p:spPr>
        <p:txBody>
          <a:bodyPr wrap="square" rtlCol="0">
            <a:spAutoFit/>
          </a:bodyPr>
          <a:p>
            <a:r>
              <a:rPr lang="en-US" altLang="zh-CN">
                <a:solidFill>
                  <a:schemeClr val="accent1"/>
                </a:solidFill>
              </a:rPr>
              <a:t>key3</a:t>
            </a:r>
            <a:endParaRPr lang="en-US" altLang="zh-CN">
              <a:solidFill>
                <a:schemeClr val="accent1"/>
              </a:solidFill>
            </a:endParaRPr>
          </a:p>
        </p:txBody>
      </p:sp>
      <p:sp>
        <p:nvSpPr>
          <p:cNvPr id="20" name="文本框 19"/>
          <p:cNvSpPr txBox="1"/>
          <p:nvPr/>
        </p:nvSpPr>
        <p:spPr>
          <a:xfrm>
            <a:off x="2506980" y="4204335"/>
            <a:ext cx="1054735" cy="368300"/>
          </a:xfrm>
          <a:prstGeom prst="rect">
            <a:avLst/>
          </a:prstGeom>
          <a:noFill/>
        </p:spPr>
        <p:txBody>
          <a:bodyPr wrap="square" rtlCol="0">
            <a:spAutoFit/>
          </a:bodyPr>
          <a:p>
            <a:r>
              <a:rPr lang="en-US" altLang="zh-CN">
                <a:solidFill>
                  <a:schemeClr val="accent2"/>
                </a:solidFill>
              </a:rPr>
              <a:t>key4</a:t>
            </a:r>
            <a:endParaRPr lang="en-US" altLang="zh-CN">
              <a:solidFill>
                <a:schemeClr val="accent2"/>
              </a:solidFill>
            </a:endParaRPr>
          </a:p>
        </p:txBody>
      </p:sp>
      <p:cxnSp>
        <p:nvCxnSpPr>
          <p:cNvPr id="21" name="直接箭头连接符 20"/>
          <p:cNvCxnSpPr/>
          <p:nvPr/>
        </p:nvCxnSpPr>
        <p:spPr>
          <a:xfrm flipV="1">
            <a:off x="2033905" y="4757420"/>
            <a:ext cx="5066030" cy="10160"/>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22" name="直接箭头连接符 21"/>
          <p:cNvCxnSpPr/>
          <p:nvPr/>
        </p:nvCxnSpPr>
        <p:spPr>
          <a:xfrm flipV="1">
            <a:off x="2009140" y="5066030"/>
            <a:ext cx="5066030" cy="1016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23" name="直接箭头连接符 22"/>
          <p:cNvCxnSpPr/>
          <p:nvPr/>
        </p:nvCxnSpPr>
        <p:spPr>
          <a:xfrm flipV="1">
            <a:off x="2028825" y="5422265"/>
            <a:ext cx="5066030" cy="10160"/>
          </a:xfrm>
          <a:prstGeom prst="straightConnector1">
            <a:avLst/>
          </a:prstGeom>
          <a:ln>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24" name="直接箭头连接符 23"/>
          <p:cNvCxnSpPr/>
          <p:nvPr/>
        </p:nvCxnSpPr>
        <p:spPr>
          <a:xfrm flipV="1">
            <a:off x="2028825" y="5643245"/>
            <a:ext cx="5066030" cy="10160"/>
          </a:xfrm>
          <a:prstGeom prst="straightConnector1">
            <a:avLst/>
          </a:prstGeom>
          <a:ln>
            <a:headEnd type="none" w="med" len="med"/>
            <a:tailEnd type="arrow" w="med" len="med"/>
          </a:ln>
        </p:spPr>
        <p:style>
          <a:lnRef idx="3">
            <a:schemeClr val="accent5"/>
          </a:lnRef>
          <a:fillRef idx="0">
            <a:schemeClr val="accent5"/>
          </a:fillRef>
          <a:effectRef idx="2">
            <a:schemeClr val="accent5"/>
          </a:effectRef>
          <a:fontRef idx="minor">
            <a:schemeClr val="tx1"/>
          </a:fontRef>
        </p:style>
      </p:cxnSp>
      <p:sp>
        <p:nvSpPr>
          <p:cNvPr id="25" name="文本框 24"/>
          <p:cNvSpPr txBox="1"/>
          <p:nvPr/>
        </p:nvSpPr>
        <p:spPr>
          <a:xfrm>
            <a:off x="590550" y="347980"/>
            <a:ext cx="8441055" cy="368300"/>
          </a:xfrm>
          <a:prstGeom prst="rect">
            <a:avLst/>
          </a:prstGeom>
          <a:noFill/>
        </p:spPr>
        <p:txBody>
          <a:bodyPr wrap="square" rtlCol="0">
            <a:spAutoFit/>
          </a:bodyPr>
          <a:p>
            <a:r>
              <a:rPr lang="zh-CN" altLang="en-US"/>
              <a:t>大量的</a:t>
            </a:r>
            <a:r>
              <a:rPr lang="en-US" altLang="zh-CN"/>
              <a:t>key</a:t>
            </a:r>
            <a:r>
              <a:rPr lang="zh-CN" altLang="en-US"/>
              <a:t>值过期，导致客户端的访问必须到</a:t>
            </a:r>
            <a:r>
              <a:rPr lang="en-US" altLang="zh-CN"/>
              <a:t>MySQL</a:t>
            </a:r>
            <a:r>
              <a:rPr lang="zh-CN" altLang="en-US"/>
              <a:t>数据库中，增加数据库的负担</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438785" y="1366520"/>
            <a:ext cx="8884920" cy="5220970"/>
          </a:xfrm>
          <a:prstGeom prst="rect">
            <a:avLst/>
          </a:prstGeom>
          <a:noFill/>
        </p:spPr>
        <p:txBody>
          <a:bodyPr wrap="square" rtlCol="0">
            <a:spAutoFit/>
          </a:bodyPr>
          <a:lstStyle/>
          <a:p>
            <a:pPr>
              <a:lnSpc>
                <a:spcPts val="2500"/>
              </a:lnSpc>
            </a:pPr>
            <a:r>
              <a:rPr lang="zh-CN" altLang="en-US" b="1" i="0" dirty="0">
                <a:solidFill>
                  <a:srgbClr val="FF0000"/>
                </a:solidFill>
                <a:effectLst/>
                <a:latin typeface="Open Sans"/>
              </a:rPr>
              <a:t>缓存雪崩解决方法：</a:t>
            </a:r>
            <a:endParaRPr lang="en-US" altLang="zh-CN" b="1" i="0" dirty="0">
              <a:solidFill>
                <a:srgbClr val="FF0000"/>
              </a:solidFill>
              <a:effectLst/>
              <a:latin typeface="Open Sans"/>
            </a:endParaRPr>
          </a:p>
          <a:p>
            <a:pPr>
              <a:lnSpc>
                <a:spcPts val="2500"/>
              </a:lnSpc>
            </a:pPr>
            <a:endParaRPr lang="en-US" altLang="zh-CN" b="1" i="0" dirty="0">
              <a:solidFill>
                <a:srgbClr val="FF0000"/>
              </a:solidFill>
              <a:effectLst/>
              <a:latin typeface="Open Sans"/>
            </a:endParaRPr>
          </a:p>
          <a:p>
            <a:pPr>
              <a:lnSpc>
                <a:spcPts val="2500"/>
              </a:lnSpc>
            </a:pPr>
            <a:r>
              <a:rPr lang="zh-CN" altLang="en-US" sz="1800" b="0" i="0" dirty="0">
                <a:solidFill>
                  <a:srgbClr val="5E5E5E"/>
                </a:solidFill>
                <a:effectLst/>
                <a:latin typeface="PingFang SC"/>
              </a:rPr>
              <a:t>缓存失效时的雪崩效应对底层系统的冲击非常可怕！大多数系统设计者考虑用加锁或者队列的方式保证来保证不会有大量的线程对数据库一次性进行读写，从而避免失效时大量的并发请求落到底层存储系统上。加锁排队只是为了减轻数据库的压力，并没有提高系统吞吐量。这是个治标不治本的方法！因此很少使用。</a:t>
            </a:r>
            <a:endParaRPr lang="en-US" altLang="zh-CN" sz="1800" b="0" i="0" dirty="0">
              <a:solidFill>
                <a:srgbClr val="5E5E5E"/>
              </a:solidFill>
              <a:effectLst/>
              <a:latin typeface="PingFang SC"/>
            </a:endParaRPr>
          </a:p>
          <a:p>
            <a:pPr>
              <a:lnSpc>
                <a:spcPts val="2500"/>
              </a:lnSpc>
            </a:pPr>
            <a:endParaRPr lang="en-US" altLang="zh-CN" sz="1800" b="0" i="0" dirty="0">
              <a:solidFill>
                <a:srgbClr val="5E5E5E"/>
              </a:solidFill>
              <a:effectLst/>
              <a:latin typeface="PingFang SC"/>
            </a:endParaRPr>
          </a:p>
          <a:p>
            <a:pPr>
              <a:lnSpc>
                <a:spcPts val="2500"/>
              </a:lnSpc>
            </a:pPr>
            <a:r>
              <a:rPr lang="zh-CN" altLang="en-US" sz="1800" b="0" i="0" dirty="0">
                <a:solidFill>
                  <a:srgbClr val="5E5E5E"/>
                </a:solidFill>
                <a:effectLst/>
                <a:latin typeface="PingFang SC"/>
              </a:rPr>
              <a:t>还有一个简单方案就是将</a:t>
            </a:r>
            <a:r>
              <a:rPr lang="zh-CN" altLang="en-US" sz="1800" b="1" i="0" dirty="0">
                <a:solidFill>
                  <a:srgbClr val="FF0000"/>
                </a:solidFill>
                <a:effectLst/>
                <a:latin typeface="PingFang SC"/>
              </a:rPr>
              <a:t>缓存失效时间分散开</a:t>
            </a:r>
            <a:r>
              <a:rPr lang="zh-CN" altLang="en-US" sz="1800" b="0" i="0" dirty="0">
                <a:solidFill>
                  <a:srgbClr val="5E5E5E"/>
                </a:solidFill>
                <a:effectLst/>
                <a:latin typeface="PingFang SC"/>
              </a:rPr>
              <a:t>，比如我们可以在原有的失效时间基础上增加一个随机值，比如</a:t>
            </a:r>
            <a:r>
              <a:rPr lang="en-US" altLang="zh-CN" sz="1800" b="0" i="0" dirty="0">
                <a:solidFill>
                  <a:srgbClr val="5E5E5E"/>
                </a:solidFill>
                <a:effectLst/>
                <a:latin typeface="PingFang SC"/>
              </a:rPr>
              <a:t>1-5</a:t>
            </a:r>
            <a:r>
              <a:rPr lang="zh-CN" altLang="en-US" sz="1800" b="0" i="0" dirty="0">
                <a:solidFill>
                  <a:srgbClr val="5E5E5E"/>
                </a:solidFill>
                <a:effectLst/>
                <a:latin typeface="PingFang SC"/>
              </a:rPr>
              <a:t>分钟随机，这样每一个缓存的过期时间的重复率就会降低，就很难引发集体失效的事件。</a:t>
            </a:r>
            <a:endParaRPr lang="en-US" altLang="zh-CN" sz="1800" b="0" i="0" dirty="0">
              <a:solidFill>
                <a:srgbClr val="5E5E5E"/>
              </a:solidFill>
              <a:effectLst/>
              <a:latin typeface="PingFang SC"/>
            </a:endParaRPr>
          </a:p>
          <a:p>
            <a:pPr>
              <a:lnSpc>
                <a:spcPts val="2500"/>
              </a:lnSpc>
            </a:pPr>
            <a:endParaRPr lang="en-US" altLang="zh-CN" sz="1800" dirty="0">
              <a:solidFill>
                <a:srgbClr val="5E5E5E"/>
              </a:solidFill>
              <a:latin typeface="PingFang SC"/>
            </a:endParaRPr>
          </a:p>
          <a:p>
            <a:pPr>
              <a:lnSpc>
                <a:spcPts val="2500"/>
              </a:lnSpc>
            </a:pPr>
            <a:r>
              <a:rPr lang="zh-CN" altLang="en-US" sz="1800" b="0" i="0" dirty="0">
                <a:solidFill>
                  <a:srgbClr val="5E5E5E"/>
                </a:solidFill>
                <a:effectLst/>
                <a:latin typeface="PingFang SC"/>
              </a:rPr>
              <a:t>还有一种方法是</a:t>
            </a:r>
            <a:r>
              <a:rPr lang="zh-CN" altLang="en-US" sz="1800" b="1" i="0" dirty="0">
                <a:solidFill>
                  <a:srgbClr val="FF0000"/>
                </a:solidFill>
                <a:effectLst/>
                <a:latin typeface="PingFang SC"/>
              </a:rPr>
              <a:t>不设置缓存的过期时间</a:t>
            </a:r>
            <a:r>
              <a:rPr lang="zh-CN" altLang="en-US" sz="1800" b="0" i="0" dirty="0">
                <a:solidFill>
                  <a:srgbClr val="5E5E5E"/>
                </a:solidFill>
                <a:effectLst/>
                <a:latin typeface="PingFang SC"/>
              </a:rPr>
              <a:t>，有更新操作时就把热点的缓存全部更新，比如首页上的商品，当首页更新时，就把对应的数据替换掉。</a:t>
            </a:r>
            <a:endParaRPr lang="en-US" altLang="zh-CN" sz="1800" dirty="0">
              <a:solidFill>
                <a:srgbClr val="5E5E5E"/>
              </a:solidFill>
              <a:latin typeface="PingFang SC"/>
            </a:endParaRPr>
          </a:p>
          <a:p>
            <a:pPr>
              <a:lnSpc>
                <a:spcPts val="2500"/>
              </a:lnSpc>
            </a:pPr>
            <a:endParaRPr lang="en-US" altLang="zh-CN" sz="1600" dirty="0">
              <a:solidFill>
                <a:srgbClr val="5E5E5E"/>
              </a:solidFill>
              <a:latin typeface="PingFang SC"/>
            </a:endParaRPr>
          </a:p>
          <a:p>
            <a:pPr>
              <a:lnSpc>
                <a:spcPts val="2500"/>
              </a:lnSpc>
            </a:pPr>
            <a:endParaRPr lang="en-US" altLang="zh-CN" sz="1600" b="1" dirty="0">
              <a:solidFill>
                <a:srgbClr val="FF0000"/>
              </a:solidFill>
              <a:latin typeface="Open Sans"/>
            </a:endParaRPr>
          </a:p>
          <a:p>
            <a:pPr>
              <a:lnSpc>
                <a:spcPts val="2500"/>
              </a:lnSpc>
            </a:pPr>
            <a:endParaRPr lang="en-US" altLang="zh-CN" sz="1600" b="0" i="0" dirty="0">
              <a:solidFill>
                <a:srgbClr val="FF0000"/>
              </a:solidFill>
              <a:effectLst/>
              <a:latin typeface="Open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630416" y="1484633"/>
            <a:ext cx="8078578" cy="4579620"/>
          </a:xfrm>
          <a:prstGeom prst="rect">
            <a:avLst/>
          </a:prstGeom>
          <a:noFill/>
        </p:spPr>
        <p:txBody>
          <a:bodyPr wrap="square" rtlCol="0">
            <a:spAutoFit/>
          </a:bodyPr>
          <a:lstStyle/>
          <a:p>
            <a:pPr>
              <a:lnSpc>
                <a:spcPts val="2500"/>
              </a:lnSpc>
            </a:pPr>
            <a:r>
              <a:rPr lang="zh-CN" altLang="en-US" b="1" i="0" dirty="0">
                <a:solidFill>
                  <a:srgbClr val="FF0000"/>
                </a:solidFill>
                <a:effectLst/>
                <a:latin typeface="Open Sans"/>
              </a:rPr>
              <a:t>缓存击穿：</a:t>
            </a:r>
            <a:endParaRPr lang="en-US" altLang="zh-CN" b="1" i="0" dirty="0">
              <a:solidFill>
                <a:srgbClr val="FF0000"/>
              </a:solidFill>
              <a:effectLst/>
              <a:latin typeface="Open Sans"/>
            </a:endParaRPr>
          </a:p>
          <a:p>
            <a:pPr>
              <a:lnSpc>
                <a:spcPts val="2500"/>
              </a:lnSpc>
            </a:pPr>
            <a:endParaRPr lang="en-US" altLang="zh-CN" b="1" i="0" dirty="0">
              <a:solidFill>
                <a:srgbClr val="FF0000"/>
              </a:solidFill>
              <a:effectLst/>
              <a:latin typeface="Open Sans"/>
            </a:endParaRPr>
          </a:p>
          <a:p>
            <a:pPr>
              <a:lnSpc>
                <a:spcPts val="2500"/>
              </a:lnSpc>
            </a:pPr>
            <a:r>
              <a:rPr lang="zh-CN" altLang="en-US" sz="1800" dirty="0">
                <a:solidFill>
                  <a:srgbClr val="5E5E5E"/>
                </a:solidFill>
                <a:latin typeface="PingFang SC"/>
              </a:rPr>
              <a:t>缓存击穿跟缓存雪崩类似，但是又不一样。</a:t>
            </a:r>
            <a:endParaRPr lang="en-US" altLang="zh-CN" sz="1800" dirty="0">
              <a:solidFill>
                <a:srgbClr val="5E5E5E"/>
              </a:solidFill>
              <a:latin typeface="PingFang SC"/>
            </a:endParaRPr>
          </a:p>
          <a:p>
            <a:pPr>
              <a:lnSpc>
                <a:spcPts val="2500"/>
              </a:lnSpc>
            </a:pPr>
            <a:r>
              <a:rPr lang="zh-CN" altLang="en-US" sz="1800" dirty="0">
                <a:solidFill>
                  <a:srgbClr val="5E5E5E"/>
                </a:solidFill>
                <a:latin typeface="PingFang SC"/>
              </a:rPr>
              <a:t>缓存雪崩是大量的缓存失效，对这些数据的访问量全都转移到数据库上了。</a:t>
            </a:r>
            <a:endParaRPr lang="en-US" altLang="zh-CN" sz="1800" dirty="0">
              <a:solidFill>
                <a:srgbClr val="5E5E5E"/>
              </a:solidFill>
              <a:latin typeface="PingFang SC"/>
            </a:endParaRPr>
          </a:p>
          <a:p>
            <a:pPr>
              <a:lnSpc>
                <a:spcPts val="2500"/>
              </a:lnSpc>
            </a:pPr>
            <a:r>
              <a:rPr lang="zh-CN" altLang="en-US" sz="1800" dirty="0">
                <a:solidFill>
                  <a:srgbClr val="5E5E5E"/>
                </a:solidFill>
                <a:latin typeface="PingFang SC"/>
              </a:rPr>
              <a:t>而</a:t>
            </a:r>
            <a:r>
              <a:rPr lang="zh-CN" altLang="en-US" sz="1800" b="1" dirty="0">
                <a:solidFill>
                  <a:srgbClr val="FF0000"/>
                </a:solidFill>
                <a:latin typeface="PingFang SC"/>
              </a:rPr>
              <a:t>缓存击穿是一个</a:t>
            </a:r>
            <a:r>
              <a:rPr lang="en-US" altLang="zh-CN" sz="1800" b="1" dirty="0">
                <a:solidFill>
                  <a:srgbClr val="FF0000"/>
                </a:solidFill>
                <a:latin typeface="PingFang SC"/>
              </a:rPr>
              <a:t>key</a:t>
            </a:r>
            <a:r>
              <a:rPr lang="zh-CN" altLang="en-US" sz="1800" b="1" i="0" dirty="0">
                <a:solidFill>
                  <a:srgbClr val="FF0000"/>
                </a:solidFill>
                <a:effectLst/>
                <a:latin typeface="PingFang SC"/>
              </a:rPr>
              <a:t>可能会在某些时间点被超高并发地访问</a:t>
            </a:r>
            <a:r>
              <a:rPr lang="zh-CN" altLang="en-US" sz="1800" b="1" dirty="0">
                <a:solidFill>
                  <a:srgbClr val="FF0000"/>
                </a:solidFill>
                <a:latin typeface="PingFang SC"/>
              </a:rPr>
              <a:t>，属于“热点”数据，</a:t>
            </a:r>
            <a:r>
              <a:rPr lang="zh-CN" altLang="en-US" sz="1800" b="1" i="0" dirty="0">
                <a:solidFill>
                  <a:srgbClr val="FF0000"/>
                </a:solidFill>
                <a:effectLst/>
                <a:latin typeface="PingFang SC"/>
              </a:rPr>
              <a:t>在不停的扛着大并发的访问量，当这个热点数据在缓存中</a:t>
            </a:r>
            <a:r>
              <a:rPr lang="zh-CN" altLang="en-US" sz="1800" b="1" i="0" dirty="0">
                <a:solidFill>
                  <a:srgbClr val="FF0000"/>
                </a:solidFill>
                <a:effectLst/>
                <a:latin typeface="PingFang SC"/>
              </a:rPr>
              <a:t>过期而失效的时候，大量的并发访问就会穿破缓存，转移到数据库上面</a:t>
            </a:r>
            <a:r>
              <a:rPr lang="zh-CN" altLang="en-US" sz="1800" b="0" i="0" dirty="0">
                <a:solidFill>
                  <a:srgbClr val="5E5E5E"/>
                </a:solidFill>
                <a:effectLst/>
                <a:latin typeface="PingFang SC"/>
              </a:rPr>
              <a:t>，就像在缓存上开了一个洞，所以叫击穿。</a:t>
            </a:r>
            <a:endParaRPr lang="en-US" altLang="zh-CN" sz="1800" b="0" i="0" dirty="0">
              <a:solidFill>
                <a:srgbClr val="5E5E5E"/>
              </a:solidFill>
              <a:effectLst/>
              <a:latin typeface="PingFang SC"/>
            </a:endParaRPr>
          </a:p>
          <a:p>
            <a:pPr>
              <a:lnSpc>
                <a:spcPts val="2500"/>
              </a:lnSpc>
            </a:pPr>
            <a:endParaRPr lang="en-US" altLang="zh-CN" sz="1800" dirty="0">
              <a:solidFill>
                <a:srgbClr val="333333"/>
              </a:solidFill>
              <a:latin typeface="Open Sans"/>
            </a:endParaRPr>
          </a:p>
          <a:p>
            <a:pPr>
              <a:lnSpc>
                <a:spcPts val="2500"/>
              </a:lnSpc>
            </a:pPr>
            <a:r>
              <a:rPr lang="zh-CN" altLang="en-US" sz="1800" dirty="0">
                <a:solidFill>
                  <a:srgbClr val="FF0000"/>
                </a:solidFill>
                <a:latin typeface="Open Sans"/>
              </a:rPr>
              <a:t>总结</a:t>
            </a:r>
            <a:r>
              <a:rPr lang="zh-CN" altLang="en-US" sz="1800" dirty="0">
                <a:solidFill>
                  <a:srgbClr val="333333"/>
                </a:solidFill>
                <a:latin typeface="Open Sans"/>
              </a:rPr>
              <a:t>：</a:t>
            </a:r>
            <a:r>
              <a:rPr lang="zh-CN" altLang="en-US" sz="1800" b="0" i="0" dirty="0">
                <a:solidFill>
                  <a:srgbClr val="333333"/>
                </a:solidFill>
                <a:effectLst/>
                <a:latin typeface="PingFang SC"/>
              </a:rPr>
              <a:t>当热点数据</a:t>
            </a:r>
            <a:r>
              <a:rPr lang="en-US" altLang="zh-CN" sz="1800" b="0" i="0" dirty="0">
                <a:solidFill>
                  <a:srgbClr val="333333"/>
                </a:solidFill>
                <a:effectLst/>
                <a:latin typeface="PingFang SC"/>
              </a:rPr>
              <a:t>key</a:t>
            </a:r>
            <a:r>
              <a:rPr lang="zh-CN" altLang="en-US" sz="1800" b="0" i="0" dirty="0">
                <a:solidFill>
                  <a:srgbClr val="333333"/>
                </a:solidFill>
                <a:effectLst/>
                <a:latin typeface="PingFang SC"/>
              </a:rPr>
              <a:t>从缓存内失效时，大量访问同时请求这个数据，就会将查询下沉到数据库层，此时数据库层的负载压力会骤增，我们称这种现象为</a:t>
            </a:r>
            <a:r>
              <a:rPr lang="en-US" altLang="zh-CN" sz="1800" b="0" i="0" dirty="0">
                <a:solidFill>
                  <a:srgbClr val="333333"/>
                </a:solidFill>
                <a:effectLst/>
                <a:latin typeface="PingFang SC"/>
              </a:rPr>
              <a:t>"</a:t>
            </a:r>
            <a:r>
              <a:rPr lang="zh-CN" altLang="en-US" sz="1800" b="0" i="0" dirty="0">
                <a:solidFill>
                  <a:srgbClr val="333333"/>
                </a:solidFill>
                <a:effectLst/>
                <a:latin typeface="PingFang SC"/>
              </a:rPr>
              <a:t>缓存击穿</a:t>
            </a:r>
            <a:r>
              <a:rPr lang="en-US" altLang="zh-CN" sz="1800" b="0" i="0" dirty="0">
                <a:solidFill>
                  <a:srgbClr val="333333"/>
                </a:solidFill>
                <a:effectLst/>
                <a:latin typeface="PingFang SC"/>
              </a:rPr>
              <a:t>"</a:t>
            </a:r>
            <a:r>
              <a:rPr lang="zh-CN" altLang="en-US" sz="1800" b="0" i="0" dirty="0">
                <a:solidFill>
                  <a:srgbClr val="333333"/>
                </a:solidFill>
                <a:effectLst/>
                <a:latin typeface="PingFang SC"/>
              </a:rPr>
              <a:t>。</a:t>
            </a:r>
            <a:endParaRPr lang="en-US" altLang="zh-CN" sz="1800" dirty="0">
              <a:solidFill>
                <a:srgbClr val="333333"/>
              </a:solidFill>
              <a:latin typeface="Open Sans"/>
            </a:endParaRPr>
          </a:p>
          <a:p>
            <a:pPr>
              <a:lnSpc>
                <a:spcPts val="2500"/>
              </a:lnSpc>
            </a:pPr>
            <a:endParaRPr lang="en-US" altLang="zh-CN" sz="1600" dirty="0">
              <a:solidFill>
                <a:srgbClr val="FF0000"/>
              </a:solidFill>
              <a:latin typeface="Open Sans"/>
            </a:endParaRPr>
          </a:p>
          <a:p>
            <a:pPr>
              <a:lnSpc>
                <a:spcPts val="2500"/>
              </a:lnSpc>
            </a:pPr>
            <a:endParaRPr lang="zh-CN" altLang="en-US" sz="1600" b="0" i="0" dirty="0">
              <a:solidFill>
                <a:srgbClr val="333333"/>
              </a:solidFill>
              <a:effectLst/>
              <a:latin typeface="Open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4" name="矩形 3"/>
          <p:cNvSpPr/>
          <p:nvPr/>
        </p:nvSpPr>
        <p:spPr>
          <a:xfrm>
            <a:off x="859155" y="1572260"/>
            <a:ext cx="1104900" cy="412115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client</a:t>
            </a: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a:xfrm>
            <a:off x="7119620" y="1502410"/>
            <a:ext cx="1104900" cy="4399280"/>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MySQL</a:t>
            </a: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8" name="圆角矩形 7"/>
          <p:cNvSpPr/>
          <p:nvPr/>
        </p:nvSpPr>
        <p:spPr>
          <a:xfrm>
            <a:off x="3824605" y="2279015"/>
            <a:ext cx="1841500" cy="203073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 </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Redis</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cxnSp>
        <p:nvCxnSpPr>
          <p:cNvPr id="9" name="直接箭头连接符 8"/>
          <p:cNvCxnSpPr/>
          <p:nvPr/>
        </p:nvCxnSpPr>
        <p:spPr>
          <a:xfrm>
            <a:off x="2044065" y="2457450"/>
            <a:ext cx="1761490" cy="2984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0" name="直接箭头连接符 9"/>
          <p:cNvCxnSpPr/>
          <p:nvPr/>
        </p:nvCxnSpPr>
        <p:spPr>
          <a:xfrm flipH="1">
            <a:off x="1969135" y="2577465"/>
            <a:ext cx="1816735" cy="952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1" name="直接箭头连接符 10"/>
          <p:cNvCxnSpPr/>
          <p:nvPr/>
        </p:nvCxnSpPr>
        <p:spPr>
          <a:xfrm>
            <a:off x="2004060" y="299466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2" name="直接箭头连接符 11"/>
          <p:cNvCxnSpPr/>
          <p:nvPr/>
        </p:nvCxnSpPr>
        <p:spPr>
          <a:xfrm>
            <a:off x="2044065" y="358267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3" name="直接箭头连接符 12"/>
          <p:cNvCxnSpPr/>
          <p:nvPr/>
        </p:nvCxnSpPr>
        <p:spPr>
          <a:xfrm>
            <a:off x="2023110" y="413004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4" name="直接箭头连接符 13"/>
          <p:cNvCxnSpPr/>
          <p:nvPr/>
        </p:nvCxnSpPr>
        <p:spPr>
          <a:xfrm flipH="1">
            <a:off x="2003425" y="307467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5" name="直接箭头连接符 14"/>
          <p:cNvCxnSpPr/>
          <p:nvPr/>
        </p:nvCxnSpPr>
        <p:spPr>
          <a:xfrm flipH="1">
            <a:off x="2003425" y="370078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6" name="直接箭头连接符 15"/>
          <p:cNvCxnSpPr/>
          <p:nvPr/>
        </p:nvCxnSpPr>
        <p:spPr>
          <a:xfrm flipH="1">
            <a:off x="2013585" y="4229100"/>
            <a:ext cx="1781810" cy="1016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7" name="文本框 16"/>
          <p:cNvSpPr txBox="1"/>
          <p:nvPr/>
        </p:nvSpPr>
        <p:spPr>
          <a:xfrm>
            <a:off x="2396490" y="2089150"/>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sp>
        <p:nvSpPr>
          <p:cNvPr id="18" name="文本框 17"/>
          <p:cNvSpPr txBox="1"/>
          <p:nvPr/>
        </p:nvSpPr>
        <p:spPr>
          <a:xfrm>
            <a:off x="2397760" y="2646680"/>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sp>
        <p:nvSpPr>
          <p:cNvPr id="19" name="文本框 18"/>
          <p:cNvSpPr txBox="1"/>
          <p:nvPr/>
        </p:nvSpPr>
        <p:spPr>
          <a:xfrm>
            <a:off x="2397760" y="3236595"/>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sp>
        <p:nvSpPr>
          <p:cNvPr id="20" name="文本框 19"/>
          <p:cNvSpPr txBox="1"/>
          <p:nvPr/>
        </p:nvSpPr>
        <p:spPr>
          <a:xfrm>
            <a:off x="2386965" y="3826510"/>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cxnSp>
        <p:nvCxnSpPr>
          <p:cNvPr id="21" name="直接箭头连接符 20"/>
          <p:cNvCxnSpPr/>
          <p:nvPr/>
        </p:nvCxnSpPr>
        <p:spPr>
          <a:xfrm flipV="1">
            <a:off x="2033905" y="4757420"/>
            <a:ext cx="5066030" cy="10160"/>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22" name="直接箭头连接符 21"/>
          <p:cNvCxnSpPr/>
          <p:nvPr/>
        </p:nvCxnSpPr>
        <p:spPr>
          <a:xfrm flipV="1">
            <a:off x="2009140" y="5066030"/>
            <a:ext cx="5066030" cy="1016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23" name="直接箭头连接符 22"/>
          <p:cNvCxnSpPr/>
          <p:nvPr/>
        </p:nvCxnSpPr>
        <p:spPr>
          <a:xfrm flipV="1">
            <a:off x="2028825" y="5422265"/>
            <a:ext cx="5066030" cy="10160"/>
          </a:xfrm>
          <a:prstGeom prst="straightConnector1">
            <a:avLst/>
          </a:prstGeom>
          <a:ln>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24" name="直接箭头连接符 23"/>
          <p:cNvCxnSpPr/>
          <p:nvPr/>
        </p:nvCxnSpPr>
        <p:spPr>
          <a:xfrm flipV="1">
            <a:off x="2028825" y="5643245"/>
            <a:ext cx="5066030" cy="10160"/>
          </a:xfrm>
          <a:prstGeom prst="straightConnector1">
            <a:avLst/>
          </a:prstGeom>
          <a:ln>
            <a:headEnd type="none" w="med" len="med"/>
            <a:tailEnd type="arrow" w="med" len="med"/>
          </a:ln>
        </p:spPr>
        <p:style>
          <a:lnRef idx="3">
            <a:schemeClr val="accent5"/>
          </a:lnRef>
          <a:fillRef idx="0">
            <a:schemeClr val="accent5"/>
          </a:fillRef>
          <a:effectRef idx="2">
            <a:schemeClr val="accent5"/>
          </a:effectRef>
          <a:fontRef idx="minor">
            <a:schemeClr val="tx1"/>
          </a:fontRef>
        </p:style>
      </p:cxnSp>
      <p:sp>
        <p:nvSpPr>
          <p:cNvPr id="25" name="文本框 24"/>
          <p:cNvSpPr txBox="1"/>
          <p:nvPr/>
        </p:nvSpPr>
        <p:spPr>
          <a:xfrm>
            <a:off x="590550" y="347980"/>
            <a:ext cx="8441055" cy="368300"/>
          </a:xfrm>
          <a:prstGeom prst="rect">
            <a:avLst/>
          </a:prstGeom>
          <a:noFill/>
        </p:spPr>
        <p:txBody>
          <a:bodyPr wrap="square" rtlCol="0">
            <a:spAutoFit/>
          </a:bodyPr>
          <a:p>
            <a:r>
              <a:rPr lang="zh-CN" altLang="en-US"/>
              <a:t>热点的</a:t>
            </a:r>
            <a:r>
              <a:rPr lang="en-US" altLang="zh-CN"/>
              <a:t>key</a:t>
            </a:r>
            <a:r>
              <a:rPr lang="zh-CN" altLang="en-US"/>
              <a:t>值过期，导致客户端的访问必须到</a:t>
            </a:r>
            <a:r>
              <a:rPr lang="en-US" altLang="zh-CN"/>
              <a:t>MySQL</a:t>
            </a:r>
            <a:r>
              <a:rPr lang="zh-CN" altLang="en-US"/>
              <a:t>数据库中，增加数据库的负担</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509118" y="1464816"/>
            <a:ext cx="8770581" cy="2335530"/>
          </a:xfrm>
          <a:prstGeom prst="rect">
            <a:avLst/>
          </a:prstGeom>
          <a:noFill/>
        </p:spPr>
        <p:txBody>
          <a:bodyPr wrap="square" rtlCol="0">
            <a:spAutoFit/>
          </a:bodyPr>
          <a:lstStyle/>
          <a:p>
            <a:pPr>
              <a:lnSpc>
                <a:spcPts val="2500"/>
              </a:lnSpc>
            </a:pPr>
            <a:r>
              <a:rPr lang="zh-CN" altLang="en-US" b="1" i="0" dirty="0">
                <a:solidFill>
                  <a:srgbClr val="FF0000"/>
                </a:solidFill>
                <a:effectLst/>
                <a:latin typeface="Open Sans"/>
              </a:rPr>
              <a:t>缓存击穿</a:t>
            </a:r>
            <a:r>
              <a:rPr lang="zh-CN" altLang="en-US" b="1" dirty="0">
                <a:solidFill>
                  <a:srgbClr val="FF0000"/>
                </a:solidFill>
                <a:latin typeface="Open Sans"/>
              </a:rPr>
              <a:t>解决方法：</a:t>
            </a:r>
            <a:endParaRPr lang="en-US" altLang="zh-CN" b="1" dirty="0">
              <a:solidFill>
                <a:srgbClr val="FF0000"/>
              </a:solidFill>
              <a:latin typeface="Open Sans"/>
            </a:endParaRPr>
          </a:p>
          <a:p>
            <a:pPr>
              <a:lnSpc>
                <a:spcPts val="2500"/>
              </a:lnSpc>
            </a:pPr>
            <a:endParaRPr lang="en-US" altLang="zh-CN" sz="1600" dirty="0">
              <a:solidFill>
                <a:srgbClr val="5E5E5E"/>
              </a:solidFill>
              <a:latin typeface="PingFang SC"/>
            </a:endParaRPr>
          </a:p>
          <a:p>
            <a:pPr algn="l">
              <a:lnSpc>
                <a:spcPts val="2500"/>
              </a:lnSpc>
            </a:pPr>
            <a:r>
              <a:rPr lang="en-US" altLang="zh-CN" sz="1800" dirty="0">
                <a:solidFill>
                  <a:srgbClr val="5E5E5E"/>
                </a:solidFill>
                <a:latin typeface="PingFang SC"/>
              </a:rPr>
              <a:t>1</a:t>
            </a:r>
            <a:r>
              <a:rPr lang="zh-CN" altLang="en-US" sz="1800" dirty="0">
                <a:solidFill>
                  <a:srgbClr val="5E5E5E"/>
                </a:solidFill>
                <a:latin typeface="PingFang SC"/>
              </a:rPr>
              <a:t>、延长热点</a:t>
            </a:r>
            <a:r>
              <a:rPr lang="en-US" altLang="zh-CN" sz="1800" dirty="0">
                <a:solidFill>
                  <a:srgbClr val="5E5E5E"/>
                </a:solidFill>
                <a:latin typeface="PingFang SC"/>
              </a:rPr>
              <a:t>key</a:t>
            </a:r>
            <a:r>
              <a:rPr lang="zh-CN" altLang="en-US" sz="1800" dirty="0">
                <a:solidFill>
                  <a:srgbClr val="5E5E5E"/>
                </a:solidFill>
                <a:latin typeface="PingFang SC"/>
              </a:rPr>
              <a:t>的过期时间或者设置永不过期，如排行榜，首页等；</a:t>
            </a:r>
            <a:endParaRPr lang="en-US" altLang="zh-CN" sz="1800" dirty="0">
              <a:solidFill>
                <a:srgbClr val="5E5E5E"/>
              </a:solidFill>
              <a:latin typeface="PingFang SC"/>
            </a:endParaRPr>
          </a:p>
          <a:p>
            <a:pPr algn="l">
              <a:lnSpc>
                <a:spcPts val="2500"/>
              </a:lnSpc>
            </a:pPr>
            <a:endParaRPr lang="zh-CN" altLang="en-US" sz="1800" dirty="0">
              <a:solidFill>
                <a:srgbClr val="5E5E5E"/>
              </a:solidFill>
              <a:latin typeface="PingFang SC"/>
            </a:endParaRPr>
          </a:p>
          <a:p>
            <a:pPr algn="l">
              <a:lnSpc>
                <a:spcPts val="2500"/>
              </a:lnSpc>
            </a:pPr>
            <a:r>
              <a:rPr lang="en-US" altLang="zh-CN" sz="1800" dirty="0">
                <a:solidFill>
                  <a:srgbClr val="5E5E5E"/>
                </a:solidFill>
                <a:latin typeface="PingFang SC"/>
              </a:rPr>
              <a:t>2</a:t>
            </a:r>
            <a:r>
              <a:rPr lang="zh-CN" altLang="en-US" sz="1800" dirty="0">
                <a:solidFill>
                  <a:srgbClr val="5E5E5E"/>
                </a:solidFill>
                <a:latin typeface="PingFang SC"/>
              </a:rPr>
              <a:t>、利用互斥锁保证同一时刻只有一个客户端可以查询底层数据库的这个数据，一旦查到数据就缓存至</a:t>
            </a:r>
            <a:r>
              <a:rPr lang="en-US" altLang="zh-CN" sz="1800" dirty="0">
                <a:solidFill>
                  <a:srgbClr val="5E5E5E"/>
                </a:solidFill>
                <a:latin typeface="PingFang SC"/>
              </a:rPr>
              <a:t>Redis</a:t>
            </a:r>
            <a:r>
              <a:rPr lang="zh-CN" altLang="en-US" sz="1800" dirty="0">
                <a:solidFill>
                  <a:srgbClr val="5E5E5E"/>
                </a:solidFill>
                <a:latin typeface="PingFang SC"/>
              </a:rPr>
              <a:t>内，避免其他大量请求同时穿过</a:t>
            </a:r>
            <a:r>
              <a:rPr lang="en-US" altLang="zh-CN" sz="1800" dirty="0">
                <a:solidFill>
                  <a:srgbClr val="5E5E5E"/>
                </a:solidFill>
                <a:latin typeface="PingFang SC"/>
              </a:rPr>
              <a:t>Redis</a:t>
            </a:r>
            <a:r>
              <a:rPr lang="zh-CN" altLang="en-US" sz="1800" dirty="0">
                <a:solidFill>
                  <a:srgbClr val="5E5E5E"/>
                </a:solidFill>
                <a:latin typeface="PingFang SC"/>
              </a:rPr>
              <a:t>访问底层数据库；</a:t>
            </a:r>
            <a:endParaRPr lang="zh-CN" altLang="en-US" sz="1800" dirty="0">
              <a:solidFill>
                <a:srgbClr val="5E5E5E"/>
              </a:solidFill>
              <a:latin typeface="PingFang SC"/>
            </a:endParaRPr>
          </a:p>
          <a:p>
            <a:pPr>
              <a:lnSpc>
                <a:spcPts val="2500"/>
              </a:lnSpc>
            </a:pPr>
            <a:endParaRPr lang="zh-CN" altLang="en-US" sz="1800" b="0" i="0" dirty="0">
              <a:solidFill>
                <a:srgbClr val="333333"/>
              </a:solidFill>
              <a:effectLst/>
              <a:latin typeface="Open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630416" y="1484633"/>
            <a:ext cx="8078578" cy="5202706"/>
          </a:xfrm>
          <a:prstGeom prst="rect">
            <a:avLst/>
          </a:prstGeom>
          <a:noFill/>
        </p:spPr>
        <p:txBody>
          <a:bodyPr wrap="square" rtlCol="0">
            <a:spAutoFit/>
          </a:bodyPr>
          <a:lstStyle/>
          <a:p>
            <a:pPr>
              <a:lnSpc>
                <a:spcPts val="2500"/>
              </a:lnSpc>
            </a:pPr>
            <a:r>
              <a:rPr lang="zh-CN" altLang="en-US" b="1" i="0" dirty="0">
                <a:solidFill>
                  <a:srgbClr val="FF0000"/>
                </a:solidFill>
                <a:effectLst/>
                <a:latin typeface="Open Sans"/>
              </a:rPr>
              <a:t>缓存穿透：</a:t>
            </a:r>
            <a:endParaRPr lang="en-US" altLang="zh-CN" b="1" i="0" dirty="0">
              <a:solidFill>
                <a:srgbClr val="FF0000"/>
              </a:solidFill>
              <a:effectLst/>
              <a:latin typeface="Open Sans"/>
            </a:endParaRPr>
          </a:p>
          <a:p>
            <a:pPr>
              <a:lnSpc>
                <a:spcPts val="2500"/>
              </a:lnSpc>
            </a:pPr>
            <a:endParaRPr lang="en-US" altLang="zh-CN" b="1" i="0" dirty="0">
              <a:solidFill>
                <a:srgbClr val="FF0000"/>
              </a:solidFill>
              <a:effectLst/>
              <a:latin typeface="Open Sans"/>
            </a:endParaRPr>
          </a:p>
          <a:p>
            <a:pPr>
              <a:lnSpc>
                <a:spcPts val="2500"/>
              </a:lnSpc>
            </a:pPr>
            <a:r>
              <a:rPr lang="zh-CN" altLang="en-US" b="0" i="0" dirty="0">
                <a:solidFill>
                  <a:srgbClr val="5E5E5E"/>
                </a:solidFill>
                <a:effectLst/>
                <a:latin typeface="PingFang SC"/>
              </a:rPr>
              <a:t>假如用户要访问的数据并</a:t>
            </a:r>
            <a:r>
              <a:rPr lang="zh-CN" altLang="en-US" b="0" i="0" dirty="0">
                <a:solidFill>
                  <a:srgbClr val="FF0000"/>
                </a:solidFill>
                <a:effectLst/>
                <a:latin typeface="PingFang SC"/>
              </a:rPr>
              <a:t>不存在</a:t>
            </a:r>
            <a:r>
              <a:rPr lang="zh-CN" altLang="en-US" b="0" i="0" dirty="0">
                <a:solidFill>
                  <a:srgbClr val="5E5E5E"/>
                </a:solidFill>
                <a:effectLst/>
                <a:latin typeface="PingFang SC"/>
              </a:rPr>
              <a:t>（缓存和数据库中都没有），这样每次先到缓存中查找，再到数据库中查找，</a:t>
            </a:r>
            <a:r>
              <a:rPr lang="zh-CN" altLang="en-US" dirty="0">
                <a:solidFill>
                  <a:srgbClr val="5E5E5E"/>
                </a:solidFill>
                <a:latin typeface="PingFang SC"/>
              </a:rPr>
              <a:t>由于数据并不存在，也就无法将该数据写入到缓存中</a:t>
            </a:r>
            <a:r>
              <a:rPr lang="en-US" altLang="zh-CN" dirty="0">
                <a:solidFill>
                  <a:srgbClr val="5E5E5E"/>
                </a:solidFill>
                <a:latin typeface="PingFang SC"/>
              </a:rPr>
              <a:t>,</a:t>
            </a:r>
            <a:r>
              <a:rPr lang="zh-CN" altLang="en-US" dirty="0">
                <a:solidFill>
                  <a:srgbClr val="5E5E5E"/>
                </a:solidFill>
                <a:latin typeface="PingFang SC"/>
              </a:rPr>
              <a:t>那么每次对该数据的查询都会去查询一次数据库。如果用户频繁请求这样的数据，比如用一个不存在的用户</a:t>
            </a:r>
            <a:r>
              <a:rPr lang="en-US" altLang="zh-CN" dirty="0">
                <a:solidFill>
                  <a:srgbClr val="5E5E5E"/>
                </a:solidFill>
                <a:latin typeface="PingFang SC"/>
              </a:rPr>
              <a:t>id</a:t>
            </a:r>
            <a:r>
              <a:rPr lang="zh-CN" altLang="en-US" dirty="0">
                <a:solidFill>
                  <a:srgbClr val="5E5E5E"/>
                </a:solidFill>
                <a:latin typeface="PingFang SC"/>
              </a:rPr>
              <a:t>获取用户信息，不论缓存还是数据库都没有，会导致数据库压力过大，若黑客利用此漏洞进行攻击可能压垮数据库。</a:t>
            </a:r>
            <a:endParaRPr lang="en-US" altLang="zh-CN" dirty="0">
              <a:solidFill>
                <a:srgbClr val="5E5E5E"/>
              </a:solidFill>
              <a:latin typeface="PingFang SC"/>
            </a:endParaRPr>
          </a:p>
          <a:p>
            <a:pPr>
              <a:lnSpc>
                <a:spcPts val="2500"/>
              </a:lnSpc>
            </a:pPr>
            <a:endParaRPr lang="en-US" altLang="zh-CN" sz="1600" dirty="0">
              <a:solidFill>
                <a:srgbClr val="333333"/>
              </a:solidFill>
              <a:latin typeface="Open Sans"/>
            </a:endParaRPr>
          </a:p>
          <a:p>
            <a:pPr>
              <a:lnSpc>
                <a:spcPts val="2500"/>
              </a:lnSpc>
            </a:pPr>
            <a:r>
              <a:rPr lang="zh-CN" altLang="en-US" sz="1600" b="0" i="0" dirty="0">
                <a:solidFill>
                  <a:srgbClr val="FF0000"/>
                </a:solidFill>
                <a:effectLst/>
                <a:latin typeface="Open Sans"/>
              </a:rPr>
              <a:t>总结：</a:t>
            </a:r>
            <a:r>
              <a:rPr lang="zh-CN" altLang="en-US" dirty="0">
                <a:solidFill>
                  <a:srgbClr val="5E5E5E"/>
                </a:solidFill>
                <a:latin typeface="PingFang SC"/>
              </a:rPr>
              <a:t>要查询的数据不存在</a:t>
            </a:r>
            <a:r>
              <a:rPr lang="en-US" altLang="zh-CN" dirty="0">
                <a:solidFill>
                  <a:srgbClr val="5E5E5E"/>
                </a:solidFill>
                <a:latin typeface="PingFang SC"/>
              </a:rPr>
              <a:t>,</a:t>
            </a:r>
            <a:r>
              <a:rPr lang="zh-CN" altLang="en-US" dirty="0">
                <a:solidFill>
                  <a:srgbClr val="5E5E5E"/>
                </a:solidFill>
                <a:latin typeface="PingFang SC"/>
              </a:rPr>
              <a:t>缓存无法命中所以需要查询完数据库</a:t>
            </a:r>
            <a:r>
              <a:rPr lang="en-US" altLang="zh-CN" dirty="0">
                <a:solidFill>
                  <a:srgbClr val="5E5E5E"/>
                </a:solidFill>
                <a:latin typeface="PingFang SC"/>
              </a:rPr>
              <a:t>,</a:t>
            </a:r>
            <a:r>
              <a:rPr lang="zh-CN" altLang="en-US" dirty="0">
                <a:solidFill>
                  <a:srgbClr val="5E5E5E"/>
                </a:solidFill>
                <a:latin typeface="PingFang SC"/>
              </a:rPr>
              <a:t>但是数据是不存在的</a:t>
            </a:r>
            <a:r>
              <a:rPr lang="en-US" altLang="zh-CN" dirty="0">
                <a:solidFill>
                  <a:srgbClr val="5E5E5E"/>
                </a:solidFill>
                <a:latin typeface="PingFang SC"/>
              </a:rPr>
              <a:t>,</a:t>
            </a:r>
            <a:r>
              <a:rPr lang="zh-CN" altLang="en-US" dirty="0">
                <a:solidFill>
                  <a:srgbClr val="5E5E5E"/>
                </a:solidFill>
                <a:latin typeface="PingFang SC"/>
              </a:rPr>
              <a:t>此时数据库肯定会返回空</a:t>
            </a:r>
            <a:r>
              <a:rPr lang="en-US" altLang="zh-CN" dirty="0">
                <a:solidFill>
                  <a:srgbClr val="5E5E5E"/>
                </a:solidFill>
                <a:latin typeface="PingFang SC"/>
              </a:rPr>
              <a:t>,</a:t>
            </a:r>
            <a:r>
              <a:rPr lang="zh-CN" altLang="en-US" dirty="0">
                <a:solidFill>
                  <a:srgbClr val="5E5E5E"/>
                </a:solidFill>
                <a:latin typeface="PingFang SC"/>
              </a:rPr>
              <a:t>也就</a:t>
            </a:r>
            <a:r>
              <a:rPr lang="zh-CN" altLang="en-US" dirty="0">
                <a:solidFill>
                  <a:srgbClr val="FF0000"/>
                </a:solidFill>
                <a:latin typeface="PingFang SC"/>
              </a:rPr>
              <a:t>不会记录到缓存中</a:t>
            </a:r>
            <a:r>
              <a:rPr lang="en-US" altLang="zh-CN" dirty="0">
                <a:solidFill>
                  <a:srgbClr val="5E5E5E"/>
                </a:solidFill>
                <a:latin typeface="PingFang SC"/>
              </a:rPr>
              <a:t>,</a:t>
            </a:r>
            <a:r>
              <a:rPr lang="zh-CN" altLang="en-US" dirty="0">
                <a:solidFill>
                  <a:srgbClr val="5E5E5E"/>
                </a:solidFill>
                <a:latin typeface="PingFang SC"/>
              </a:rPr>
              <a:t>这样每次对该数据的查询都会</a:t>
            </a:r>
            <a:r>
              <a:rPr lang="zh-CN" altLang="en-US" dirty="0">
                <a:solidFill>
                  <a:srgbClr val="FF0000"/>
                </a:solidFill>
                <a:latin typeface="PingFang SC"/>
              </a:rPr>
              <a:t>穿过缓存去查询一次数据库</a:t>
            </a:r>
            <a:r>
              <a:rPr lang="zh-CN" altLang="en-US" dirty="0">
                <a:solidFill>
                  <a:srgbClr val="5E5E5E"/>
                </a:solidFill>
                <a:latin typeface="PingFang SC"/>
              </a:rPr>
              <a:t>。</a:t>
            </a:r>
            <a:endParaRPr lang="en-US" altLang="zh-CN" dirty="0">
              <a:solidFill>
                <a:srgbClr val="5E5E5E"/>
              </a:solidFill>
              <a:latin typeface="PingFang SC"/>
            </a:endParaRPr>
          </a:p>
          <a:p>
            <a:pPr>
              <a:lnSpc>
                <a:spcPts val="2500"/>
              </a:lnSpc>
            </a:pPr>
            <a:endParaRPr lang="en-US" altLang="zh-CN" dirty="0">
              <a:solidFill>
                <a:srgbClr val="5E5E5E"/>
              </a:solidFill>
              <a:latin typeface="PingFang SC"/>
            </a:endParaRPr>
          </a:p>
          <a:p>
            <a:pPr>
              <a:lnSpc>
                <a:spcPts val="2500"/>
              </a:lnSpc>
            </a:pPr>
            <a:r>
              <a:rPr lang="zh-CN" altLang="en-US" sz="1800" b="0" i="0" dirty="0">
                <a:solidFill>
                  <a:srgbClr val="333333"/>
                </a:solidFill>
                <a:effectLst/>
                <a:latin typeface="PingFang SC"/>
              </a:rPr>
              <a:t>缓存击穿和缓存穿透从名词上可能很难区分开来，它们的区别是：穿透表示底层数据库没有数据且缓存内也没有数据，击穿表示底层数据库有数据而缓存内没有数据。</a:t>
            </a:r>
            <a:endParaRPr lang="en-US" altLang="zh-CN" sz="1800" dirty="0">
              <a:solidFill>
                <a:srgbClr val="333333"/>
              </a:solidFill>
              <a:latin typeface="Open Sans"/>
            </a:endParaRPr>
          </a:p>
          <a:p>
            <a:pPr>
              <a:lnSpc>
                <a:spcPts val="2500"/>
              </a:lnSpc>
            </a:pPr>
            <a:endParaRPr lang="en-US" altLang="zh-CN" dirty="0">
              <a:solidFill>
                <a:srgbClr val="5E5E5E"/>
              </a:solidFill>
              <a:latin typeface="PingFang SC"/>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4" name="矩形 3"/>
          <p:cNvSpPr/>
          <p:nvPr/>
        </p:nvSpPr>
        <p:spPr>
          <a:xfrm>
            <a:off x="859155" y="1572260"/>
            <a:ext cx="1104900" cy="412115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client</a:t>
            </a:r>
            <a:endParaRPr kumimoji="0" lang="en-US" altLang="zh-CN" sz="32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a:xfrm>
            <a:off x="7119620" y="1502410"/>
            <a:ext cx="1104900" cy="4399280"/>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MySQL</a:t>
            </a:r>
            <a:endParaRPr kumimoji="0" lang="en-US" altLang="zh-CN" sz="24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8" name="圆角矩形 7"/>
          <p:cNvSpPr/>
          <p:nvPr/>
        </p:nvSpPr>
        <p:spPr>
          <a:xfrm>
            <a:off x="3824605" y="2279015"/>
            <a:ext cx="1841500" cy="2030730"/>
          </a:xfrm>
          <a:prstGeom prst="round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 </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Tx/>
              <a:buNone/>
            </a:pPr>
            <a:r>
              <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Redis</a:t>
            </a:r>
            <a:endParaRPr kumimoji="0" lang="en-US" altLang="zh-CN" sz="4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cxnSp>
        <p:nvCxnSpPr>
          <p:cNvPr id="9" name="直接箭头连接符 8"/>
          <p:cNvCxnSpPr/>
          <p:nvPr/>
        </p:nvCxnSpPr>
        <p:spPr>
          <a:xfrm>
            <a:off x="2044065" y="2457450"/>
            <a:ext cx="1761490" cy="29845"/>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11" name="直接箭头连接符 10"/>
          <p:cNvCxnSpPr/>
          <p:nvPr/>
        </p:nvCxnSpPr>
        <p:spPr>
          <a:xfrm>
            <a:off x="2004060" y="299466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2" name="直接箭头连接符 11"/>
          <p:cNvCxnSpPr/>
          <p:nvPr/>
        </p:nvCxnSpPr>
        <p:spPr>
          <a:xfrm>
            <a:off x="2044065" y="3582670"/>
            <a:ext cx="1801495" cy="20320"/>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2023110" y="4130040"/>
            <a:ext cx="1801495" cy="2032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7" name="文本框 16"/>
          <p:cNvSpPr txBox="1"/>
          <p:nvPr/>
        </p:nvSpPr>
        <p:spPr>
          <a:xfrm>
            <a:off x="2396490" y="2089150"/>
            <a:ext cx="1054735" cy="368300"/>
          </a:xfrm>
          <a:prstGeom prst="rect">
            <a:avLst/>
          </a:prstGeom>
          <a:noFill/>
        </p:spPr>
        <p:txBody>
          <a:bodyPr wrap="square" rtlCol="0">
            <a:spAutoFit/>
          </a:bodyPr>
          <a:p>
            <a:r>
              <a:rPr lang="en-US" altLang="zh-CN">
                <a:solidFill>
                  <a:srgbClr val="FF0000"/>
                </a:solidFill>
              </a:rPr>
              <a:t>key1</a:t>
            </a:r>
            <a:endParaRPr lang="en-US" altLang="zh-CN">
              <a:solidFill>
                <a:srgbClr val="FF0000"/>
              </a:solidFill>
            </a:endParaRPr>
          </a:p>
        </p:txBody>
      </p:sp>
      <p:sp>
        <p:nvSpPr>
          <p:cNvPr id="18" name="文本框 17"/>
          <p:cNvSpPr txBox="1"/>
          <p:nvPr/>
        </p:nvSpPr>
        <p:spPr>
          <a:xfrm>
            <a:off x="2397760" y="2646680"/>
            <a:ext cx="1054735" cy="368300"/>
          </a:xfrm>
          <a:prstGeom prst="rect">
            <a:avLst/>
          </a:prstGeom>
          <a:noFill/>
        </p:spPr>
        <p:txBody>
          <a:bodyPr wrap="square" rtlCol="0">
            <a:spAutoFit/>
          </a:bodyPr>
          <a:p>
            <a:r>
              <a:rPr lang="en-US" altLang="zh-CN"/>
              <a:t>key2</a:t>
            </a:r>
            <a:endParaRPr lang="en-US" altLang="zh-CN"/>
          </a:p>
        </p:txBody>
      </p:sp>
      <p:sp>
        <p:nvSpPr>
          <p:cNvPr id="19" name="文本框 18"/>
          <p:cNvSpPr txBox="1"/>
          <p:nvPr/>
        </p:nvSpPr>
        <p:spPr>
          <a:xfrm>
            <a:off x="2397760" y="3236595"/>
            <a:ext cx="1054735" cy="368300"/>
          </a:xfrm>
          <a:prstGeom prst="rect">
            <a:avLst/>
          </a:prstGeom>
          <a:noFill/>
        </p:spPr>
        <p:txBody>
          <a:bodyPr wrap="square" rtlCol="0">
            <a:spAutoFit/>
          </a:bodyPr>
          <a:p>
            <a:r>
              <a:rPr lang="en-US" altLang="zh-CN">
                <a:solidFill>
                  <a:schemeClr val="accent1"/>
                </a:solidFill>
              </a:rPr>
              <a:t>key3</a:t>
            </a:r>
            <a:endParaRPr lang="en-US" altLang="zh-CN">
              <a:solidFill>
                <a:schemeClr val="accent1"/>
              </a:solidFill>
            </a:endParaRPr>
          </a:p>
        </p:txBody>
      </p:sp>
      <p:sp>
        <p:nvSpPr>
          <p:cNvPr id="20" name="文本框 19"/>
          <p:cNvSpPr txBox="1"/>
          <p:nvPr/>
        </p:nvSpPr>
        <p:spPr>
          <a:xfrm>
            <a:off x="2506980" y="4204335"/>
            <a:ext cx="1054735" cy="368300"/>
          </a:xfrm>
          <a:prstGeom prst="rect">
            <a:avLst/>
          </a:prstGeom>
          <a:noFill/>
        </p:spPr>
        <p:txBody>
          <a:bodyPr wrap="square" rtlCol="0">
            <a:spAutoFit/>
          </a:bodyPr>
          <a:p>
            <a:r>
              <a:rPr lang="en-US" altLang="zh-CN">
                <a:solidFill>
                  <a:schemeClr val="accent2"/>
                </a:solidFill>
              </a:rPr>
              <a:t>key4</a:t>
            </a:r>
            <a:endParaRPr lang="en-US" altLang="zh-CN">
              <a:solidFill>
                <a:schemeClr val="accent2"/>
              </a:solidFill>
            </a:endParaRPr>
          </a:p>
        </p:txBody>
      </p:sp>
      <p:cxnSp>
        <p:nvCxnSpPr>
          <p:cNvPr id="21" name="直接箭头连接符 20"/>
          <p:cNvCxnSpPr/>
          <p:nvPr/>
        </p:nvCxnSpPr>
        <p:spPr>
          <a:xfrm flipV="1">
            <a:off x="2023745" y="2602230"/>
            <a:ext cx="5066030" cy="10160"/>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22" name="直接箭头连接符 21"/>
          <p:cNvCxnSpPr/>
          <p:nvPr/>
        </p:nvCxnSpPr>
        <p:spPr>
          <a:xfrm flipV="1">
            <a:off x="1979295" y="3151505"/>
            <a:ext cx="5066030" cy="10160"/>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cxnSp>
        <p:nvCxnSpPr>
          <p:cNvPr id="24" name="直接箭头连接符 23"/>
          <p:cNvCxnSpPr/>
          <p:nvPr/>
        </p:nvCxnSpPr>
        <p:spPr>
          <a:xfrm flipV="1">
            <a:off x="2008505" y="4242435"/>
            <a:ext cx="5066030" cy="10160"/>
          </a:xfrm>
          <a:prstGeom prst="straightConnector1">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5" name="文本框 24"/>
          <p:cNvSpPr txBox="1"/>
          <p:nvPr/>
        </p:nvSpPr>
        <p:spPr>
          <a:xfrm>
            <a:off x="590550" y="347980"/>
            <a:ext cx="8441055" cy="645160"/>
          </a:xfrm>
          <a:prstGeom prst="rect">
            <a:avLst/>
          </a:prstGeom>
          <a:noFill/>
        </p:spPr>
        <p:txBody>
          <a:bodyPr wrap="square" rtlCol="0">
            <a:spAutoFit/>
          </a:bodyPr>
          <a:p>
            <a:r>
              <a:rPr lang="zh-CN"/>
              <a:t>数据在缓存中本身不存在，所以在</a:t>
            </a:r>
            <a:r>
              <a:rPr lang="en-US" altLang="zh-CN"/>
              <a:t>Redis</a:t>
            </a:r>
            <a:r>
              <a:rPr lang="zh-CN"/>
              <a:t>缓存中查不到，在数据库中也查不到，这样会导致数据库压力很大</a:t>
            </a:r>
            <a:endParaRPr lang="zh-CN"/>
          </a:p>
        </p:txBody>
      </p:sp>
      <p:cxnSp>
        <p:nvCxnSpPr>
          <p:cNvPr id="3" name="直接箭头连接符 2"/>
          <p:cNvCxnSpPr/>
          <p:nvPr/>
        </p:nvCxnSpPr>
        <p:spPr>
          <a:xfrm flipV="1">
            <a:off x="2028825" y="3696970"/>
            <a:ext cx="5066030" cy="10160"/>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3" name="文本框 2"/>
          <p:cNvSpPr txBox="1"/>
          <p:nvPr/>
        </p:nvSpPr>
        <p:spPr>
          <a:xfrm>
            <a:off x="630416" y="1484633"/>
            <a:ext cx="8321808" cy="4579620"/>
          </a:xfrm>
          <a:prstGeom prst="rect">
            <a:avLst/>
          </a:prstGeom>
          <a:noFill/>
        </p:spPr>
        <p:txBody>
          <a:bodyPr wrap="square" rtlCol="0">
            <a:spAutoFit/>
          </a:bodyPr>
          <a:lstStyle/>
          <a:p>
            <a:pPr>
              <a:lnSpc>
                <a:spcPts val="2500"/>
              </a:lnSpc>
            </a:pPr>
            <a:r>
              <a:rPr lang="zh-CN" altLang="en-US" b="1" i="0" dirty="0">
                <a:solidFill>
                  <a:srgbClr val="FF0000"/>
                </a:solidFill>
                <a:effectLst/>
                <a:latin typeface="Open Sans"/>
              </a:rPr>
              <a:t>缓存穿透</a:t>
            </a:r>
            <a:r>
              <a:rPr lang="zh-CN" altLang="en-US" b="1" dirty="0">
                <a:solidFill>
                  <a:srgbClr val="FF0000"/>
                </a:solidFill>
                <a:latin typeface="Open Sans"/>
              </a:rPr>
              <a:t>解决方法：</a:t>
            </a:r>
            <a:endParaRPr lang="en-US" altLang="zh-CN" b="1" dirty="0">
              <a:solidFill>
                <a:srgbClr val="FF0000"/>
              </a:solidFill>
              <a:latin typeface="Open Sans"/>
            </a:endParaRPr>
          </a:p>
          <a:p>
            <a:pPr>
              <a:lnSpc>
                <a:spcPts val="2500"/>
              </a:lnSpc>
            </a:pPr>
            <a:endParaRPr lang="en-US" altLang="zh-CN" b="1" dirty="0">
              <a:solidFill>
                <a:srgbClr val="FF0000"/>
              </a:solidFill>
              <a:latin typeface="Open Sans"/>
            </a:endParaRPr>
          </a:p>
          <a:p>
            <a:pPr>
              <a:lnSpc>
                <a:spcPts val="2500"/>
              </a:lnSpc>
            </a:pPr>
            <a:r>
              <a:rPr lang="en-US" altLang="zh-CN" dirty="0">
                <a:latin typeface="Open Sans"/>
              </a:rPr>
              <a:t>1</a:t>
            </a:r>
            <a:r>
              <a:rPr lang="zh-CN" altLang="en-US" dirty="0">
                <a:latin typeface="Open Sans"/>
              </a:rPr>
              <a:t>、查询时做一些校验和过滤（权限校验，参数校验等等），判断这是一次正常的查询，还是异常的查询或者是攻击，如果是不合法的参数或者查询，直接返回</a:t>
            </a:r>
            <a:endParaRPr lang="en-US" altLang="zh-CN" dirty="0">
              <a:latin typeface="Open Sans"/>
            </a:endParaRPr>
          </a:p>
          <a:p>
            <a:pPr>
              <a:lnSpc>
                <a:spcPts val="2500"/>
              </a:lnSpc>
            </a:pPr>
            <a:endParaRPr lang="en-US" altLang="zh-CN" dirty="0">
              <a:latin typeface="Open Sans"/>
            </a:endParaRPr>
          </a:p>
          <a:p>
            <a:pPr>
              <a:lnSpc>
                <a:spcPts val="2500"/>
              </a:lnSpc>
            </a:pPr>
            <a:r>
              <a:rPr lang="en-US" altLang="zh-CN" b="0" i="0" dirty="0">
                <a:effectLst/>
                <a:latin typeface="Open Sans"/>
              </a:rPr>
              <a:t>2</a:t>
            </a:r>
            <a:r>
              <a:rPr lang="zh-CN" altLang="en-US" b="0" i="0" dirty="0">
                <a:effectLst/>
                <a:latin typeface="Open Sans"/>
              </a:rPr>
              <a:t>、缓存空对象，如果数据库中不存在这个数据，我们也在缓存中保存这个</a:t>
            </a:r>
            <a:r>
              <a:rPr lang="en-US" altLang="zh-CN" b="0" i="0" dirty="0">
                <a:effectLst/>
                <a:latin typeface="Open Sans"/>
              </a:rPr>
              <a:t>key</a:t>
            </a:r>
            <a:r>
              <a:rPr lang="zh-CN" altLang="en-US" b="0" i="0" dirty="0">
                <a:effectLst/>
                <a:latin typeface="Open Sans"/>
              </a:rPr>
              <a:t>，只是把</a:t>
            </a:r>
            <a:r>
              <a:rPr lang="en-US" altLang="zh-CN" b="0" i="0" dirty="0" err="1">
                <a:effectLst/>
                <a:latin typeface="Open Sans"/>
              </a:rPr>
              <a:t>val</a:t>
            </a:r>
            <a:r>
              <a:rPr lang="zh-CN" altLang="en-US" b="0" i="0" dirty="0">
                <a:effectLst/>
                <a:latin typeface="Open Sans"/>
              </a:rPr>
              <a:t>值记录为“不存在”，“空”这样的数据，下次再访问这个</a:t>
            </a:r>
            <a:r>
              <a:rPr lang="en-US" altLang="zh-CN" b="0" i="0" dirty="0">
                <a:effectLst/>
                <a:latin typeface="Open Sans"/>
              </a:rPr>
              <a:t>key</a:t>
            </a:r>
            <a:r>
              <a:rPr lang="zh-CN" altLang="en-US" b="0" i="0" dirty="0">
                <a:effectLst/>
                <a:latin typeface="Open Sans"/>
              </a:rPr>
              <a:t>时，就不会到数据库中做无用的查找了。</a:t>
            </a:r>
            <a:endParaRPr lang="en-US" altLang="zh-CN" b="0" i="0" dirty="0">
              <a:effectLst/>
              <a:latin typeface="Open Sans"/>
            </a:endParaRPr>
          </a:p>
          <a:p>
            <a:pPr>
              <a:lnSpc>
                <a:spcPts val="2500"/>
              </a:lnSpc>
            </a:pPr>
            <a:endParaRPr lang="en-US" altLang="zh-CN" b="0" i="0" dirty="0">
              <a:effectLst/>
              <a:latin typeface="Open Sans"/>
            </a:endParaRPr>
          </a:p>
          <a:p>
            <a:pPr>
              <a:lnSpc>
                <a:spcPts val="2500"/>
              </a:lnSpc>
            </a:pPr>
            <a:r>
              <a:rPr lang="en-US" altLang="zh-CN" dirty="0">
                <a:latin typeface="Open Sans"/>
              </a:rPr>
              <a:t>3</a:t>
            </a:r>
            <a:r>
              <a:rPr lang="zh-CN" altLang="en-US" dirty="0">
                <a:latin typeface="Open Sans"/>
              </a:rPr>
              <a:t>、我们可以预先将数据库里面所有的</a:t>
            </a:r>
            <a:r>
              <a:rPr lang="en-US" altLang="zh-CN" dirty="0">
                <a:latin typeface="Open Sans"/>
              </a:rPr>
              <a:t>key</a:t>
            </a:r>
            <a:r>
              <a:rPr lang="zh-CN" altLang="en-US" dirty="0">
                <a:latin typeface="Open Sans"/>
              </a:rPr>
              <a:t>全部存到一个大的</a:t>
            </a:r>
            <a:r>
              <a:rPr lang="en-US" altLang="zh-CN" dirty="0">
                <a:latin typeface="Open Sans"/>
              </a:rPr>
              <a:t>map</a:t>
            </a:r>
            <a:r>
              <a:rPr lang="zh-CN" altLang="en-US" dirty="0">
                <a:latin typeface="Open Sans"/>
              </a:rPr>
              <a:t>里面</a:t>
            </a:r>
            <a:r>
              <a:rPr lang="en-US" altLang="zh-CN" dirty="0">
                <a:latin typeface="Open Sans"/>
              </a:rPr>
              <a:t>,</a:t>
            </a:r>
            <a:r>
              <a:rPr lang="zh-CN" altLang="en-US" dirty="0">
                <a:latin typeface="Open Sans"/>
              </a:rPr>
              <a:t>然后在过滤器中过滤掉那些不存在的</a:t>
            </a:r>
            <a:r>
              <a:rPr lang="en-US" altLang="zh-CN" dirty="0">
                <a:latin typeface="Open Sans"/>
              </a:rPr>
              <a:t>key.</a:t>
            </a:r>
            <a:endParaRPr lang="en-US" altLang="zh-CN" dirty="0">
              <a:latin typeface="Open Sans"/>
            </a:endParaRPr>
          </a:p>
          <a:p>
            <a:pPr>
              <a:lnSpc>
                <a:spcPts val="2500"/>
              </a:lnSpc>
            </a:pPr>
            <a:r>
              <a:rPr lang="zh-CN" altLang="en-US" dirty="0">
                <a:latin typeface="Open Sans"/>
              </a:rPr>
              <a:t>但是需要考虑数据库的</a:t>
            </a:r>
            <a:r>
              <a:rPr lang="en-US" altLang="zh-CN" dirty="0">
                <a:latin typeface="Open Sans"/>
              </a:rPr>
              <a:t>key</a:t>
            </a:r>
            <a:r>
              <a:rPr lang="zh-CN" altLang="en-US" dirty="0">
                <a:latin typeface="Open Sans"/>
              </a:rPr>
              <a:t>是会更新的</a:t>
            </a:r>
            <a:r>
              <a:rPr lang="en-US" altLang="zh-CN" dirty="0">
                <a:latin typeface="Open Sans"/>
              </a:rPr>
              <a:t>,</a:t>
            </a:r>
            <a:r>
              <a:rPr lang="zh-CN" altLang="en-US" dirty="0">
                <a:latin typeface="Open Sans"/>
              </a:rPr>
              <a:t>此时需要考虑数据库 </a:t>
            </a:r>
            <a:r>
              <a:rPr lang="en-US" altLang="zh-CN" dirty="0">
                <a:latin typeface="Open Sans"/>
              </a:rPr>
              <a:t>--&gt; map</a:t>
            </a:r>
            <a:r>
              <a:rPr lang="zh-CN" altLang="en-US" dirty="0">
                <a:latin typeface="Open Sans"/>
              </a:rPr>
              <a:t>的更新频率问题。类似于位图。</a:t>
            </a:r>
            <a:endParaRPr lang="en-US" altLang="zh-CN" b="0" i="0" dirty="0">
              <a:effectLst/>
              <a:latin typeface="Open Sans"/>
            </a:endParaRPr>
          </a:p>
          <a:p>
            <a:pPr>
              <a:lnSpc>
                <a:spcPts val="2500"/>
              </a:lnSpc>
            </a:pPr>
            <a:endParaRPr lang="en-US" altLang="zh-CN" sz="1600" b="0" i="0" dirty="0">
              <a:solidFill>
                <a:srgbClr val="FF0000"/>
              </a:solidFill>
              <a:effectLst/>
              <a:latin typeface="Open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a:spLocks noGrp="1"/>
          </p:cNvSpPr>
          <p:nvPr>
            <p:ph type="ftr" sz="quarter" idx="11"/>
          </p:nvPr>
        </p:nvSpPr>
        <p:spPr>
          <a:noFill/>
        </p:spPr>
        <p:txBody>
          <a:bodyPr/>
          <a:lstStyle/>
          <a:p>
            <a:r>
              <a:rPr lang="zh-CN" altLang="en-US"/>
              <a:t>  </a:t>
            </a:r>
            <a:endParaRPr lang="zh-CN" altLang="en-US" sz="1800"/>
          </a:p>
        </p:txBody>
      </p:sp>
      <p:sp>
        <p:nvSpPr>
          <p:cNvPr id="6" name="Rectangle 2"/>
          <p:cNvSpPr txBox="1">
            <a:spLocks noChangeArrowheads="1"/>
          </p:cNvSpPr>
          <p:nvPr/>
        </p:nvSpPr>
        <p:spPr>
          <a:xfrm>
            <a:off x="509118" y="450265"/>
            <a:ext cx="8443106" cy="1014551"/>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eaLnBrk="1" hangingPunct="1"/>
            <a:r>
              <a:rPr lang="en-US" altLang="zh-CN" kern="0" dirty="0"/>
              <a:t>Redis-</a:t>
            </a:r>
            <a:r>
              <a:rPr lang="zh-CN" altLang="en-US" kern="0" dirty="0"/>
              <a:t>常见问题</a:t>
            </a:r>
            <a:r>
              <a:rPr lang="en-US" altLang="zh-CN" kern="0" dirty="0"/>
              <a:t>-</a:t>
            </a:r>
            <a:r>
              <a:rPr lang="zh-CN" altLang="en-US" kern="0" dirty="0"/>
              <a:t>穿透和击穿</a:t>
            </a:r>
            <a:endParaRPr lang="en-US" altLang="zh-CN" kern="0" dirty="0"/>
          </a:p>
        </p:txBody>
      </p:sp>
      <p:sp>
        <p:nvSpPr>
          <p:cNvPr id="2" name="Rectangle 3"/>
          <p:cNvSpPr txBox="1">
            <a:spLocks noChangeArrowheads="1"/>
          </p:cNvSpPr>
          <p:nvPr/>
        </p:nvSpPr>
        <p:spPr>
          <a:xfrm>
            <a:off x="630416" y="1484633"/>
            <a:ext cx="8501717" cy="4984826"/>
          </a:xfrm>
          <a:prstGeom prst="rect">
            <a:avLst/>
          </a:prstGeom>
        </p:spPr>
        <p:txBody>
          <a:bodyPr/>
          <a:lstStyle>
            <a:lvl1pPr marL="0" indent="0" algn="ctr" rtl="0" eaLnBrk="0" fontAlgn="base" hangingPunct="0">
              <a:lnSpc>
                <a:spcPct val="90000"/>
              </a:lnSpc>
              <a:spcBef>
                <a:spcPct val="30000"/>
              </a:spcBef>
              <a:spcAft>
                <a:spcPct val="0"/>
              </a:spcAft>
              <a:buFont typeface="Arial" panose="020B0604020202020204" pitchFamily="34" charset="0"/>
              <a:buNone/>
              <a:defRPr sz="2800">
                <a:solidFill>
                  <a:schemeClr val="tx1"/>
                </a:solidFill>
                <a:latin typeface="+mn-lt"/>
                <a:ea typeface="+mn-ea"/>
                <a:cs typeface="+mn-cs"/>
              </a:defRPr>
            </a:lvl1pPr>
            <a:lvl2pPr marL="457200" indent="0" algn="ctr" rtl="0" eaLnBrk="0" fontAlgn="base" hangingPunct="0">
              <a:lnSpc>
                <a:spcPct val="90000"/>
              </a:lnSpc>
              <a:spcBef>
                <a:spcPct val="30000"/>
              </a:spcBef>
              <a:spcAft>
                <a:spcPct val="0"/>
              </a:spcAft>
              <a:buFont typeface="Arial" panose="020B0604020202020204" pitchFamily="34" charset="0"/>
              <a:buNone/>
              <a:defRPr sz="2400">
                <a:solidFill>
                  <a:schemeClr val="tx1"/>
                </a:solidFill>
                <a:latin typeface="+mn-lt"/>
                <a:ea typeface="+mn-ea"/>
              </a:defRPr>
            </a:lvl2pPr>
            <a:lvl3pPr marL="914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3pPr>
            <a:lvl4pPr marL="1371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4pPr>
            <a:lvl5pPr marL="18288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5pPr>
            <a:lvl6pPr marL="22860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6pPr>
            <a:lvl7pPr marL="27432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7pPr>
            <a:lvl8pPr marL="32004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8pPr>
            <a:lvl9pPr marL="3657600" indent="0" algn="ctr" rtl="0" eaLnBrk="0" fontAlgn="base" hangingPunct="0">
              <a:lnSpc>
                <a:spcPct val="90000"/>
              </a:lnSpc>
              <a:spcBef>
                <a:spcPct val="30000"/>
              </a:spcBef>
              <a:spcAft>
                <a:spcPct val="0"/>
              </a:spcAft>
              <a:buFont typeface="Arial" panose="020B0604020202020204" pitchFamily="34" charset="0"/>
              <a:buNone/>
              <a:defRPr sz="2000">
                <a:solidFill>
                  <a:schemeClr val="tx1"/>
                </a:solidFill>
                <a:latin typeface="+mn-lt"/>
                <a:ea typeface="+mn-ea"/>
              </a:defRPr>
            </a:lvl9pPr>
          </a:lstStyle>
          <a:p>
            <a:pPr algn="l">
              <a:lnSpc>
                <a:spcPct val="120000"/>
              </a:lnSpc>
            </a:pPr>
            <a:endParaRPr lang="zh-CN" altLang="en-US" sz="1800" dirty="0">
              <a:solidFill>
                <a:srgbClr val="4F4F4F"/>
              </a:solidFill>
              <a:latin typeface="-apple-system"/>
            </a:endParaRPr>
          </a:p>
        </p:txBody>
      </p:sp>
      <p:sp>
        <p:nvSpPr>
          <p:cNvPr id="4" name="矩形 3"/>
          <p:cNvSpPr/>
          <p:nvPr/>
        </p:nvSpPr>
        <p:spPr bwMode="auto">
          <a:xfrm>
            <a:off x="4054752" y="1484633"/>
            <a:ext cx="927843" cy="4043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cache</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5" name="矩形 4"/>
          <p:cNvSpPr/>
          <p:nvPr/>
        </p:nvSpPr>
        <p:spPr bwMode="auto">
          <a:xfrm>
            <a:off x="6809052" y="1621406"/>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8" name="矩形 7"/>
          <p:cNvSpPr/>
          <p:nvPr/>
        </p:nvSpPr>
        <p:spPr bwMode="auto">
          <a:xfrm>
            <a:off x="6865103" y="2974901"/>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0" name="矩形 9"/>
          <p:cNvSpPr/>
          <p:nvPr/>
        </p:nvSpPr>
        <p:spPr bwMode="auto">
          <a:xfrm>
            <a:off x="6837077" y="4711349"/>
            <a:ext cx="1181082" cy="98439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DB</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2" name="椭圆 11"/>
          <p:cNvSpPr/>
          <p:nvPr/>
        </p:nvSpPr>
        <p:spPr bwMode="auto">
          <a:xfrm>
            <a:off x="899280" y="1898758"/>
            <a:ext cx="1329015" cy="817809"/>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client</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3" name="椭圆 12"/>
          <p:cNvSpPr/>
          <p:nvPr/>
        </p:nvSpPr>
        <p:spPr bwMode="auto">
          <a:xfrm>
            <a:off x="899280" y="3674005"/>
            <a:ext cx="1329015" cy="817809"/>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client</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6" name="直接箭头连接符 15"/>
          <p:cNvCxnSpPr>
            <a:stCxn id="12" idx="6"/>
          </p:cNvCxnSpPr>
          <p:nvPr/>
        </p:nvCxnSpPr>
        <p:spPr bwMode="auto">
          <a:xfrm flipV="1">
            <a:off x="2228295" y="2201662"/>
            <a:ext cx="4154750" cy="106001"/>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9" name="直接箭头连接符 18"/>
          <p:cNvCxnSpPr>
            <a:stCxn id="13" idx="6"/>
          </p:cNvCxnSpPr>
          <p:nvPr/>
        </p:nvCxnSpPr>
        <p:spPr bwMode="auto">
          <a:xfrm>
            <a:off x="2228295" y="4082910"/>
            <a:ext cx="1722268" cy="58524"/>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 name="文本框 6"/>
          <p:cNvSpPr txBox="1"/>
          <p:nvPr/>
        </p:nvSpPr>
        <p:spPr>
          <a:xfrm>
            <a:off x="2912753" y="1833046"/>
            <a:ext cx="646331" cy="369332"/>
          </a:xfrm>
          <a:prstGeom prst="rect">
            <a:avLst/>
          </a:prstGeom>
          <a:noFill/>
        </p:spPr>
        <p:txBody>
          <a:bodyPr wrap="none" rtlCol="0">
            <a:spAutoFit/>
          </a:bodyPr>
          <a:lstStyle/>
          <a:p>
            <a:r>
              <a:rPr lang="zh-CN" altLang="en-US" dirty="0"/>
              <a:t>穿透</a:t>
            </a:r>
            <a:endParaRPr lang="zh-CN" altLang="en-US" dirty="0"/>
          </a:p>
        </p:txBody>
      </p:sp>
      <p:cxnSp>
        <p:nvCxnSpPr>
          <p:cNvPr id="17" name="直接箭头连接符 16"/>
          <p:cNvCxnSpPr/>
          <p:nvPr/>
        </p:nvCxnSpPr>
        <p:spPr bwMode="auto">
          <a:xfrm>
            <a:off x="2172244" y="3726421"/>
            <a:ext cx="1778319" cy="317319"/>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8" name="直接箭头连接符 17"/>
          <p:cNvCxnSpPr/>
          <p:nvPr/>
        </p:nvCxnSpPr>
        <p:spPr bwMode="auto">
          <a:xfrm flipV="1">
            <a:off x="2139957" y="4229902"/>
            <a:ext cx="1810606" cy="301082"/>
          </a:xfrm>
          <a:prstGeom prst="straightConnector1">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269" name="Picture 5" descr="PPT-5-3"/>
          <p:cNvPicPr>
            <a:picLocks noChangeAspect="1" noChangeArrowheads="1"/>
          </p:cNvPicPr>
          <p:nvPr/>
        </p:nvPicPr>
        <p:blipFill>
          <a:blip r:embed="rId1" cstate="print"/>
          <a:srcRect/>
          <a:stretch>
            <a:fillRect/>
          </a:stretch>
        </p:blipFill>
        <p:spPr bwMode="auto">
          <a:xfrm>
            <a:off x="3704308" y="2733676"/>
            <a:ext cx="2578387" cy="796925"/>
          </a:xfrm>
          <a:prstGeom prst="rect">
            <a:avLst/>
          </a:prstGeom>
          <a:noFill/>
          <a:ln w="9525">
            <a:noFill/>
            <a:miter lim="800000"/>
            <a:headEnd/>
            <a:tailEnd/>
          </a:ln>
        </p:spPr>
      </p:pic>
      <p:pic>
        <p:nvPicPr>
          <p:cNvPr id="11270" name="Picture 6" descr="PPT-5-4"/>
          <p:cNvPicPr>
            <a:picLocks noChangeAspect="1" noChangeArrowheads="1"/>
          </p:cNvPicPr>
          <p:nvPr/>
        </p:nvPicPr>
        <p:blipFill>
          <a:blip r:embed="rId2" cstate="print"/>
          <a:srcRect/>
          <a:stretch>
            <a:fillRect/>
          </a:stretch>
        </p:blipFill>
        <p:spPr bwMode="auto">
          <a:xfrm>
            <a:off x="3001587" y="3022601"/>
            <a:ext cx="3721289" cy="1152525"/>
          </a:xfrm>
          <a:prstGeom prst="rect">
            <a:avLst/>
          </a:prstGeom>
          <a:noFill/>
          <a:ln w="9525">
            <a:noFill/>
            <a:miter lim="800000"/>
            <a:headEnd/>
            <a:tailEnd/>
          </a:ln>
        </p:spPr>
      </p:pic>
      <p:pic>
        <p:nvPicPr>
          <p:cNvPr id="18437" name="Picture 7" descr="PPT-5-6"/>
          <p:cNvPicPr>
            <a:picLocks noChangeAspect="1" noChangeArrowheads="1"/>
          </p:cNvPicPr>
          <p:nvPr/>
        </p:nvPicPr>
        <p:blipFill>
          <a:blip r:embed="rId3"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1270"/>
                                        </p:tgtEl>
                                        <p:attrNameLst>
                                          <p:attrName>style.visibility</p:attrName>
                                        </p:attrNameLst>
                                      </p:cBhvr>
                                      <p:to>
                                        <p:strVal val="visible"/>
                                      </p:to>
                                    </p:set>
                                    <p:animEffect transition="in" filter="fade">
                                      <p:cBhvr>
                                        <p:cTn id="7" dur="2000"/>
                                        <p:tgtEl>
                                          <p:spTgt spid="11270"/>
                                        </p:tgtEl>
                                      </p:cBhvr>
                                    </p:animEffect>
                                  </p:childTnLst>
                                </p:cTn>
                              </p:par>
                              <p:par>
                                <p:cTn id="8" presetID="47" presetClass="entr" presetSubtype="0" fill="hold" nodeType="withEffect">
                                  <p:stCondLst>
                                    <p:cond delay="1000"/>
                                  </p:stCondLst>
                                  <p:childTnLst>
                                    <p:set>
                                      <p:cBhvr>
                                        <p:cTn id="9" dur="1" fill="hold">
                                          <p:stCondLst>
                                            <p:cond delay="0"/>
                                          </p:stCondLst>
                                        </p:cTn>
                                        <p:tgtEl>
                                          <p:spTgt spid="11269"/>
                                        </p:tgtEl>
                                        <p:attrNameLst>
                                          <p:attrName>style.visibility</p:attrName>
                                        </p:attrNameLst>
                                      </p:cBhvr>
                                      <p:to>
                                        <p:strVal val="visible"/>
                                      </p:to>
                                    </p:set>
                                    <p:animEffect transition="in" filter="fade">
                                      <p:cBhvr>
                                        <p:cTn id="10" dur="1000"/>
                                        <p:tgtEl>
                                          <p:spTgt spid="11269"/>
                                        </p:tgtEl>
                                      </p:cBhvr>
                                    </p:animEffect>
                                    <p:anim calcmode="lin" valueType="num">
                                      <p:cBhvr>
                                        <p:cTn id="11" dur="1000" fill="hold"/>
                                        <p:tgtEl>
                                          <p:spTgt spid="11269"/>
                                        </p:tgtEl>
                                        <p:attrNameLst>
                                          <p:attrName>ppt_x</p:attrName>
                                        </p:attrNameLst>
                                      </p:cBhvr>
                                      <p:tavLst>
                                        <p:tav tm="0">
                                          <p:val>
                                            <p:strVal val="#ppt_x"/>
                                          </p:val>
                                        </p:tav>
                                        <p:tav tm="100000">
                                          <p:val>
                                            <p:strVal val="#ppt_x"/>
                                          </p:val>
                                        </p:tav>
                                      </p:tavLst>
                                    </p:anim>
                                    <p:anim calcmode="lin" valueType="num">
                                      <p:cBhvr>
                                        <p:cTn id="12" dur="1000" fill="hold"/>
                                        <p:tgtEl>
                                          <p:spTgt spid="11269"/>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2cd2da99-b312-4e67-8476-3ad92ec5d24b}"/>
  <p:tag name="TABLE_ENDDRAG_ORIGIN_RECT" val="751*388"/>
  <p:tag name="TABLE_ENDDRAG_RECT" val="21*137*751*388"/>
</p:tagLst>
</file>

<file path=ppt/tags/tag2.xml><?xml version="1.0" encoding="utf-8"?>
<p:tagLst xmlns:p="http://schemas.openxmlformats.org/presentationml/2006/main">
  <p:tag name="KSO_WM_UNIT_PLACING_PICTURE_USER_VIEWPORT" val="{&quot;height&quot;:4150,&quot;width&quot;:10420}"/>
</p:tagLst>
</file>

<file path=ppt/tags/tag3.xml><?xml version="1.0" encoding="utf-8"?>
<p:tagLst xmlns:p="http://schemas.openxmlformats.org/presentationml/2006/main">
  <p:tag name="KSO_WM_UNIT_TABLE_BEAUTIFY" val="smartTable{46b01285-071c-47eb-babd-c86a6f0a1704}"/>
  <p:tag name="TABLE_ENDDRAG_ORIGIN_RECT" val="587*154"/>
  <p:tag name="TABLE_ENDDRAG_RECT" val="109*147*587*154"/>
</p:tagLst>
</file>

<file path=ppt/tags/tag4.xml><?xml version="1.0" encoding="utf-8"?>
<p:tagLst xmlns:p="http://schemas.openxmlformats.org/presentationml/2006/main">
  <p:tag name="commondata" val="eyJoZGlkIjoiMGRlMjEyNWVmZjNjZDU2ZTQ2N2U1NGY0MWQ2ODFhZTYifQ=="/>
</p:tagLst>
</file>

<file path=ppt/theme/theme1.xml><?xml version="1.0" encoding="utf-8"?>
<a:theme xmlns:a="http://schemas.openxmlformats.org/drawingml/2006/main" name="Office Theme">
  <a:themeElements>
    <a:clrScheme name="Office Theme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The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Theme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16703</Words>
  <Application>WPS 演示</Application>
  <PresentationFormat>自定义</PresentationFormat>
  <Paragraphs>945</Paragraphs>
  <Slides>78</Slides>
  <Notes>68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78</vt:i4>
      </vt:variant>
    </vt:vector>
  </HeadingPairs>
  <TitlesOfParts>
    <vt:vector size="94" baseType="lpstr">
      <vt:lpstr>Arial</vt:lpstr>
      <vt:lpstr>宋体</vt:lpstr>
      <vt:lpstr>Wingdings</vt:lpstr>
      <vt:lpstr>Calibri</vt:lpstr>
      <vt:lpstr>Calibri Light</vt:lpstr>
      <vt:lpstr>微软雅黑</vt:lpstr>
      <vt:lpstr>Calibri</vt:lpstr>
      <vt:lpstr>Helvetica Neue</vt:lpstr>
      <vt:lpstr>Open Sans</vt:lpstr>
      <vt:lpstr>Segoe Print</vt:lpstr>
      <vt:lpstr>Arial Unicode MS</vt:lpstr>
      <vt:lpstr>PingFang SC</vt:lpstr>
      <vt:lpstr>Consolas</vt:lpstr>
      <vt:lpstr>-apple-system</vt:lpstr>
      <vt:lpstr>Lato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zuazua W</dc:creator>
  <cp:lastModifiedBy>哩哩</cp:lastModifiedBy>
  <cp:revision>694</cp:revision>
  <dcterms:created xsi:type="dcterms:W3CDTF">2012-09-21T09:29:00Z</dcterms:created>
  <dcterms:modified xsi:type="dcterms:W3CDTF">2023-11-29T13:06:59Z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5A6A6A78B4594AEDBB960F889B1B233C</vt:lpwstr>
  </property>
</Properties>
</file>